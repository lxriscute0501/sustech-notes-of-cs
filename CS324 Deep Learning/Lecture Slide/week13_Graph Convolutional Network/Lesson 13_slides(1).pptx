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8" r:id="rId46"/>
    <p:sldId id="309" r:id="rId47"/>
    <p:sldId id="300" r:id="rId48"/>
    <p:sldId id="310" r:id="rId49"/>
    <p:sldId id="301" r:id="rId50"/>
    <p:sldId id="311" r:id="rId51"/>
    <p:sldId id="312" r:id="rId52"/>
    <p:sldId id="302" r:id="rId53"/>
    <p:sldId id="303" r:id="rId54"/>
    <p:sldId id="313" r:id="rId55"/>
    <p:sldId id="304" r:id="rId56"/>
    <p:sldId id="305" r:id="rId57"/>
    <p:sldId id="306" r:id="rId58"/>
    <p:sldId id="316" r:id="rId59"/>
    <p:sldId id="315" r:id="rId60"/>
    <p:sldId id="350" r:id="rId61"/>
    <p:sldId id="351" r:id="rId6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87796" autoAdjust="0"/>
  </p:normalViewPr>
  <p:slideViewPr>
    <p:cSldViewPr snapToGrid="0">
      <p:cViewPr varScale="1">
        <p:scale>
          <a:sx n="110" d="100"/>
          <a:sy n="110" d="100"/>
        </p:scale>
        <p:origin x="2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5-11T02:38:25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14479 0 0,'5'-23'1288'0'0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how-to-do-deep-learning-on-graphs-with-graph-convolutional-networks-7d2250723780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Mathematics" TargetMode="External"/><Relationship Id="rId13" Type="http://schemas.openxmlformats.org/officeDocument/2006/relationships/hyperlink" Target="https://en.wikipedia.org/wiki/Degree_matrix#cite_note-clv-1" TargetMode="External"/><Relationship Id="rId3" Type="http://schemas.openxmlformats.org/officeDocument/2006/relationships/hyperlink" Target="https://en.wikipedia.org/wiki/Degree_matrix" TargetMode="External"/><Relationship Id="rId7" Type="http://schemas.openxmlformats.org/officeDocument/2006/relationships/hyperlink" Target="https://en.wikipedia.org/wiki/Outdegree" TargetMode="External"/><Relationship Id="rId12" Type="http://schemas.openxmlformats.org/officeDocument/2006/relationships/hyperlink" Target="https://en.wikipedia.org/wiki/Vertex_(graph_theory)" TargetMode="External"/><Relationship Id="rId2" Type="http://schemas.openxmlformats.org/officeDocument/2006/relationships/slide" Target="../slides/slide17.xml"/><Relationship Id="rId16" Type="http://schemas.openxmlformats.org/officeDocument/2006/relationships/hyperlink" Target="https://en.wikipedia.org/wiki/Degree_matrix#cite_note-mohar-2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Indegree" TargetMode="External"/><Relationship Id="rId11" Type="http://schemas.openxmlformats.org/officeDocument/2006/relationships/hyperlink" Target="https://en.wikipedia.org/wiki/Degree_(graph_theory)" TargetMode="External"/><Relationship Id="rId5" Type="http://schemas.openxmlformats.org/officeDocument/2006/relationships/hyperlink" Target="https://en.wikipedia.org/wiki/Directed_graph" TargetMode="External"/><Relationship Id="rId15" Type="http://schemas.openxmlformats.org/officeDocument/2006/relationships/hyperlink" Target="https://en.wikipedia.org/wiki/Laplacian_matrix" TargetMode="External"/><Relationship Id="rId10" Type="http://schemas.openxmlformats.org/officeDocument/2006/relationships/hyperlink" Target="https://en.wikipedia.org/wiki/Diagonal_matrix" TargetMode="External"/><Relationship Id="rId4" Type="http://schemas.openxmlformats.org/officeDocument/2006/relationships/hyperlink" Target="https://en.wikipedia.org/wiki/Undirected_graph" TargetMode="External"/><Relationship Id="rId9" Type="http://schemas.openxmlformats.org/officeDocument/2006/relationships/hyperlink" Target="https://en.wikipedia.org/wiki/Graph_theory" TargetMode="External"/><Relationship Id="rId14" Type="http://schemas.openxmlformats.org/officeDocument/2006/relationships/hyperlink" Target="https://en.wikipedia.org/wiki/Adjacency_matrix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read this post first, before reading the mentioned post in the slides.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How to do Deep Learning on Graphs with Graph Convolutional Networks</a:t>
            </a:r>
            <a:endParaRPr lang="en-US" dirty="0"/>
          </a:p>
          <a:p>
            <a:r>
              <a:rPr lang="en-US" dirty="0">
                <a:hlinkClick r:id="rId3"/>
              </a:rPr>
              <a:t>https://towardsdatascience.com/how-to-do-deep-learning-on-graphs-with-graph-convolutional-networks-7d2250723780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923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Wikipedia about the definition of the degree of a node in a Graph. </a:t>
            </a:r>
            <a:r>
              <a:rPr lang="en-US" dirty="0">
                <a:hlinkClick r:id="rId3"/>
              </a:rPr>
              <a:t>https://en.wikipedia.org/wiki/Degree_matrix</a:t>
            </a:r>
            <a:r>
              <a:rPr lang="en-US" dirty="0"/>
              <a:t>: 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In an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4" tooltip="Undirected graph"/>
              </a:rPr>
              <a:t>undirected graph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, this means that each loop increases the degree of a vertex by two. In a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5" tooltip="Directed graph"/>
              </a:rPr>
              <a:t>directed graph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, the term </a:t>
            </a:r>
            <a:r>
              <a:rPr lang="en-US" sz="2200" b="0" i="1" dirty="0">
                <a:effectLst/>
                <a:latin typeface="+mj-lt"/>
                <a:ea typeface="+mj-ea"/>
                <a:cs typeface="+mj-cs"/>
                <a:sym typeface="Helvetica Neue"/>
              </a:rPr>
              <a:t>degree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may refer either to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6" tooltip="Indegree"/>
              </a:rPr>
              <a:t>indegree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(the number of incoming edges at each vertex) or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7" tooltip="Outdegree"/>
              </a:rPr>
              <a:t>outdegree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(the number of outgoing edges at each vertex).</a:t>
            </a:r>
          </a:p>
          <a:p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In the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8" tooltip="Mathematics"/>
              </a:rPr>
              <a:t>mathematical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field of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9" tooltip="Graph theory"/>
              </a:rPr>
              <a:t>graph theory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, the </a:t>
            </a:r>
            <a:r>
              <a:rPr lang="en-US" sz="2200" b="1" i="0" dirty="0">
                <a:effectLst/>
                <a:latin typeface="+mj-lt"/>
                <a:ea typeface="+mj-ea"/>
                <a:cs typeface="+mj-cs"/>
                <a:sym typeface="Helvetica Neue"/>
              </a:rPr>
              <a:t>degree matrix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is a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10" tooltip="Diagonal matrix"/>
              </a:rPr>
              <a:t>diagonal matrix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which contains information about the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11" tooltip="Degree (graph theory)"/>
              </a:rPr>
              <a:t>degree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of each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12" tooltip="Vertex (graph theory)"/>
              </a:rPr>
              <a:t>vertex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—that is, the number of edges attached to each vertex.</a:t>
            </a:r>
            <a:r>
              <a:rPr lang="en-US" sz="2200" b="0" i="0" u="none" strike="noStrike" baseline="30000" dirty="0">
                <a:effectLst/>
                <a:latin typeface="+mj-lt"/>
                <a:ea typeface="+mj-ea"/>
                <a:cs typeface="+mj-cs"/>
                <a:sym typeface="Helvetica Neue"/>
                <a:hlinkClick r:id="rId13"/>
              </a:rPr>
              <a:t>[1]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It is used together with the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14" tooltip="Adjacency matrix"/>
              </a:rPr>
              <a:t>adjacency matrix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to construct the </a:t>
            </a:r>
            <a:r>
              <a:rPr lang="en-US" sz="2200" b="0" i="0" u="none" strike="noStrike" dirty="0">
                <a:effectLst/>
                <a:latin typeface="+mj-lt"/>
                <a:ea typeface="+mj-ea"/>
                <a:cs typeface="+mj-cs"/>
                <a:sym typeface="Helvetica Neue"/>
                <a:hlinkClick r:id="rId15" tooltip="Laplacian matrix"/>
              </a:rPr>
              <a:t>Laplacian matrix</a:t>
            </a:r>
            <a:r>
              <a:rPr lang="en-US" sz="2200" b="0" i="0" dirty="0">
                <a:effectLst/>
                <a:latin typeface="+mj-lt"/>
                <a:ea typeface="+mj-ea"/>
                <a:cs typeface="+mj-cs"/>
                <a:sym typeface="Helvetica Neue"/>
              </a:rPr>
              <a:t> of a graph.</a:t>
            </a:r>
            <a:r>
              <a:rPr lang="en-US" sz="2200" b="0" i="0" u="none" strike="noStrike" baseline="30000" dirty="0">
                <a:effectLst/>
                <a:latin typeface="+mj-lt"/>
                <a:ea typeface="+mj-ea"/>
                <a:cs typeface="+mj-cs"/>
                <a:sym typeface="Helvetica Neue"/>
                <a:hlinkClick r:id="rId16"/>
              </a:rPr>
              <a:t>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27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85800" y="1844675"/>
            <a:ext cx="7772400" cy="20415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Shape 12"/>
          <p:cNvSpPr txBox="1">
            <a:spLocks noGrp="1"/>
          </p:cNvSpPr>
          <p:nvPr>
            <p:ph type="body" sz="half" idx="1"/>
          </p:nvPr>
        </p:nvSpPr>
        <p:spPr>
          <a:xfrm>
            <a:off x="1371600" y="3886200"/>
            <a:ext cx="6400800" cy="29718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 sz="32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Shape 2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30" name="Shape 30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Shape 39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hape 48"/>
          <p:cNvSpPr txBox="1">
            <a:spLocks noGrp="1"/>
          </p:cNvSpPr>
          <p:nvPr>
            <p:ph type="body" sz="quarter" idx="1"/>
          </p:nvPr>
        </p:nvSpPr>
        <p:spPr>
          <a:xfrm>
            <a:off x="457200" y="1435465"/>
            <a:ext cx="4040188" cy="73941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>
                <a:latin typeface="+mn-lt"/>
                <a:ea typeface="+mn-ea"/>
                <a:cs typeface="+mn-cs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1346200" y="4800600"/>
            <a:ext cx="63627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body" sz="quarter" idx="1"/>
          </p:nvPr>
        </p:nvSpPr>
        <p:spPr>
          <a:xfrm>
            <a:off x="1346200" y="5367337"/>
            <a:ext cx="6362700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hape 8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1" name="Shape 9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42900" indent="-342900"/>
            <a:lvl2pPr marL="783771" indent="-326571"/>
            <a:lvl3pPr marL="1219200" indent="-304800"/>
            <a:lvl4pPr marL="1737360" indent="-365760"/>
            <a:lvl5pPr marL="2194560" indent="-365760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hape 10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Shape 3"/>
          <p:cNvSpPr txBox="1"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 txBox="1">
            <a:spLocks noGrp="1"/>
          </p:cNvSpPr>
          <p:nvPr>
            <p:ph type="sldNum" sz="quarter" idx="2"/>
          </p:nvPr>
        </p:nvSpPr>
        <p:spPr>
          <a:xfrm>
            <a:off x="6553200" y="6414760"/>
            <a:ext cx="2133600" cy="2483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2B53A8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21468" marR="0" indent="-321468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1pPr>
      <a:lvl2pPr marL="763360" marR="0" indent="-3061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2pPr>
      <a:lvl3pPr marL="1200150" marR="0" indent="-28575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3pPr>
      <a:lvl4pPr marL="17145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4pPr>
      <a:lvl5pPr marL="21717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5pPr>
      <a:lvl6pPr marL="2628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6pPr>
      <a:lvl7pPr marL="30861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7pPr>
      <a:lvl8pPr marL="35433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8pPr>
      <a:lvl9pPr marL="40005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000" b="0" i="0" u="none" strike="noStrike" cap="none" spc="0" baseline="0">
          <a:solidFill>
            <a:srgbClr val="40404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kipf.github.io/graph-convolutional-network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arxiv.org/abs/1609.02907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tkipf.github.io/graph-convolutional-network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papers.nips.cc/paper/5954-convolutional-networks-on-graphs-for-learning-molecular-fingerprints.pdf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owardsdatascience.com/how-to-do-deep-learning-on-graphs-with-graph-convolutional-networks-62acf5b143d0" TargetMode="External"/><Relationship Id="rId4" Type="http://schemas.openxmlformats.org/officeDocument/2006/relationships/hyperlink" Target="https://arxiv.org/pdf/1609.02907.pdf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tkipf.github.io/graph-convolutional-network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tkipf.github.io/graph-convolutional-networks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609.02907.pdf" TargetMode="Externa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video" Target="../media/media1.mp4"/><Relationship Id="rId7" Type="http://schemas.openxmlformats.org/officeDocument/2006/relationships/hyperlink" Target="https://arxiv.org/pdf/1609.02907.pdf" TargetMode="External"/><Relationship Id="rId2" Type="http://schemas.microsoft.com/office/2007/relationships/media" Target="../media/media1.mp4"/><Relationship Id="rId1" Type="http://schemas.openxmlformats.org/officeDocument/2006/relationships/tags" Target="../tags/tag1.xml"/><Relationship Id="rId6" Type="http://schemas.openxmlformats.org/officeDocument/2006/relationships/hyperlink" Target="https://tkipf.github.io/graph-convolutional-networks/" TargetMode="External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papers.nips.cc/paper/5954-convolutional-networks-on-graphs-for-learning-molecular-fingerprints.pdf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6.09375.pdf" TargetMode="External"/><Relationship Id="rId2" Type="http://schemas.openxmlformats.org/officeDocument/2006/relationships/hyperlink" Target="http://papers.nips.cc/paper/5954-convolutional-networks-on-graphs-for-learning-molecular-fingerprint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1704.01212.pdf" TargetMode="External"/><Relationship Id="rId4" Type="http://schemas.openxmlformats.org/officeDocument/2006/relationships/hyperlink" Target="https://arxiv.org/pdf/1609.02907.pdf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how-to-do-deep-learning-on-graphs-with-graph-convolutional-networks-7d2250723780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ture.com/nature/journal/v518/n7540/pdf/nature14236.pdf" TargetMode="External"/><Relationship Id="rId2" Type="http://schemas.openxmlformats.org/officeDocument/2006/relationships/hyperlink" Target="http://incompleteideas.net/book/bookdraft2017nov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deshpande3.github.io/Deep-Learning-Research-Review-Week-2-Reinforcement-Learning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deepmind.com/research/alphago/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119" name="Shape 119"/>
          <p:cNvSpPr txBox="1">
            <a:spLocks noGrp="1"/>
          </p:cNvSpPr>
          <p:nvPr>
            <p:ph type="ctrTitle"/>
          </p:nvPr>
        </p:nvSpPr>
        <p:spPr>
          <a:xfrm>
            <a:off x="685800" y="371475"/>
            <a:ext cx="7772400" cy="3425230"/>
          </a:xfrm>
          <a:prstGeom prst="rect">
            <a:avLst/>
          </a:prstGeom>
        </p:spPr>
        <p:txBody>
          <a:bodyPr/>
          <a:lstStyle/>
          <a:p>
            <a:pPr>
              <a:defRPr sz="3400"/>
            </a:pPr>
            <a:r>
              <a:t>Deep Learning (CS324)</a:t>
            </a:r>
          </a:p>
          <a:p>
            <a:pPr>
              <a:defRPr sz="3400"/>
            </a:pPr>
            <a:endParaRPr/>
          </a:p>
          <a:p>
            <a:pPr>
              <a:defRPr sz="3400">
                <a:solidFill>
                  <a:schemeClr val="accent2"/>
                </a:solidFill>
                <a:latin typeface="Chalkboard"/>
                <a:ea typeface="Chalkboard"/>
                <a:cs typeface="Chalkboard"/>
                <a:sym typeface="Chalkboard"/>
              </a:defRPr>
            </a:pPr>
            <a:r>
              <a:t>11. Beyond vectors: DL on graphs</a:t>
            </a:r>
            <a:r>
              <a:rPr sz="3000" baseline="31999"/>
              <a:t>*</a:t>
            </a:r>
          </a:p>
        </p:txBody>
      </p:sp>
      <p:sp>
        <p:nvSpPr>
          <p:cNvPr id="120" name="Shape 120"/>
          <p:cNvSpPr txBox="1">
            <a:spLocks noGrp="1"/>
          </p:cNvSpPr>
          <p:nvPr>
            <p:ph type="subTitle" sz="half" idx="1"/>
          </p:nvPr>
        </p:nvSpPr>
        <p:spPr>
          <a:xfrm>
            <a:off x="1371600" y="3309259"/>
            <a:ext cx="6400800" cy="2362200"/>
          </a:xfrm>
          <a:prstGeom prst="rect">
            <a:avLst/>
          </a:prstGeom>
        </p:spPr>
        <p:txBody>
          <a:bodyPr/>
          <a:lstStyle/>
          <a:p>
            <a:pPr>
              <a:defRPr sz="2800"/>
            </a:pPr>
            <a:r>
              <a:rPr lang="en-US" dirty="0"/>
              <a:t>Jianguo Zhang</a:t>
            </a:r>
            <a:endParaRPr dirty="0"/>
          </a:p>
          <a:p>
            <a:pPr>
              <a:defRPr sz="2800"/>
            </a:pPr>
            <a:r>
              <a:rPr dirty="0" err="1"/>
              <a:t>SUSTech</a:t>
            </a:r>
            <a:endParaRPr dirty="0"/>
          </a:p>
        </p:txBody>
      </p:sp>
      <p:sp>
        <p:nvSpPr>
          <p:cNvPr id="121" name="Shape 121"/>
          <p:cNvSpPr txBox="1"/>
          <p:nvPr/>
        </p:nvSpPr>
        <p:spPr>
          <a:xfrm>
            <a:off x="1721365" y="5671459"/>
            <a:ext cx="5962528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rPr dirty="0">
                <a:solidFill>
                  <a:schemeClr val="accent2"/>
                </a:solidFill>
              </a:rPr>
              <a:t>*</a:t>
            </a:r>
            <a:r>
              <a:rPr dirty="0"/>
              <a:t>This lecture is mostly based on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this article</a:t>
            </a:r>
            <a:r>
              <a:rPr dirty="0"/>
              <a:t> and the references at the end of the slides</a:t>
            </a:r>
            <a:endParaRPr lang="en-US" dirty="0"/>
          </a:p>
          <a:p>
            <a:pPr algn="ctr">
              <a:defRPr sz="1200"/>
            </a:pPr>
            <a:r>
              <a:rPr lang="en-US" sz="1200" dirty="0" err="1"/>
              <a:t>Kipf</a:t>
            </a:r>
            <a:r>
              <a:rPr lang="en-US" sz="1200" dirty="0"/>
              <a:t> &amp; Welling (ICLR 2017), </a:t>
            </a:r>
            <a:r>
              <a:rPr lang="en-US" sz="1200" dirty="0">
                <a:hlinkClick r:id="rId4"/>
              </a:rPr>
              <a:t>Semi-Supervised Classification with Graph Convolutional Networks</a:t>
            </a:r>
            <a:endParaRPr dirty="0"/>
          </a:p>
        </p:txBody>
      </p:sp>
    </p:spTree>
  </p:cSld>
  <p:clrMapOvr>
    <a:masterClrMapping/>
  </p:clrMapOvr>
  <p:transition spd="med" advTm="162903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sp>
        <p:nvSpPr>
          <p:cNvPr id="124" name="Shape 124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25" name="Shape 125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DDDDDD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26" name="Screen Shot 2018-02-27 at 18.23.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550619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Shape 12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 advTm="1408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DDDDDD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32" name="Screen Shot 2018-02-27 at 18.23.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550619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hape 134"/>
          <p:cNvSpPr txBox="1"/>
          <p:nvPr/>
        </p:nvSpPr>
        <p:spPr>
          <a:xfrm>
            <a:off x="1479685" y="5756344"/>
            <a:ext cx="1850209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/>
          <a:p>
            <a:pPr>
              <a:defRPr sz="2200" b="1">
                <a:latin typeface="+mn-lt"/>
                <a:ea typeface="+mn-ea"/>
                <a:cs typeface="+mn-cs"/>
                <a:sym typeface="Helvetica"/>
              </a:defRPr>
            </a:pPr>
            <a:r>
              <a:t>[f</a:t>
            </a:r>
            <a:r>
              <a:rPr baseline="-5999"/>
              <a:t>1</a:t>
            </a:r>
            <a:r>
              <a:t>, f</a:t>
            </a:r>
            <a:r>
              <a:rPr baseline="-5999"/>
              <a:t>2</a:t>
            </a:r>
            <a:r>
              <a:t>, f</a:t>
            </a:r>
            <a:r>
              <a:rPr baseline="-5999"/>
              <a:t>3</a:t>
            </a:r>
            <a:r>
              <a:t>, ... , f</a:t>
            </a:r>
            <a:r>
              <a:rPr baseline="-5999"/>
              <a:t>n</a:t>
            </a:r>
            <a:r>
              <a:t>]</a:t>
            </a:r>
          </a:p>
        </p:txBody>
      </p:sp>
      <p:sp>
        <p:nvSpPr>
          <p:cNvPr id="135" name="Shape 1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sp>
        <p:nvSpPr>
          <p:cNvPr id="136" name="Shape 13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 advTm="33929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>
                <a:solidFill>
                  <a:srgbClr val="DDDDDD"/>
                </a:solidFill>
              </a:defRPr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404040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40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Screen Shot 2018-02-27 at 18.23.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619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Shape 1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sp>
        <p:nvSpPr>
          <p:cNvPr id="143" name="Shape 14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 advTm="60028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>
                <a:solidFill>
                  <a:srgbClr val="DDDDDD"/>
                </a:solidFill>
              </a:defRPr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46" name="Shape 146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404040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47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Screen Shot 2018-02-27 at 18.25.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42" y="3400969"/>
            <a:ext cx="2168098" cy="232211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 advTm="22694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>
                <a:solidFill>
                  <a:srgbClr val="DDDDDD"/>
                </a:solidFill>
              </a:defRPr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404040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54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pic>
        <p:nvPicPr>
          <p:cNvPr id="156" name="Screen Shot 2018-03-06 at 11.15.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310" y="3747124"/>
            <a:ext cx="2632762" cy="1629805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hape 157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 advTm="9023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>
                <a:solidFill>
                  <a:srgbClr val="DDDDDD"/>
                </a:solidFill>
              </a:defRPr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404040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61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Shape 1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pic>
        <p:nvPicPr>
          <p:cNvPr id="163" name="Screen Shot 2018-03-06 at 11.15.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310" y="3377557"/>
            <a:ext cx="2632762" cy="2079882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Shape 164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 advTm="42529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body" sz="half" idx="1"/>
          </p:nvPr>
        </p:nvSpPr>
        <p:spPr>
          <a:xfrm>
            <a:off x="444500" y="1600200"/>
            <a:ext cx="3826124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>
                <a:solidFill>
                  <a:srgbClr val="DDDDDD"/>
                </a:solidFill>
              </a:defRPr>
            </a:pPr>
            <a:r>
              <a:t>Object as set of extracted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features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4501505" y="1600200"/>
            <a:ext cx="4264373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marL="342900" indent="-342900">
              <a:spcBef>
                <a:spcPts val="500"/>
              </a:spcBef>
              <a:buSzPct val="100000"/>
              <a:buFont typeface="Arial"/>
              <a:buChar char="•"/>
              <a:defRPr sz="3000">
                <a:solidFill>
                  <a:srgbClr val="404040"/>
                </a:solidFill>
              </a:defRPr>
            </a:pPr>
            <a:r>
              <a:t>Object as components in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relation</a:t>
            </a:r>
            <a:r>
              <a:t> with each other</a:t>
            </a:r>
          </a:p>
        </p:txBody>
      </p:sp>
      <p:pic>
        <p:nvPicPr>
          <p:cNvPr id="168" name="Screen Shot 2018-02-27 at 18.23.51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21717" y="3400969"/>
            <a:ext cx="2166125" cy="23221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Screen Shot 2018-02-27 at 18.29.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78" y="3400969"/>
            <a:ext cx="3156627" cy="2322116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hape 1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Features vs Structure</a:t>
            </a:r>
          </a:p>
        </p:txBody>
      </p:sp>
      <p:sp>
        <p:nvSpPr>
          <p:cNvPr id="171" name="Shape 171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</p:cSld>
  <p:clrMapOvr>
    <a:masterClrMapping/>
  </p:clrMapOvr>
  <p:transition spd="med" advTm="58572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graph consists of</a:t>
            </a:r>
          </a:p>
        </p:txBody>
      </p:sp>
      <p:sp>
        <p:nvSpPr>
          <p:cNvPr id="175" name="Shape 17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 advTm="13973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</p:txBody>
      </p:sp>
      <p:sp>
        <p:nvSpPr>
          <p:cNvPr id="179" name="Shape 179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0" name="Shape 180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1" name="Shape 181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" name="Shape 182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3" name="Shape 18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 advTm="59168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4009876" y="4072830"/>
            <a:ext cx="556320" cy="80139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86" name="Shape 186"/>
          <p:cNvSpPr/>
          <p:nvPr/>
        </p:nvSpPr>
        <p:spPr>
          <a:xfrm flipH="1">
            <a:off x="4575720" y="4072979"/>
            <a:ext cx="465039" cy="77594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87" name="Shape 187"/>
          <p:cNvSpPr/>
          <p:nvPr/>
        </p:nvSpPr>
        <p:spPr>
          <a:xfrm flipV="1">
            <a:off x="4565401" y="4876055"/>
            <a:ext cx="1" cy="1012640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88" name="Shape 188"/>
          <p:cNvSpPr/>
          <p:nvPr/>
        </p:nvSpPr>
        <p:spPr>
          <a:xfrm>
            <a:off x="4136876" y="4098230"/>
            <a:ext cx="870248" cy="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89" name="Shape 18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191" name="Shape 191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2" name="Shape 192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3" name="Shape 193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4" name="Shape 194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5" name="Shape 19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 advTm="4111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/>
          <p:nvPr/>
        </p:nvSpPr>
        <p:spPr>
          <a:xfrm>
            <a:off x="4009876" y="4072830"/>
            <a:ext cx="556320" cy="80139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98" name="Shape 198"/>
          <p:cNvSpPr/>
          <p:nvPr/>
        </p:nvSpPr>
        <p:spPr>
          <a:xfrm flipH="1">
            <a:off x="4575720" y="4072979"/>
            <a:ext cx="465039" cy="77594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99" name="Shape 199"/>
          <p:cNvSpPr/>
          <p:nvPr/>
        </p:nvSpPr>
        <p:spPr>
          <a:xfrm flipV="1">
            <a:off x="4565401" y="4876055"/>
            <a:ext cx="1" cy="1012640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00" name="Shape 200"/>
          <p:cNvSpPr/>
          <p:nvPr/>
        </p:nvSpPr>
        <p:spPr>
          <a:xfrm>
            <a:off x="4136876" y="4098230"/>
            <a:ext cx="870248" cy="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03" name="Shape 203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4" name="Shape 204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5" name="Shape 205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6" name="Shape 206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07" name="Shape 207"/>
          <p:cNvSpPr txBox="1"/>
          <p:nvPr/>
        </p:nvSpPr>
        <p:spPr>
          <a:xfrm>
            <a:off x="3425708" y="6181725"/>
            <a:ext cx="229258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Vertices can be labelled</a:t>
            </a:r>
          </a:p>
        </p:txBody>
      </p:sp>
      <p:sp>
        <p:nvSpPr>
          <p:cNvPr id="208" name="Shape 20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 advTm="27846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11" name="Shape 211"/>
          <p:cNvSpPr/>
          <p:nvPr/>
        </p:nvSpPr>
        <p:spPr>
          <a:xfrm>
            <a:off x="4093170" y="4237831"/>
            <a:ext cx="473026" cy="636390"/>
          </a:xfrm>
          <a:prstGeom prst="line">
            <a:avLst/>
          </a:prstGeom>
          <a:ln w="25400">
            <a:solidFill>
              <a:srgbClr val="535353"/>
            </a:solidFill>
            <a:bevel/>
            <a:head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12" name="Shape 212"/>
          <p:cNvSpPr/>
          <p:nvPr/>
        </p:nvSpPr>
        <p:spPr>
          <a:xfrm flipH="1">
            <a:off x="4636392" y="4072979"/>
            <a:ext cx="404367" cy="639168"/>
          </a:xfrm>
          <a:prstGeom prst="line">
            <a:avLst/>
          </a:prstGeom>
          <a:ln w="25400">
            <a:solidFill>
              <a:srgbClr val="535353"/>
            </a:solidFill>
            <a:bevel/>
            <a:tail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13" name="Shape 213"/>
          <p:cNvSpPr/>
          <p:nvPr/>
        </p:nvSpPr>
        <p:spPr>
          <a:xfrm flipV="1">
            <a:off x="4565401" y="4863355"/>
            <a:ext cx="1" cy="763849"/>
          </a:xfrm>
          <a:prstGeom prst="line">
            <a:avLst/>
          </a:prstGeom>
          <a:ln w="25400">
            <a:solidFill>
              <a:srgbClr val="535353"/>
            </a:solidFill>
            <a:bevel/>
            <a:head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14" name="Shape 214"/>
          <p:cNvSpPr/>
          <p:nvPr/>
        </p:nvSpPr>
        <p:spPr>
          <a:xfrm>
            <a:off x="4149576" y="4098230"/>
            <a:ext cx="739478" cy="1"/>
          </a:xfrm>
          <a:prstGeom prst="line">
            <a:avLst/>
          </a:prstGeom>
          <a:ln w="25400">
            <a:solidFill>
              <a:srgbClr val="535353"/>
            </a:solidFill>
            <a:bevel/>
            <a:headEnd type="triangle"/>
            <a:tail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15" name="Shape 2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16" name="Shape 216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7" name="Shape 217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8" name="Shape 218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19" name="Shape 219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0" name="Shape 220"/>
          <p:cNvSpPr txBox="1"/>
          <p:nvPr/>
        </p:nvSpPr>
        <p:spPr>
          <a:xfrm>
            <a:off x="3514608" y="6181725"/>
            <a:ext cx="212225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Edges can be directed</a:t>
            </a:r>
          </a:p>
        </p:txBody>
      </p:sp>
      <p:sp>
        <p:nvSpPr>
          <p:cNvPr id="221" name="Shape 221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</p:spTree>
  </p:cSld>
  <p:clrMapOvr>
    <a:masterClrMapping/>
  </p:clrMapOvr>
  <p:transition spd="med" advTm="21642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24" name="Shape 224"/>
          <p:cNvSpPr/>
          <p:nvPr/>
        </p:nvSpPr>
        <p:spPr>
          <a:xfrm>
            <a:off x="4093170" y="4237831"/>
            <a:ext cx="473026" cy="636390"/>
          </a:xfrm>
          <a:prstGeom prst="line">
            <a:avLst/>
          </a:prstGeom>
          <a:ln w="25400">
            <a:solidFill>
              <a:srgbClr val="535353"/>
            </a:solidFill>
            <a:bevel/>
            <a:head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25" name="Shape 225"/>
          <p:cNvSpPr/>
          <p:nvPr/>
        </p:nvSpPr>
        <p:spPr>
          <a:xfrm flipH="1">
            <a:off x="4636392" y="4072979"/>
            <a:ext cx="404367" cy="639168"/>
          </a:xfrm>
          <a:prstGeom prst="line">
            <a:avLst/>
          </a:prstGeom>
          <a:ln w="50800">
            <a:solidFill>
              <a:srgbClr val="535353"/>
            </a:solidFill>
            <a:bevel/>
            <a:tail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26" name="Shape 226"/>
          <p:cNvSpPr/>
          <p:nvPr/>
        </p:nvSpPr>
        <p:spPr>
          <a:xfrm flipV="1">
            <a:off x="4565401" y="4863355"/>
            <a:ext cx="1" cy="763849"/>
          </a:xfrm>
          <a:prstGeom prst="line">
            <a:avLst/>
          </a:prstGeom>
          <a:ln w="12700">
            <a:solidFill>
              <a:srgbClr val="535353"/>
            </a:solidFill>
            <a:bevel/>
            <a:head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27" name="Shape 227"/>
          <p:cNvSpPr/>
          <p:nvPr/>
        </p:nvSpPr>
        <p:spPr>
          <a:xfrm>
            <a:off x="4149576" y="4098230"/>
            <a:ext cx="739478" cy="1"/>
          </a:xfrm>
          <a:prstGeom prst="line">
            <a:avLst/>
          </a:prstGeom>
          <a:ln w="38100">
            <a:solidFill>
              <a:srgbClr val="535353"/>
            </a:solidFill>
            <a:bevel/>
            <a:headEnd type="triangle"/>
            <a:tailEnd type="triangle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29" name="Shape 229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0" name="Shape 230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1" name="Shape 231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2" name="Shape 232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3" name="Shape 233"/>
          <p:cNvSpPr txBox="1"/>
          <p:nvPr/>
        </p:nvSpPr>
        <p:spPr>
          <a:xfrm>
            <a:off x="3425708" y="6181725"/>
            <a:ext cx="221578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Edges can be weighted</a:t>
            </a:r>
          </a:p>
        </p:txBody>
      </p:sp>
      <p:sp>
        <p:nvSpPr>
          <p:cNvPr id="234" name="Shape 234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 advTm="2944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/>
          <p:nvPr/>
        </p:nvSpPr>
        <p:spPr>
          <a:xfrm>
            <a:off x="4009876" y="4072830"/>
            <a:ext cx="556320" cy="80139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37" name="Shape 237"/>
          <p:cNvSpPr/>
          <p:nvPr/>
        </p:nvSpPr>
        <p:spPr>
          <a:xfrm flipH="1">
            <a:off x="4575720" y="4072979"/>
            <a:ext cx="465039" cy="77594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38" name="Shape 238"/>
          <p:cNvSpPr/>
          <p:nvPr/>
        </p:nvSpPr>
        <p:spPr>
          <a:xfrm flipV="1">
            <a:off x="4565401" y="4876055"/>
            <a:ext cx="1" cy="1012640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39" name="Shape 239"/>
          <p:cNvSpPr/>
          <p:nvPr/>
        </p:nvSpPr>
        <p:spPr>
          <a:xfrm>
            <a:off x="4136876" y="4098230"/>
            <a:ext cx="870248" cy="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42" name="Shape 242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3" name="Shape 243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4" name="Shape 244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5" name="Shape 245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 advTm="196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/>
        </p:nvSpPr>
        <p:spPr>
          <a:xfrm>
            <a:off x="4009876" y="4072830"/>
            <a:ext cx="556320" cy="80139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49" name="Shape 249"/>
          <p:cNvSpPr/>
          <p:nvPr/>
        </p:nvSpPr>
        <p:spPr>
          <a:xfrm flipH="1">
            <a:off x="4575720" y="4072979"/>
            <a:ext cx="465039" cy="77594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50" name="Shape 250"/>
          <p:cNvSpPr/>
          <p:nvPr/>
        </p:nvSpPr>
        <p:spPr>
          <a:xfrm flipV="1">
            <a:off x="4565401" y="4876055"/>
            <a:ext cx="1" cy="1012640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51" name="Shape 251"/>
          <p:cNvSpPr/>
          <p:nvPr/>
        </p:nvSpPr>
        <p:spPr>
          <a:xfrm>
            <a:off x="4136876" y="4098230"/>
            <a:ext cx="870248" cy="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54" name="Shape 254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5" name="Shape 255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6" name="Shape 256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7" name="Shape 257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58" name="Shape 258"/>
          <p:cNvSpPr txBox="1"/>
          <p:nvPr/>
        </p:nvSpPr>
        <p:spPr>
          <a:xfrm>
            <a:off x="3632622" y="36777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1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5194722" y="36777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2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4788322" y="46683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3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4788322" y="55954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4</a:t>
            </a:r>
          </a:p>
        </p:txBody>
      </p:sp>
      <p:sp>
        <p:nvSpPr>
          <p:cNvPr id="262" name="Shape 26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 advTm="17789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/>
        </p:nvSpPr>
        <p:spPr>
          <a:xfrm>
            <a:off x="4009876" y="4072830"/>
            <a:ext cx="556320" cy="80139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65" name="Shape 265"/>
          <p:cNvSpPr/>
          <p:nvPr/>
        </p:nvSpPr>
        <p:spPr>
          <a:xfrm flipH="1">
            <a:off x="4575720" y="4072979"/>
            <a:ext cx="465039" cy="77594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66" name="Shape 266"/>
          <p:cNvSpPr/>
          <p:nvPr/>
        </p:nvSpPr>
        <p:spPr>
          <a:xfrm flipV="1">
            <a:off x="4565401" y="4876055"/>
            <a:ext cx="1" cy="1012640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67" name="Shape 267"/>
          <p:cNvSpPr/>
          <p:nvPr/>
        </p:nvSpPr>
        <p:spPr>
          <a:xfrm>
            <a:off x="4136876" y="4098230"/>
            <a:ext cx="870248" cy="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68" name="Shape 2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69" name="Shape 26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70" name="Shape 270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1" name="Shape 271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2" name="Shape 272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3" name="Shape 273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4" name="Shape 274"/>
          <p:cNvSpPr txBox="1"/>
          <p:nvPr/>
        </p:nvSpPr>
        <p:spPr>
          <a:xfrm>
            <a:off x="3632622" y="36777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1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5194722" y="36777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2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4788322" y="46683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3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4788322" y="55954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4</a:t>
            </a:r>
          </a:p>
        </p:txBody>
      </p:sp>
      <p:pic>
        <p:nvPicPr>
          <p:cNvPr id="278" name="Screen Shot 2018-02-27 at 18.39.07.png"/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5481771" y="4057798"/>
            <a:ext cx="2651572" cy="1586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Screen Shot 2018-02-27 at 18.40.26.png"/>
          <p:cNvPicPr>
            <a:picLocks noChangeAspect="1"/>
          </p:cNvPicPr>
          <p:nvPr/>
        </p:nvPicPr>
        <p:blipFill>
          <a:blip r:embed="rId4"/>
          <a:srcRect b="15694"/>
          <a:stretch>
            <a:fillRect/>
          </a:stretch>
        </p:blipFill>
        <p:spPr>
          <a:xfrm>
            <a:off x="444202" y="4015189"/>
            <a:ext cx="2651572" cy="1629560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Shape 280"/>
          <p:cNvSpPr txBox="1"/>
          <p:nvPr/>
        </p:nvSpPr>
        <p:spPr>
          <a:xfrm>
            <a:off x="1452520" y="5608161"/>
            <a:ext cx="141970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Degree matrix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6232011" y="5608161"/>
            <a:ext cx="170076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Adjacency matrix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 advTm="325099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/>
          <p:nvPr/>
        </p:nvSpPr>
        <p:spPr>
          <a:xfrm>
            <a:off x="4009876" y="4072830"/>
            <a:ext cx="556320" cy="80139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85" name="Shape 285"/>
          <p:cNvSpPr/>
          <p:nvPr/>
        </p:nvSpPr>
        <p:spPr>
          <a:xfrm flipH="1">
            <a:off x="4575720" y="4072979"/>
            <a:ext cx="465039" cy="77594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86" name="Shape 286"/>
          <p:cNvSpPr/>
          <p:nvPr/>
        </p:nvSpPr>
        <p:spPr>
          <a:xfrm flipV="1">
            <a:off x="4565401" y="4876055"/>
            <a:ext cx="1" cy="1012640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87" name="Shape 287"/>
          <p:cNvSpPr/>
          <p:nvPr/>
        </p:nvSpPr>
        <p:spPr>
          <a:xfrm>
            <a:off x="4136876" y="4098230"/>
            <a:ext cx="870248" cy="1"/>
          </a:xfrm>
          <a:prstGeom prst="line">
            <a:avLst/>
          </a:prstGeom>
          <a:ln w="25400">
            <a:solidFill>
              <a:srgbClr val="535353"/>
            </a:solidFill>
            <a:bevel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88" name="Shape 28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 graph consists of</a:t>
            </a:r>
          </a:p>
          <a:p>
            <a:pPr lvl="1">
              <a:spcBef>
                <a:spcPts val="500"/>
              </a:spcBef>
            </a:pPr>
            <a:r>
              <a:t>A set of vertices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V</a:t>
            </a:r>
            <a:r>
              <a:t> (e.g., parts of an object)</a:t>
            </a:r>
          </a:p>
          <a:p>
            <a:pPr lvl="1">
              <a:spcBef>
                <a:spcPts val="500"/>
              </a:spcBef>
            </a:pPr>
            <a:r>
              <a:t>A set of edges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E</a:t>
            </a:r>
            <a:r>
              <a:t> (e.g., relations between parts)</a:t>
            </a:r>
          </a:p>
        </p:txBody>
      </p:sp>
      <p:sp>
        <p:nvSpPr>
          <p:cNvPr id="290" name="Shape 290"/>
          <p:cNvSpPr/>
          <p:nvPr/>
        </p:nvSpPr>
        <p:spPr>
          <a:xfrm>
            <a:off x="38759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91" name="Shape 291"/>
          <p:cNvSpPr/>
          <p:nvPr/>
        </p:nvSpPr>
        <p:spPr>
          <a:xfrm>
            <a:off x="4879255" y="3941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92" name="Shape 292"/>
          <p:cNvSpPr/>
          <p:nvPr/>
        </p:nvSpPr>
        <p:spPr>
          <a:xfrm>
            <a:off x="4422055" y="47038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93" name="Shape 293"/>
          <p:cNvSpPr/>
          <p:nvPr/>
        </p:nvSpPr>
        <p:spPr>
          <a:xfrm>
            <a:off x="4422055" y="5630937"/>
            <a:ext cx="299890" cy="299889"/>
          </a:xfrm>
          <a:prstGeom prst="ellipse">
            <a:avLst/>
          </a:prstGeom>
          <a:solidFill>
            <a:srgbClr val="A7A7A7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94" name="Shape 294"/>
          <p:cNvSpPr txBox="1"/>
          <p:nvPr/>
        </p:nvSpPr>
        <p:spPr>
          <a:xfrm>
            <a:off x="3632622" y="36777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1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5194722" y="36777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2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4788322" y="46683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3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4788322" y="5595461"/>
            <a:ext cx="23287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/>
            </a:lvl1pPr>
          </a:lstStyle>
          <a:p>
            <a:r>
              <a:t>4</a:t>
            </a:r>
          </a:p>
        </p:txBody>
      </p:sp>
      <p:pic>
        <p:nvPicPr>
          <p:cNvPr id="298" name="Screen Shot 2018-02-27 at 18.39.07.png"/>
          <p:cNvPicPr>
            <a:picLocks noChangeAspect="1"/>
          </p:cNvPicPr>
          <p:nvPr/>
        </p:nvPicPr>
        <p:blipFill>
          <a:blip r:embed="rId2"/>
          <a:srcRect b="14114"/>
          <a:stretch>
            <a:fillRect/>
          </a:stretch>
        </p:blipFill>
        <p:spPr>
          <a:xfrm>
            <a:off x="5481771" y="4057798"/>
            <a:ext cx="2651572" cy="1586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" name="Screen Shot 2018-02-27 at 18.40.26.png"/>
          <p:cNvPicPr>
            <a:picLocks noChangeAspect="1"/>
          </p:cNvPicPr>
          <p:nvPr/>
        </p:nvPicPr>
        <p:blipFill>
          <a:blip r:embed="rId3"/>
          <a:srcRect b="15694"/>
          <a:stretch>
            <a:fillRect/>
          </a:stretch>
        </p:blipFill>
        <p:spPr>
          <a:xfrm>
            <a:off x="444202" y="4010052"/>
            <a:ext cx="2651572" cy="16295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405" y="6364983"/>
            <a:ext cx="1533835" cy="240777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Shape 301"/>
          <p:cNvSpPr txBox="1"/>
          <p:nvPr/>
        </p:nvSpPr>
        <p:spPr>
          <a:xfrm>
            <a:off x="2935760" y="6308725"/>
            <a:ext cx="161995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Laplacian matrix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1452520" y="5608161"/>
            <a:ext cx="141970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Degree matrix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6232011" y="5608161"/>
            <a:ext cx="170076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t>Adjacency matrix</a:t>
            </a:r>
          </a:p>
        </p:txBody>
      </p:sp>
      <p:sp>
        <p:nvSpPr>
          <p:cNvPr id="304" name="Shape 304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 advTm="32306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How to apply deep learning (or even just standard machine learning) to graph data?</a:t>
            </a:r>
          </a:p>
          <a:p>
            <a:pPr>
              <a:spcBef>
                <a:spcPts val="500"/>
              </a:spcBef>
            </a:pPr>
            <a:r>
              <a:t>You have a dataset of graphs representing chemical compounds, with label toxic/not-toxic. How to train an algorithm to distinguish them?</a:t>
            </a:r>
          </a:p>
        </p:txBody>
      </p:sp>
      <p:pic>
        <p:nvPicPr>
          <p:cNvPr id="308" name="Screen Shot 2018-03-06 at 11.15.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19" y="4504295"/>
            <a:ext cx="2632762" cy="1629805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Shape 309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 advTm="5807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12" name="Shape 3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How to apply deep learning (or even just standard machine learning) to graph data?</a:t>
            </a:r>
          </a:p>
          <a:p>
            <a:pPr>
              <a:spcBef>
                <a:spcPts val="500"/>
              </a:spcBef>
            </a:pPr>
            <a:r>
              <a:t>You have a dataset of graphs representing chemical compounds, with label toxic/not-toxic. How to train an algorithm to distinguish them?</a:t>
            </a:r>
          </a:p>
          <a:p>
            <a:pPr>
              <a:spcBef>
                <a:spcPts val="500"/>
              </a:spcBef>
              <a:defRPr>
                <a:solidFill>
                  <a:schemeClr val="accent2"/>
                </a:solidFill>
              </a:defRPr>
            </a:pPr>
            <a:r>
              <a:t>ML/DL algorithms work on vectorial spaces</a:t>
            </a:r>
          </a:p>
        </p:txBody>
      </p:sp>
      <p:sp>
        <p:nvSpPr>
          <p:cNvPr id="313" name="Shape 31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</p:spTree>
  </p:cSld>
  <p:clrMapOvr>
    <a:masterClrMapping/>
  </p:clrMapOvr>
  <p:transition spd="med" advTm="1819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How to apply deep learning (or even just standard machine learning) to graph data?</a:t>
            </a:r>
          </a:p>
          <a:p>
            <a:pPr>
              <a:spcBef>
                <a:spcPts val="500"/>
              </a:spcBef>
            </a:pPr>
            <a:r>
              <a:t>You have a dataset of graphs representing chemical compounds, with label toxic/not-toxic. How to train an algorithm to distinguish them?</a:t>
            </a:r>
          </a:p>
          <a:p>
            <a:pPr>
              <a:spcBef>
                <a:spcPts val="500"/>
              </a:spcBef>
              <a:defRPr>
                <a:solidFill>
                  <a:schemeClr val="accent2"/>
                </a:solidFill>
              </a:defRPr>
            </a:pPr>
            <a:r>
              <a:t>ML/DL algorithms work on vectorial spaces</a:t>
            </a:r>
          </a:p>
          <a:p>
            <a:pPr lvl="1">
              <a:spcBef>
                <a:spcPts val="500"/>
              </a:spcBef>
            </a:pPr>
            <a:r>
              <a:t>i.e., the input is a matrix of data points</a:t>
            </a:r>
          </a:p>
        </p:txBody>
      </p:sp>
      <p:sp>
        <p:nvSpPr>
          <p:cNvPr id="317" name="Shape 317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</p:spTree>
  </p:cSld>
  <p:clrMapOvr>
    <a:masterClrMapping/>
  </p:clrMapOvr>
  <p:transition spd="med" advTm="1953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How to apply deep learning (or even just standard machine learning) to graph data?</a:t>
            </a:r>
          </a:p>
          <a:p>
            <a:pPr>
              <a:spcBef>
                <a:spcPts val="500"/>
              </a:spcBef>
            </a:pPr>
            <a:r>
              <a:t>You have a dataset of graphs representing chemical compounds, with label toxic/not-toxic. How to train an algorithm to distinguish them?</a:t>
            </a:r>
          </a:p>
          <a:p>
            <a:pPr>
              <a:spcBef>
                <a:spcPts val="500"/>
              </a:spcBef>
              <a:defRPr>
                <a:solidFill>
                  <a:schemeClr val="accent2"/>
                </a:solidFill>
              </a:defRPr>
            </a:pPr>
            <a:r>
              <a:t>ML/DL algorithms work on vectorial spaces</a:t>
            </a:r>
          </a:p>
          <a:p>
            <a:pPr lvl="1">
              <a:spcBef>
                <a:spcPts val="500"/>
              </a:spcBef>
            </a:pPr>
            <a:r>
              <a:t>i.e., the input is a matrix of data points</a:t>
            </a:r>
          </a:p>
        </p:txBody>
      </p:sp>
      <p:pic>
        <p:nvPicPr>
          <p:cNvPr id="321" name="Screen Shot 2018-03-06 at 11.15.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19" y="5164695"/>
            <a:ext cx="2632762" cy="1629805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Shape 32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</p:spTree>
  </p:cSld>
  <p:clrMapOvr>
    <a:masterClrMapping/>
  </p:clrMapOvr>
  <p:transition spd="med" advTm="5102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25" name="Shape 3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How to apply deep learning (or even just standard machine learning) to graph data?</a:t>
            </a:r>
          </a:p>
          <a:p>
            <a:pPr>
              <a:spcBef>
                <a:spcPts val="500"/>
              </a:spcBef>
            </a:pPr>
            <a:r>
              <a:t>You have a dataset of graphs representing chemical compounds, with label toxic/not-toxic. How to train an algorithm to distinguish them?</a:t>
            </a:r>
          </a:p>
          <a:p>
            <a:pPr>
              <a:spcBef>
                <a:spcPts val="500"/>
              </a:spcBef>
              <a:defRPr>
                <a:solidFill>
                  <a:schemeClr val="accent2"/>
                </a:solidFill>
              </a:defRPr>
            </a:pPr>
            <a:r>
              <a:t>ML/DL algorithms work on vectorial spaces</a:t>
            </a:r>
          </a:p>
          <a:p>
            <a:pPr lvl="1">
              <a:spcBef>
                <a:spcPts val="500"/>
              </a:spcBef>
            </a:pPr>
            <a:r>
              <a:t>i.e., the input is a matrix of data points</a:t>
            </a:r>
          </a:p>
        </p:txBody>
      </p:sp>
      <p:pic>
        <p:nvPicPr>
          <p:cNvPr id="326" name="Screen Shot 2018-03-06 at 11.15.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19" y="5164695"/>
            <a:ext cx="2632762" cy="1629805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Shape 327"/>
          <p:cNvSpPr/>
          <p:nvPr/>
        </p:nvSpPr>
        <p:spPr>
          <a:xfrm>
            <a:off x="4248883" y="5605574"/>
            <a:ext cx="1151385" cy="748209"/>
          </a:xfrm>
          <a:prstGeom prst="rightArrow">
            <a:avLst>
              <a:gd name="adj1" fmla="val 32000"/>
              <a:gd name="adj2" fmla="val 108633"/>
            </a:avLst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28" name="Shape 328"/>
          <p:cNvSpPr txBox="1"/>
          <p:nvPr/>
        </p:nvSpPr>
        <p:spPr>
          <a:xfrm>
            <a:off x="4651112" y="5622808"/>
            <a:ext cx="339537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4000" b="1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?</a:t>
            </a:r>
          </a:p>
        </p:txBody>
      </p:sp>
      <p:sp>
        <p:nvSpPr>
          <p:cNvPr id="329" name="Shape 329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</p:spTree>
  </p:cSld>
  <p:clrMapOvr>
    <a:masterClrMapping/>
  </p:clrMapOvr>
  <p:transition spd="med" advTm="1233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32" name="Shape 3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How to apply deep learning (or even just standard machine learning) to graph data?</a:t>
            </a:r>
          </a:p>
          <a:p>
            <a:pPr>
              <a:spcBef>
                <a:spcPts val="500"/>
              </a:spcBef>
            </a:pPr>
            <a:r>
              <a:t>You have a dataset of graphs representing chemical compounds, with label toxic/not-toxic. How to train an algorithm to distinguish them?</a:t>
            </a:r>
          </a:p>
          <a:p>
            <a:pPr>
              <a:spcBef>
                <a:spcPts val="500"/>
              </a:spcBef>
              <a:defRPr>
                <a:solidFill>
                  <a:schemeClr val="accent2"/>
                </a:solidFill>
              </a:defRPr>
            </a:pPr>
            <a:r>
              <a:t>ML/DL algorithms work on vectorial spaces</a:t>
            </a:r>
          </a:p>
          <a:p>
            <a:pPr lvl="1">
              <a:spcBef>
                <a:spcPts val="500"/>
              </a:spcBef>
            </a:pPr>
            <a:r>
              <a:t>i.e., the input is a matrix of data points</a:t>
            </a:r>
          </a:p>
        </p:txBody>
      </p:sp>
      <p:pic>
        <p:nvPicPr>
          <p:cNvPr id="333" name="Screen Shot 2018-03-06 at 11.15.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619" y="5164695"/>
            <a:ext cx="2632762" cy="1629805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Shape 334"/>
          <p:cNvSpPr/>
          <p:nvPr/>
        </p:nvSpPr>
        <p:spPr>
          <a:xfrm>
            <a:off x="4248883" y="5605574"/>
            <a:ext cx="1151385" cy="748209"/>
          </a:xfrm>
          <a:prstGeom prst="rightArrow">
            <a:avLst>
              <a:gd name="adj1" fmla="val 32000"/>
              <a:gd name="adj2" fmla="val 108633"/>
            </a:avLst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35" name="Shape 335"/>
          <p:cNvSpPr txBox="1"/>
          <p:nvPr/>
        </p:nvSpPr>
        <p:spPr>
          <a:xfrm>
            <a:off x="5721772" y="5235458"/>
            <a:ext cx="1619733" cy="1501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b="1">
                <a:solidFill>
                  <a:srgbClr val="53535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>
                <a:solidFill>
                  <a:srgbClr val="DDDDDD"/>
                </a:solidFill>
              </a:rPr>
              <a:t>…</a:t>
            </a:r>
            <a:br>
              <a:rPr>
                <a:solidFill>
                  <a:srgbClr val="DDDDDD"/>
                </a:solidFill>
              </a:rPr>
            </a:br>
            <a:r>
              <a:rPr>
                <a:solidFill>
                  <a:srgbClr val="DDDDDD"/>
                </a:solidFill>
              </a:rPr>
              <a:t>[-2, 0, 0, 1.2, …]</a:t>
            </a:r>
            <a:br/>
            <a:r>
              <a:t>[0, 1, -2, 0.5, …]</a:t>
            </a:r>
            <a:br/>
            <a:r>
              <a:rPr>
                <a:solidFill>
                  <a:srgbClr val="DDDDDD"/>
                </a:solidFill>
              </a:rPr>
              <a:t>[-1.2, 1, 0, 0, …]</a:t>
            </a:r>
          </a:p>
          <a:p>
            <a:pPr algn="ctr">
              <a:defRPr b="1">
                <a:solidFill>
                  <a:srgbClr val="DDDDDD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…</a:t>
            </a:r>
          </a:p>
        </p:txBody>
      </p:sp>
      <p:sp>
        <p:nvSpPr>
          <p:cNvPr id="336" name="Shape 336"/>
          <p:cNvSpPr txBox="1"/>
          <p:nvPr/>
        </p:nvSpPr>
        <p:spPr>
          <a:xfrm>
            <a:off x="4651112" y="5622808"/>
            <a:ext cx="339537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4000" b="1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?</a:t>
            </a:r>
          </a:p>
        </p:txBody>
      </p:sp>
      <p:sp>
        <p:nvSpPr>
          <p:cNvPr id="337" name="Shape 337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</p:spTree>
  </p:cSld>
  <p:clrMapOvr>
    <a:masterClrMapping/>
  </p:clrMapOvr>
  <p:transition spd="med" advTm="592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Turning a graph into a vector (i.e., embedding a graph into a vectorial space) it’s not an easy task</a:t>
            </a:r>
          </a:p>
          <a:p>
            <a:pPr lvl="1">
              <a:spcBef>
                <a:spcPts val="500"/>
              </a:spcBef>
            </a:pPr>
            <a:r>
              <a:t>What’s the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right</a:t>
            </a:r>
            <a:r>
              <a:t> </a:t>
            </a:r>
            <a:r>
              <a:rPr>
                <a:solidFill>
                  <a:schemeClr val="accent2"/>
                </a:solidFill>
              </a:rPr>
              <a:t>order of the nodes</a:t>
            </a:r>
            <a:r>
              <a:t>? If I change the order I change the point in the embedding space, e.g., [1 0 2] is different from [2 1 0]</a:t>
            </a:r>
          </a:p>
          <a:p>
            <a:pPr lvl="1">
              <a:spcBef>
                <a:spcPts val="500"/>
              </a:spcBef>
            </a:pPr>
            <a:r>
              <a:t>Graphs describing objects from the same class can </a:t>
            </a:r>
            <a:r>
              <a:rPr>
                <a:solidFill>
                  <a:schemeClr val="accent2"/>
                </a:solidFill>
              </a:rPr>
              <a:t>vary in size</a:t>
            </a:r>
            <a:r>
              <a:t>, so the dimension of the corresponding vectors would change as well. How do I compare [1 0 2] to [1 0 1 1]?</a:t>
            </a:r>
          </a:p>
        </p:txBody>
      </p:sp>
      <p:sp>
        <p:nvSpPr>
          <p:cNvPr id="341" name="Shape 341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</p:spTree>
  </p:cSld>
  <p:clrMapOvr>
    <a:masterClrMapping/>
  </p:clrMapOvr>
  <p:transition spd="med" advTm="165728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Luckily researchers in the field of machine learning and deep learning have come up with a variety of ways to apply machine/deep learning to graph by either computing the embedding directly, or indirectly</a:t>
            </a:r>
          </a:p>
          <a:p>
            <a:pPr>
              <a:spcBef>
                <a:spcPts val="500"/>
              </a:spcBef>
            </a:pPr>
            <a:r>
              <a:t>In this lecture, we only focus on how </a:t>
            </a:r>
            <a:r>
              <a:rPr>
                <a:solidFill>
                  <a:schemeClr val="accent2"/>
                </a:solidFill>
              </a:rPr>
              <a:t>CNNs</a:t>
            </a:r>
            <a:r>
              <a:t> can be generalised to work </a:t>
            </a:r>
            <a:r>
              <a:rPr>
                <a:solidFill>
                  <a:schemeClr val="accent2"/>
                </a:solidFill>
              </a:rPr>
              <a:t>on graphs</a:t>
            </a:r>
          </a:p>
        </p:txBody>
      </p:sp>
      <p:sp>
        <p:nvSpPr>
          <p:cNvPr id="345" name="Shape 34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</p:spTree>
  </p:cSld>
  <p:clrMapOvr>
    <a:masterClrMapping/>
  </p:clrMapOvr>
  <p:transition spd="med" advTm="4096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48" name="Shape 3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</a:pPr>
            <a:r>
              <a:t>Luckily researchers in the field of machine learning and deep learning have come up with a variety of ways to apply machine/deep learning to graph by either computing the embedding directly, or indirectly</a:t>
            </a:r>
          </a:p>
          <a:p>
            <a:pPr>
              <a:spcBef>
                <a:spcPts val="500"/>
              </a:spcBef>
            </a:pPr>
            <a:r>
              <a:t>In this lecture, we only focus on how </a:t>
            </a:r>
            <a:r>
              <a:rPr>
                <a:solidFill>
                  <a:schemeClr val="accent2"/>
                </a:solidFill>
              </a:rPr>
              <a:t>CNNs</a:t>
            </a:r>
            <a:r>
              <a:t> can be generalised to work </a:t>
            </a:r>
            <a:r>
              <a:rPr>
                <a:solidFill>
                  <a:schemeClr val="accent2"/>
                </a:solidFill>
              </a:rPr>
              <a:t>on graphs</a:t>
            </a:r>
          </a:p>
          <a:p>
            <a:pPr>
              <a:spcBef>
                <a:spcPts val="500"/>
              </a:spcBef>
              <a:defRPr b="1">
                <a:latin typeface="+mn-lt"/>
                <a:ea typeface="+mn-ea"/>
                <a:cs typeface="+mn-cs"/>
                <a:sym typeface="Helvetica"/>
              </a:defRPr>
            </a:pPr>
            <a:r>
              <a:t>Note: is a very new and rapidly evolving field, my intention is just to offer you a glimpse of it</a:t>
            </a:r>
          </a:p>
        </p:txBody>
      </p:sp>
      <p:sp>
        <p:nvSpPr>
          <p:cNvPr id="349" name="Shape 349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</p:spTree>
  </p:cSld>
  <p:clrMapOvr>
    <a:masterClrMapping/>
  </p:clrMapOvr>
  <p:transition spd="med" advTm="23544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  <a:lvl2pPr>
              <a:spcBef>
                <a:spcPts val="500"/>
              </a:spcBef>
            </a:lvl2pPr>
            <a:lvl3pPr>
              <a:spcBef>
                <a:spcPts val="500"/>
              </a:spcBef>
            </a:lvl3pPr>
          </a:lstStyle>
          <a:p>
            <a:r>
              <a:t>The type of tasks we’re interested in solving when dealing with graphs are typically:</a:t>
            </a:r>
          </a:p>
          <a:p>
            <a:pPr lvl="1"/>
            <a:r>
              <a:t>Graph classification</a:t>
            </a:r>
          </a:p>
          <a:p>
            <a:pPr lvl="2"/>
            <a:r>
              <a:t>Just like what you’re used to, but instead of assigning a label to a point you assign it to a graph</a:t>
            </a:r>
          </a:p>
        </p:txBody>
      </p:sp>
      <p:pic>
        <p:nvPicPr>
          <p:cNvPr id="353" name="Screen Shot 2018-03-06 at 11.15.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565" y="4656695"/>
            <a:ext cx="2632762" cy="1629805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Shape 354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</p:spTree>
  </p:cSld>
  <p:clrMapOvr>
    <a:masterClrMapping/>
  </p:clrMapOvr>
  <p:transition spd="med" advTm="51092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/>
          <p:nvPr/>
        </p:nvSpPr>
        <p:spPr>
          <a:xfrm flipH="1" flipV="1">
            <a:off x="3050097" y="5372596"/>
            <a:ext cx="836514" cy="619939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57" name="Shape 357"/>
          <p:cNvSpPr/>
          <p:nvPr/>
        </p:nvSpPr>
        <p:spPr>
          <a:xfrm flipH="1" flipV="1">
            <a:off x="5920411" y="5516899"/>
            <a:ext cx="537667" cy="665283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58" name="Shape 358"/>
          <p:cNvSpPr/>
          <p:nvPr/>
        </p:nvSpPr>
        <p:spPr>
          <a:xfrm flipV="1">
            <a:off x="5098135" y="5516453"/>
            <a:ext cx="857698" cy="452954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59" name="Shape 359"/>
          <p:cNvSpPr/>
          <p:nvPr/>
        </p:nvSpPr>
        <p:spPr>
          <a:xfrm flipH="1" flipV="1">
            <a:off x="4482483" y="5258980"/>
            <a:ext cx="96491" cy="1214558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60" name="Shape 360"/>
          <p:cNvSpPr/>
          <p:nvPr/>
        </p:nvSpPr>
        <p:spPr>
          <a:xfrm flipH="1" flipV="1">
            <a:off x="3852246" y="5959514"/>
            <a:ext cx="675135" cy="455187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61" name="Shape 361"/>
          <p:cNvSpPr/>
          <p:nvPr/>
        </p:nvSpPr>
        <p:spPr>
          <a:xfrm flipV="1">
            <a:off x="4573070" y="5959514"/>
            <a:ext cx="523777" cy="468979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62" name="Shape 362"/>
          <p:cNvSpPr/>
          <p:nvPr/>
        </p:nvSpPr>
        <p:spPr>
          <a:xfrm flipV="1">
            <a:off x="4573219" y="6159886"/>
            <a:ext cx="1913088" cy="317769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63" name="Shape 363"/>
          <p:cNvSpPr/>
          <p:nvPr/>
        </p:nvSpPr>
        <p:spPr>
          <a:xfrm flipV="1">
            <a:off x="3876256" y="5220880"/>
            <a:ext cx="568128" cy="702788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64" name="Shape 364"/>
          <p:cNvSpPr/>
          <p:nvPr/>
        </p:nvSpPr>
        <p:spPr>
          <a:xfrm flipV="1">
            <a:off x="3007978" y="5381327"/>
            <a:ext cx="1" cy="907773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65" name="Shape 3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  <a:lvl2pPr>
              <a:spcBef>
                <a:spcPts val="500"/>
              </a:spcBef>
            </a:lvl2pPr>
            <a:lvl3pPr>
              <a:spcBef>
                <a:spcPts val="500"/>
              </a:spcBef>
            </a:lvl3pPr>
          </a:lstStyle>
          <a:p>
            <a:r>
              <a:t>The type of tasks we’re interested in solving when dealing with graphs are typically:</a:t>
            </a:r>
          </a:p>
          <a:p>
            <a:pPr lvl="1"/>
            <a:r>
              <a:t>Node classification</a:t>
            </a:r>
          </a:p>
          <a:p>
            <a:pPr lvl="2"/>
            <a:r>
              <a:t>You assume some nodes have labels (e.g., age, sex, income, etc.) other don’t, and you want to find out the missing information</a:t>
            </a:r>
          </a:p>
        </p:txBody>
      </p:sp>
      <p:sp>
        <p:nvSpPr>
          <p:cNvPr id="367" name="Shape 367"/>
          <p:cNvSpPr/>
          <p:nvPr/>
        </p:nvSpPr>
        <p:spPr>
          <a:xfrm>
            <a:off x="2885430" y="52285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68" name="Shape 368"/>
          <p:cNvSpPr/>
          <p:nvPr/>
        </p:nvSpPr>
        <p:spPr>
          <a:xfrm>
            <a:off x="3736330" y="5838180"/>
            <a:ext cx="254695" cy="254695"/>
          </a:xfrm>
          <a:prstGeom prst="ellipse">
            <a:avLst/>
          </a:prstGeom>
          <a:solidFill>
            <a:schemeClr val="accent2">
              <a:lumOff val="11813"/>
            </a:schemeClr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69" name="Shape 369"/>
          <p:cNvSpPr/>
          <p:nvPr/>
        </p:nvSpPr>
        <p:spPr>
          <a:xfrm>
            <a:off x="4345930" y="51269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0" name="Shape 370"/>
          <p:cNvSpPr/>
          <p:nvPr/>
        </p:nvSpPr>
        <p:spPr>
          <a:xfrm>
            <a:off x="5031730" y="5838180"/>
            <a:ext cx="254695" cy="254695"/>
          </a:xfrm>
          <a:prstGeom prst="ellipse">
            <a:avLst/>
          </a:prstGeom>
          <a:solidFill>
            <a:schemeClr val="accent2">
              <a:lumOff val="11813"/>
            </a:schemeClr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1" name="Shape 371"/>
          <p:cNvSpPr/>
          <p:nvPr/>
        </p:nvSpPr>
        <p:spPr>
          <a:xfrm>
            <a:off x="5806430" y="54063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2" name="Shape 372"/>
          <p:cNvSpPr/>
          <p:nvPr/>
        </p:nvSpPr>
        <p:spPr>
          <a:xfrm>
            <a:off x="2885430" y="62191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3" name="Shape 373"/>
          <p:cNvSpPr/>
          <p:nvPr/>
        </p:nvSpPr>
        <p:spPr>
          <a:xfrm>
            <a:off x="4444652" y="6321425"/>
            <a:ext cx="254696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4" name="Shape 374"/>
          <p:cNvSpPr/>
          <p:nvPr/>
        </p:nvSpPr>
        <p:spPr>
          <a:xfrm>
            <a:off x="6327130" y="6054725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5" name="Shape 375"/>
          <p:cNvSpPr txBox="1"/>
          <p:nvPr/>
        </p:nvSpPr>
        <p:spPr>
          <a:xfrm>
            <a:off x="2731773" y="4881879"/>
            <a:ext cx="55564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£10k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2337422" y="6135707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£15k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3882496" y="6308725"/>
            <a:ext cx="55564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£28k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4195453" y="4792979"/>
            <a:ext cx="55564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£18k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5655953" y="5068907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£31k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6314430" y="5733769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£20k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3363319" y="5780107"/>
            <a:ext cx="21006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?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5055106" y="5497145"/>
            <a:ext cx="21007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chemeClr val="accent2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?</a:t>
            </a:r>
          </a:p>
        </p:txBody>
      </p:sp>
      <p:sp>
        <p:nvSpPr>
          <p:cNvPr id="383" name="Shape 38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 advTm="109447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38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Learning on graphs</a:t>
            </a:r>
          </a:p>
        </p:txBody>
      </p:sp>
      <p:sp>
        <p:nvSpPr>
          <p:cNvPr id="386" name="Shape 38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  <a:lvl2pPr>
              <a:spcBef>
                <a:spcPts val="500"/>
              </a:spcBef>
            </a:lvl2pPr>
            <a:lvl3pPr>
              <a:spcBef>
                <a:spcPts val="500"/>
              </a:spcBef>
            </a:lvl3pPr>
          </a:lstStyle>
          <a:p>
            <a:r>
              <a:t>The type of tasks we’re interested in solving when dealing with graphs are typically:</a:t>
            </a:r>
          </a:p>
          <a:p>
            <a:pPr lvl="1"/>
            <a:r>
              <a:t>Link prediction</a:t>
            </a:r>
          </a:p>
          <a:p>
            <a:pPr lvl="2"/>
            <a:r>
              <a:t>Some links in your graphs are missing and your task is to find what they are</a:t>
            </a:r>
          </a:p>
        </p:txBody>
      </p:sp>
      <p:sp>
        <p:nvSpPr>
          <p:cNvPr id="387" name="Shape 387"/>
          <p:cNvSpPr/>
          <p:nvPr/>
        </p:nvSpPr>
        <p:spPr>
          <a:xfrm flipH="1" flipV="1">
            <a:off x="3050097" y="5372596"/>
            <a:ext cx="836514" cy="619939"/>
          </a:xfrm>
          <a:prstGeom prst="line">
            <a:avLst/>
          </a:prstGeom>
          <a:ln w="25400">
            <a:solidFill>
              <a:schemeClr val="accent2">
                <a:lumOff val="11813"/>
              </a:schemeClr>
            </a:solidFill>
            <a:custDash>
              <a:ds d="200000" sp="200000"/>
            </a:custDash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88" name="Shape 388"/>
          <p:cNvSpPr/>
          <p:nvPr/>
        </p:nvSpPr>
        <p:spPr>
          <a:xfrm flipH="1" flipV="1">
            <a:off x="5920411" y="5516899"/>
            <a:ext cx="537667" cy="665283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89" name="Shape 389"/>
          <p:cNvSpPr/>
          <p:nvPr/>
        </p:nvSpPr>
        <p:spPr>
          <a:xfrm flipV="1">
            <a:off x="5098135" y="5516453"/>
            <a:ext cx="857698" cy="452954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0" name="Shape 390"/>
          <p:cNvSpPr/>
          <p:nvPr/>
        </p:nvSpPr>
        <p:spPr>
          <a:xfrm flipH="1" flipV="1">
            <a:off x="4482483" y="5258980"/>
            <a:ext cx="96491" cy="1214558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1" name="Shape 391"/>
          <p:cNvSpPr/>
          <p:nvPr/>
        </p:nvSpPr>
        <p:spPr>
          <a:xfrm flipH="1" flipV="1">
            <a:off x="3852246" y="5959514"/>
            <a:ext cx="675135" cy="455187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2" name="Shape 392"/>
          <p:cNvSpPr/>
          <p:nvPr/>
        </p:nvSpPr>
        <p:spPr>
          <a:xfrm flipV="1">
            <a:off x="4573070" y="5959514"/>
            <a:ext cx="523777" cy="468979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3" name="Shape 393"/>
          <p:cNvSpPr/>
          <p:nvPr/>
        </p:nvSpPr>
        <p:spPr>
          <a:xfrm flipV="1">
            <a:off x="4573219" y="6159886"/>
            <a:ext cx="1913088" cy="317769"/>
          </a:xfrm>
          <a:prstGeom prst="line">
            <a:avLst/>
          </a:prstGeom>
          <a:ln w="25400">
            <a:solidFill>
              <a:schemeClr val="accent2">
                <a:lumOff val="11813"/>
              </a:schemeClr>
            </a:solidFill>
            <a:custDash>
              <a:ds d="200000" sp="200000"/>
            </a:custDash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4" name="Shape 394"/>
          <p:cNvSpPr/>
          <p:nvPr/>
        </p:nvSpPr>
        <p:spPr>
          <a:xfrm flipV="1">
            <a:off x="3876256" y="5220880"/>
            <a:ext cx="568128" cy="702788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5" name="Shape 395"/>
          <p:cNvSpPr/>
          <p:nvPr/>
        </p:nvSpPr>
        <p:spPr>
          <a:xfrm flipV="1">
            <a:off x="3007978" y="5381327"/>
            <a:ext cx="1" cy="907773"/>
          </a:xfrm>
          <a:prstGeom prst="line">
            <a:avLst/>
          </a:prstGeom>
          <a:ln w="25400">
            <a:solidFill>
              <a:srgbClr val="535353"/>
            </a:solidFill>
            <a:miter lim="400000"/>
          </a:ln>
        </p:spPr>
        <p:txBody>
          <a:bodyPr lIns="45719" rIns="45719"/>
          <a:lstStyle/>
          <a:p>
            <a:pPr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396" name="Shape 396"/>
          <p:cNvSpPr/>
          <p:nvPr/>
        </p:nvSpPr>
        <p:spPr>
          <a:xfrm>
            <a:off x="2885430" y="52285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97" name="Shape 397"/>
          <p:cNvSpPr/>
          <p:nvPr/>
        </p:nvSpPr>
        <p:spPr>
          <a:xfrm>
            <a:off x="3736330" y="58381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98" name="Shape 398"/>
          <p:cNvSpPr/>
          <p:nvPr/>
        </p:nvSpPr>
        <p:spPr>
          <a:xfrm>
            <a:off x="4345930" y="51269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99" name="Shape 399"/>
          <p:cNvSpPr/>
          <p:nvPr/>
        </p:nvSpPr>
        <p:spPr>
          <a:xfrm>
            <a:off x="5031730" y="58381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00" name="Shape 400"/>
          <p:cNvSpPr/>
          <p:nvPr/>
        </p:nvSpPr>
        <p:spPr>
          <a:xfrm>
            <a:off x="5806430" y="54063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01" name="Shape 401"/>
          <p:cNvSpPr/>
          <p:nvPr/>
        </p:nvSpPr>
        <p:spPr>
          <a:xfrm>
            <a:off x="2885430" y="6219180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02" name="Shape 402"/>
          <p:cNvSpPr/>
          <p:nvPr/>
        </p:nvSpPr>
        <p:spPr>
          <a:xfrm>
            <a:off x="4444652" y="6321425"/>
            <a:ext cx="254696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03" name="Shape 403"/>
          <p:cNvSpPr/>
          <p:nvPr/>
        </p:nvSpPr>
        <p:spPr>
          <a:xfrm>
            <a:off x="6327130" y="6054725"/>
            <a:ext cx="254695" cy="254695"/>
          </a:xfrm>
          <a:prstGeom prst="ellipse">
            <a:avLst/>
          </a:prstGeom>
          <a:solidFill>
            <a:srgbClr val="DDDDDD"/>
          </a:solidFill>
          <a:ln w="25400">
            <a:solidFill>
              <a:srgbClr val="535353"/>
            </a:solidFill>
            <a:bevel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04" name="Shape 404"/>
          <p:cNvSpPr txBox="1"/>
          <p:nvPr/>
        </p:nvSpPr>
        <p:spPr>
          <a:xfrm>
            <a:off x="2731773" y="4881879"/>
            <a:ext cx="555649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£10k</a:t>
            </a:r>
          </a:p>
        </p:txBody>
      </p:sp>
      <p:sp>
        <p:nvSpPr>
          <p:cNvPr id="405" name="Shape 405"/>
          <p:cNvSpPr txBox="1"/>
          <p:nvPr/>
        </p:nvSpPr>
        <p:spPr>
          <a:xfrm>
            <a:off x="2337422" y="6135707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£15k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3882496" y="6308725"/>
            <a:ext cx="55564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£28k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4195453" y="4792979"/>
            <a:ext cx="555648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£18k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5655953" y="5068907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£31k</a:t>
            </a:r>
          </a:p>
        </p:txBody>
      </p:sp>
      <p:sp>
        <p:nvSpPr>
          <p:cNvPr id="409" name="Shape 409"/>
          <p:cNvSpPr txBox="1"/>
          <p:nvPr/>
        </p:nvSpPr>
        <p:spPr>
          <a:xfrm>
            <a:off x="6314430" y="5733769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£20k</a:t>
            </a:r>
          </a:p>
        </p:txBody>
      </p:sp>
      <p:sp>
        <p:nvSpPr>
          <p:cNvPr id="410" name="Shape 410"/>
          <p:cNvSpPr txBox="1"/>
          <p:nvPr/>
        </p:nvSpPr>
        <p:spPr>
          <a:xfrm>
            <a:off x="4881253" y="5497145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£29k</a:t>
            </a:r>
          </a:p>
        </p:txBody>
      </p:sp>
      <p:sp>
        <p:nvSpPr>
          <p:cNvPr id="411" name="Shape 411"/>
          <p:cNvSpPr txBox="1"/>
          <p:nvPr/>
        </p:nvSpPr>
        <p:spPr>
          <a:xfrm>
            <a:off x="3155089" y="5780107"/>
            <a:ext cx="5556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r>
              <a:t>£11k</a:t>
            </a:r>
          </a:p>
        </p:txBody>
      </p:sp>
      <p:sp>
        <p:nvSpPr>
          <p:cNvPr id="412" name="Shape 412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</p:spTree>
  </p:cSld>
  <p:clrMapOvr>
    <a:masterClrMapping/>
  </p:clrMapOvr>
  <p:transition spd="med" advTm="37592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pic>
        <p:nvPicPr>
          <p:cNvPr id="415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9" y="1683686"/>
            <a:ext cx="7957562" cy="4126564"/>
          </a:xfrm>
          <a:prstGeom prst="rect">
            <a:avLst/>
          </a:prstGeom>
          <a:ln w="12700">
            <a:miter lim="400000"/>
          </a:ln>
        </p:spPr>
      </p:pic>
      <p:sp>
        <p:nvSpPr>
          <p:cNvPr id="416" name="Shape 416"/>
          <p:cNvSpPr txBox="1"/>
          <p:nvPr/>
        </p:nvSpPr>
        <p:spPr>
          <a:xfrm>
            <a:off x="2614148" y="6404292"/>
            <a:ext cx="391570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rPr>
                <a:solidFill>
                  <a:schemeClr val="accent2"/>
                </a:solidFill>
              </a:rPr>
              <a:t>Source:</a:t>
            </a:r>
            <a:r>
              <a:t>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https://tkipf.github.io/graph-convolutional-networks/</a:t>
            </a:r>
          </a:p>
        </p:txBody>
      </p:sp>
      <p:sp>
        <p:nvSpPr>
          <p:cNvPr id="417" name="Shape 417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</p:spTree>
  </p:cSld>
  <p:clrMapOvr>
    <a:masterClrMapping/>
  </p:clrMapOvr>
  <p:transition spd="med" advTm="86645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Assume each node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i</a:t>
            </a:r>
            <a:r>
              <a:t> of the graph G with adjacency matrix A has an associated feature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x</a:t>
            </a:r>
            <a:r>
              <a:rPr baseline="-5999"/>
              <a:t>i</a:t>
            </a:r>
          </a:p>
          <a:p>
            <a:pPr>
              <a:spcBef>
                <a:spcPts val="500"/>
              </a:spcBef>
            </a:pPr>
            <a:r>
              <a:t>The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input</a:t>
            </a:r>
            <a:r>
              <a:t> of the GCN is the matrix of </a:t>
            </a:r>
            <a:r>
              <a:rPr>
                <a:solidFill>
                  <a:schemeClr val="accent2"/>
                </a:solidFill>
              </a:rPr>
              <a:t>node features X</a:t>
            </a:r>
            <a:r>
              <a:t> and the </a:t>
            </a:r>
            <a:r>
              <a:rPr>
                <a:solidFill>
                  <a:schemeClr val="accent2"/>
                </a:solidFill>
              </a:rPr>
              <a:t>adjacency matrix A</a:t>
            </a:r>
          </a:p>
          <a:p>
            <a:pPr>
              <a:spcBef>
                <a:spcPts val="500"/>
              </a:spcBef>
            </a:pPr>
            <a:r>
              <a:t>The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output</a:t>
            </a:r>
            <a:r>
              <a:t> is either a </a:t>
            </a:r>
            <a:r>
              <a:rPr>
                <a:solidFill>
                  <a:schemeClr val="accent2"/>
                </a:solidFill>
              </a:rPr>
              <a:t>matrix Z</a:t>
            </a:r>
            <a:r>
              <a:t> associating a scalar/vector to each node of G </a:t>
            </a:r>
            <a:r>
              <a:rPr>
                <a:solidFill>
                  <a:schemeClr val="accent2"/>
                </a:solidFill>
              </a:rPr>
              <a:t>or</a:t>
            </a:r>
            <a:r>
              <a:t> combine them in some way* to obtain a </a:t>
            </a:r>
            <a:r>
              <a:rPr>
                <a:solidFill>
                  <a:schemeClr val="accent2"/>
                </a:solidFill>
              </a:rPr>
              <a:t>single label</a:t>
            </a:r>
            <a:r>
              <a:t> for G</a:t>
            </a:r>
          </a:p>
        </p:txBody>
      </p:sp>
      <p:sp>
        <p:nvSpPr>
          <p:cNvPr id="420" name="Shape 4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sp>
        <p:nvSpPr>
          <p:cNvPr id="421" name="Shape 421"/>
          <p:cNvSpPr txBox="1"/>
          <p:nvPr/>
        </p:nvSpPr>
        <p:spPr>
          <a:xfrm>
            <a:off x="3137347" y="5406666"/>
            <a:ext cx="2687723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/>
            <a:r>
              <a:rPr>
                <a:solidFill>
                  <a:schemeClr val="accent2"/>
                </a:solidFill>
              </a:rPr>
              <a:t>*See for example</a:t>
            </a:r>
            <a:r>
              <a:t>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this paper</a:t>
            </a:r>
          </a:p>
        </p:txBody>
      </p:sp>
      <p:sp>
        <p:nvSpPr>
          <p:cNvPr id="422" name="Shape 42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</p:spTree>
  </p:cSld>
  <p:clrMapOvr>
    <a:masterClrMapping/>
  </p:clrMapOvr>
  <p:transition spd="med" advTm="372293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t>Assume each node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i</a:t>
            </a:r>
            <a:r>
              <a:t> of the graph G with adjacency matrix A has an associated feature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x</a:t>
            </a:r>
            <a:r>
              <a:rPr baseline="-5999"/>
              <a:t>i</a:t>
            </a:r>
          </a:p>
          <a:p>
            <a:pPr>
              <a:spcBef>
                <a:spcPts val="500"/>
              </a:spcBef>
            </a:pPr>
            <a:r>
              <a:t>The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input</a:t>
            </a:r>
            <a:r>
              <a:t> of the GCN is the matrix of </a:t>
            </a:r>
            <a:r>
              <a:rPr>
                <a:solidFill>
                  <a:schemeClr val="accent2"/>
                </a:solidFill>
              </a:rPr>
              <a:t>node features X</a:t>
            </a:r>
            <a:r>
              <a:t> and the </a:t>
            </a:r>
            <a:r>
              <a:rPr>
                <a:solidFill>
                  <a:schemeClr val="accent2"/>
                </a:solidFill>
              </a:rPr>
              <a:t>adjacency matrix A</a:t>
            </a:r>
          </a:p>
          <a:p>
            <a:pPr>
              <a:spcBef>
                <a:spcPts val="500"/>
              </a:spcBef>
            </a:pPr>
            <a:r>
              <a:t>The </a:t>
            </a:r>
            <a:r>
              <a:rPr b="1">
                <a:latin typeface="+mn-lt"/>
                <a:ea typeface="+mn-ea"/>
                <a:cs typeface="+mn-cs"/>
                <a:sym typeface="Helvetica"/>
              </a:rPr>
              <a:t>output</a:t>
            </a:r>
            <a:r>
              <a:t> is either a </a:t>
            </a:r>
            <a:r>
              <a:rPr>
                <a:solidFill>
                  <a:schemeClr val="accent2"/>
                </a:solidFill>
              </a:rPr>
              <a:t>matrix Z</a:t>
            </a:r>
            <a:r>
              <a:t> associating a scalar/vector to each node of G </a:t>
            </a:r>
            <a:r>
              <a:rPr>
                <a:solidFill>
                  <a:schemeClr val="accent2"/>
                </a:solidFill>
              </a:rPr>
              <a:t>or</a:t>
            </a:r>
            <a:r>
              <a:t> combine them in some way* to obtain a </a:t>
            </a:r>
            <a:r>
              <a:rPr>
                <a:solidFill>
                  <a:schemeClr val="accent2"/>
                </a:solidFill>
              </a:rPr>
              <a:t>single label</a:t>
            </a:r>
            <a:r>
              <a:t> for G</a:t>
            </a:r>
          </a:p>
        </p:txBody>
      </p:sp>
      <p:sp>
        <p:nvSpPr>
          <p:cNvPr id="425" name="Shape 4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sp>
        <p:nvSpPr>
          <p:cNvPr id="426" name="Shape 42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</p:spTree>
  </p:cSld>
  <p:clrMapOvr>
    <a:masterClrMapping/>
  </p:clrMapOvr>
  <p:transition spd="med" advTm="2427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The layers of the network transform their input according to a non-linear transformation</a:t>
            </a:r>
          </a:p>
        </p:txBody>
      </p:sp>
      <p:sp>
        <p:nvSpPr>
          <p:cNvPr id="429" name="Shape 4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sp>
        <p:nvSpPr>
          <p:cNvPr id="430" name="Shape 43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pic>
        <p:nvPicPr>
          <p:cNvPr id="431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92" y="2880656"/>
            <a:ext cx="3342216" cy="4711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Tm="7288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The layers of the network transform their input according to a non-linear transformation</a:t>
            </a:r>
          </a:p>
        </p:txBody>
      </p:sp>
      <p:sp>
        <p:nvSpPr>
          <p:cNvPr id="434" name="Shape 4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sp>
        <p:nvSpPr>
          <p:cNvPr id="435" name="Shape 43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pic>
        <p:nvPicPr>
          <p:cNvPr id="436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92" y="2880656"/>
            <a:ext cx="3342216" cy="471199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Shape 437"/>
          <p:cNvSpPr/>
          <p:nvPr/>
        </p:nvSpPr>
        <p:spPr>
          <a:xfrm>
            <a:off x="4896795" y="2733313"/>
            <a:ext cx="765885" cy="765885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8" name="Shape 438"/>
          <p:cNvSpPr txBox="1"/>
          <p:nvPr/>
        </p:nvSpPr>
        <p:spPr>
          <a:xfrm>
            <a:off x="652420" y="3632686"/>
            <a:ext cx="783915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H</a:t>
            </a:r>
            <a:r>
              <a:rPr baseline="31999"/>
              <a:t>(0)</a:t>
            </a:r>
            <a:r>
              <a:t> is the feature matrix X</a:t>
            </a:r>
          </a:p>
        </p:txBody>
      </p:sp>
    </p:spTree>
  </p:cSld>
  <p:clrMapOvr>
    <a:masterClrMapping/>
  </p:clrMapOvr>
  <p:transition spd="med" advTm="166804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The layers of the network transform their input according to a non-linear transformation</a:t>
            </a:r>
          </a:p>
        </p:txBody>
      </p:sp>
      <p:sp>
        <p:nvSpPr>
          <p:cNvPr id="441" name="Shape 4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sp>
        <p:nvSpPr>
          <p:cNvPr id="442" name="Shape 44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  <p:pic>
        <p:nvPicPr>
          <p:cNvPr id="44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92" y="2880656"/>
            <a:ext cx="3342216" cy="471199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Shape 444"/>
          <p:cNvSpPr/>
          <p:nvPr/>
        </p:nvSpPr>
        <p:spPr>
          <a:xfrm>
            <a:off x="4896795" y="2733313"/>
            <a:ext cx="765885" cy="765885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5" name="Shape 445"/>
          <p:cNvSpPr txBox="1"/>
          <p:nvPr/>
        </p:nvSpPr>
        <p:spPr>
          <a:xfrm>
            <a:off x="652420" y="3632686"/>
            <a:ext cx="783915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H</a:t>
            </a:r>
            <a:r>
              <a:rPr baseline="31999"/>
              <a:t>(L)</a:t>
            </a:r>
            <a:r>
              <a:t> is the output matrix Z (the last layer)</a:t>
            </a:r>
          </a:p>
        </p:txBody>
      </p:sp>
    </p:spTree>
  </p:cSld>
  <p:clrMapOvr>
    <a:masterClrMapping/>
  </p:clrMapOvr>
  <p:transition spd="med" advTm="1038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44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The layers of the network transform their input according to a non-linear transformation</a:t>
            </a:r>
          </a:p>
        </p:txBody>
      </p:sp>
      <p:sp>
        <p:nvSpPr>
          <p:cNvPr id="448" name="Shape 4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 Convolutional Networks</a:t>
            </a:r>
          </a:p>
        </p:txBody>
      </p:sp>
      <p:sp>
        <p:nvSpPr>
          <p:cNvPr id="449" name="Shape 44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  <p:pic>
        <p:nvPicPr>
          <p:cNvPr id="450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892" y="2880656"/>
            <a:ext cx="3342216" cy="471199"/>
          </a:xfrm>
          <a:prstGeom prst="rect">
            <a:avLst/>
          </a:prstGeom>
          <a:ln w="12700">
            <a:miter lim="400000"/>
          </a:ln>
        </p:spPr>
      </p:pic>
      <p:sp>
        <p:nvSpPr>
          <p:cNvPr id="451" name="Shape 451"/>
          <p:cNvSpPr/>
          <p:nvPr/>
        </p:nvSpPr>
        <p:spPr>
          <a:xfrm>
            <a:off x="4442838" y="2920793"/>
            <a:ext cx="461673" cy="461673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2" name="Shape 452"/>
          <p:cNvSpPr txBox="1"/>
          <p:nvPr/>
        </p:nvSpPr>
        <p:spPr>
          <a:xfrm>
            <a:off x="652420" y="3632686"/>
            <a:ext cx="783915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Different GCN models vary in the choice and parametrisation of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f</a:t>
            </a:r>
          </a:p>
        </p:txBody>
      </p:sp>
    </p:spTree>
  </p:cSld>
  <p:clrMapOvr>
    <a:masterClrMapping/>
  </p:clrMapOvr>
  <p:transition spd="med" advTm="25582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45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simple network could be defined as follows</a:t>
            </a:r>
          </a:p>
        </p:txBody>
      </p:sp>
      <p:sp>
        <p:nvSpPr>
          <p:cNvPr id="455" name="Shape 4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456" name="Shape 45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pic>
        <p:nvPicPr>
          <p:cNvPr id="457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Tm="57425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simple network could be defined as follows</a:t>
            </a:r>
          </a:p>
        </p:txBody>
      </p:sp>
      <p:sp>
        <p:nvSpPr>
          <p:cNvPr id="460" name="Shape 4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461" name="Shape 46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sp>
        <p:nvSpPr>
          <p:cNvPr id="462" name="Shape 462"/>
          <p:cNvSpPr txBox="1"/>
          <p:nvPr/>
        </p:nvSpPr>
        <p:spPr>
          <a:xfrm>
            <a:off x="652420" y="3036056"/>
            <a:ext cx="7839159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Parameters of the l-th layer</a:t>
            </a:r>
          </a:p>
        </p:txBody>
      </p:sp>
      <p:pic>
        <p:nvPicPr>
          <p:cNvPr id="46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Shape 464"/>
          <p:cNvSpPr/>
          <p:nvPr/>
        </p:nvSpPr>
        <p:spPr>
          <a:xfrm>
            <a:off x="6025744" y="2208925"/>
            <a:ext cx="738836" cy="738836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 advTm="27698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simple network could be defined as follows</a:t>
            </a:r>
          </a:p>
        </p:txBody>
      </p:sp>
      <p:sp>
        <p:nvSpPr>
          <p:cNvPr id="467" name="Shape 4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468" name="Shape 46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  <p:sp>
        <p:nvSpPr>
          <p:cNvPr id="469" name="Shape 469"/>
          <p:cNvSpPr txBox="1"/>
          <p:nvPr/>
        </p:nvSpPr>
        <p:spPr>
          <a:xfrm>
            <a:off x="652420" y="3036056"/>
            <a:ext cx="7839159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What’s happening here? Remember, for l=0 that’s a multiplication between the adjacency matrix and the node-feature matrix</a:t>
            </a:r>
          </a:p>
        </p:txBody>
      </p:sp>
      <p:pic>
        <p:nvPicPr>
          <p:cNvPr id="470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sp>
        <p:nvSpPr>
          <p:cNvPr id="471" name="Shape 471"/>
          <p:cNvSpPr/>
          <p:nvPr/>
        </p:nvSpPr>
        <p:spPr>
          <a:xfrm>
            <a:off x="5040278" y="2162960"/>
            <a:ext cx="906968" cy="906967"/>
          </a:xfrm>
          <a:prstGeom prst="ellipse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 advTm="44926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simple network could be defined as follows</a:t>
            </a:r>
          </a:p>
        </p:txBody>
      </p:sp>
      <p:sp>
        <p:nvSpPr>
          <p:cNvPr id="474" name="Shape 4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475" name="Shape 47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sp>
        <p:nvSpPr>
          <p:cNvPr id="476" name="Shape 476"/>
          <p:cNvSpPr txBox="1"/>
          <p:nvPr/>
        </p:nvSpPr>
        <p:spPr>
          <a:xfrm>
            <a:off x="652420" y="3036056"/>
            <a:ext cx="7839159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What’s happening here? Remember, for l=0 that’s a multiplication between the adjacency matrix and the node-feature matrix</a:t>
            </a:r>
          </a:p>
        </p:txBody>
      </p:sp>
      <p:pic>
        <p:nvPicPr>
          <p:cNvPr id="477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6" name="Group 486"/>
          <p:cNvGrpSpPr/>
          <p:nvPr/>
        </p:nvGrpSpPr>
        <p:grpSpPr>
          <a:xfrm>
            <a:off x="1196660" y="4214211"/>
            <a:ext cx="1303190" cy="1988990"/>
            <a:chOff x="0" y="0"/>
            <a:chExt cx="1303188" cy="1988988"/>
          </a:xfrm>
        </p:grpSpPr>
        <p:sp>
          <p:nvSpPr>
            <p:cNvPr id="478" name="Shape 478"/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79" name="Shape 479"/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80" name="Shape 480"/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81" name="Shape 481"/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482" name="Shape 482"/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83" name="Shape 483"/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84" name="Shape 484"/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485" name="Shape 485"/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pic>
        <p:nvPicPr>
          <p:cNvPr id="487" name="Screen Shot 2018-02-27 at 18.39.07.png"/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246239" y="4415154"/>
            <a:ext cx="2651572" cy="1586906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Shape 488"/>
          <p:cNvSpPr txBox="1"/>
          <p:nvPr/>
        </p:nvSpPr>
        <p:spPr>
          <a:xfrm>
            <a:off x="1075599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[1,2]</a:t>
            </a:r>
          </a:p>
        </p:txBody>
      </p:sp>
      <p:sp>
        <p:nvSpPr>
          <p:cNvPr id="489" name="Shape 489"/>
          <p:cNvSpPr txBox="1"/>
          <p:nvPr/>
        </p:nvSpPr>
        <p:spPr>
          <a:xfrm>
            <a:off x="2097544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490" name="Shape 490"/>
          <p:cNvSpPr txBox="1"/>
          <p:nvPr/>
        </p:nvSpPr>
        <p:spPr>
          <a:xfrm>
            <a:off x="1173957" y="4929451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[0,1]</a:t>
            </a:r>
          </a:p>
        </p:txBody>
      </p:sp>
      <p:sp>
        <p:nvSpPr>
          <p:cNvPr id="491" name="Shape 491"/>
          <p:cNvSpPr txBox="1"/>
          <p:nvPr/>
        </p:nvSpPr>
        <p:spPr>
          <a:xfrm>
            <a:off x="2097544" y="586060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  <p:pic>
        <p:nvPicPr>
          <p:cNvPr id="492" name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212" y="4415154"/>
            <a:ext cx="1724714" cy="15871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Tm="121564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simple network could be defined as follows</a:t>
            </a:r>
          </a:p>
        </p:txBody>
      </p:sp>
      <p:sp>
        <p:nvSpPr>
          <p:cNvPr id="495" name="Shape 4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496" name="Shape 49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  <p:sp>
        <p:nvSpPr>
          <p:cNvPr id="497" name="Shape 497"/>
          <p:cNvSpPr txBox="1"/>
          <p:nvPr/>
        </p:nvSpPr>
        <p:spPr>
          <a:xfrm>
            <a:off x="652420" y="3036056"/>
            <a:ext cx="7839159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Multiplying A and H computes a new feature for the node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i</a:t>
            </a:r>
            <a:r>
              <a:t> which is the</a:t>
            </a:r>
          </a:p>
          <a:p>
            <a:pPr algn="ctr">
              <a:defRPr>
                <a:solidFill>
                  <a:schemeClr val="accent2"/>
                </a:solidFill>
              </a:defRPr>
            </a:pPr>
            <a:r>
              <a:t>sum of all the features of its neighbours</a:t>
            </a:r>
          </a:p>
        </p:txBody>
      </p:sp>
      <p:pic>
        <p:nvPicPr>
          <p:cNvPr id="498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7" name="Group 507"/>
          <p:cNvGrpSpPr/>
          <p:nvPr/>
        </p:nvGrpSpPr>
        <p:grpSpPr>
          <a:xfrm>
            <a:off x="1196660" y="4214211"/>
            <a:ext cx="1303190" cy="1988990"/>
            <a:chOff x="0" y="0"/>
            <a:chExt cx="1303188" cy="1988988"/>
          </a:xfrm>
        </p:grpSpPr>
        <p:sp>
          <p:nvSpPr>
            <p:cNvPr id="499" name="Shape 499"/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00" name="Shape 500"/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01" name="Shape 501"/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02" name="Shape 502"/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03" name="Shape 503"/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04" name="Shape 504"/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05" name="Shape 505"/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06" name="Shape 506"/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pic>
        <p:nvPicPr>
          <p:cNvPr id="508" name="Screen Shot 2018-02-27 at 18.39.07.png"/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246239" y="4415154"/>
            <a:ext cx="2651572" cy="1586906"/>
          </a:xfrm>
          <a:prstGeom prst="rect">
            <a:avLst/>
          </a:prstGeom>
          <a:ln w="12700">
            <a:miter lim="400000"/>
          </a:ln>
        </p:spPr>
      </p:pic>
      <p:sp>
        <p:nvSpPr>
          <p:cNvPr id="509" name="Shape 509"/>
          <p:cNvSpPr txBox="1"/>
          <p:nvPr/>
        </p:nvSpPr>
        <p:spPr>
          <a:xfrm>
            <a:off x="1075599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[1,2]</a:t>
            </a:r>
          </a:p>
        </p:txBody>
      </p:sp>
      <p:sp>
        <p:nvSpPr>
          <p:cNvPr id="510" name="Shape 510"/>
          <p:cNvSpPr txBox="1"/>
          <p:nvPr/>
        </p:nvSpPr>
        <p:spPr>
          <a:xfrm>
            <a:off x="2097544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511" name="Shape 511"/>
          <p:cNvSpPr txBox="1"/>
          <p:nvPr/>
        </p:nvSpPr>
        <p:spPr>
          <a:xfrm>
            <a:off x="1173957" y="4929451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[0,1]</a:t>
            </a:r>
          </a:p>
        </p:txBody>
      </p:sp>
      <p:sp>
        <p:nvSpPr>
          <p:cNvPr id="512" name="Shape 512"/>
          <p:cNvSpPr txBox="1"/>
          <p:nvPr/>
        </p:nvSpPr>
        <p:spPr>
          <a:xfrm>
            <a:off x="2097544" y="586060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  <p:pic>
        <p:nvPicPr>
          <p:cNvPr id="513" name="pasted-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212" y="4415154"/>
            <a:ext cx="1724714" cy="1587104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Shape 514"/>
          <p:cNvSpPr/>
          <p:nvPr/>
        </p:nvSpPr>
        <p:spPr>
          <a:xfrm>
            <a:off x="4027791" y="4519808"/>
            <a:ext cx="1595067" cy="36131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5" name="Shape 515"/>
          <p:cNvSpPr/>
          <p:nvPr/>
        </p:nvSpPr>
        <p:spPr>
          <a:xfrm rot="16200000">
            <a:off x="6245743" y="5028048"/>
            <a:ext cx="1595067" cy="36131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 advTm="314152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t>A simple network could be defined as follows</a:t>
            </a:r>
          </a:p>
        </p:txBody>
      </p:sp>
      <p:sp>
        <p:nvSpPr>
          <p:cNvPr id="518" name="Shape 5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519" name="Shape 519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  <p:sp>
        <p:nvSpPr>
          <p:cNvPr id="520" name="Shape 520"/>
          <p:cNvSpPr txBox="1"/>
          <p:nvPr/>
        </p:nvSpPr>
        <p:spPr>
          <a:xfrm>
            <a:off x="652420" y="3036056"/>
            <a:ext cx="7839159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t>Multiplying A and H computes a new feature for the node </a:t>
            </a:r>
            <a:r>
              <a:rPr i="1">
                <a:latin typeface="+mn-lt"/>
                <a:ea typeface="+mn-ea"/>
                <a:cs typeface="+mn-cs"/>
                <a:sym typeface="Helvetica"/>
              </a:rPr>
              <a:t>i</a:t>
            </a:r>
            <a:r>
              <a:t> which is the</a:t>
            </a:r>
          </a:p>
          <a:p>
            <a:pPr algn="ctr">
              <a:defRPr>
                <a:solidFill>
                  <a:schemeClr val="accent2"/>
                </a:solidFill>
              </a:defRPr>
            </a:pPr>
            <a:r>
              <a:t>sum of all the features of its neighbours</a:t>
            </a:r>
          </a:p>
        </p:txBody>
      </p:sp>
      <p:pic>
        <p:nvPicPr>
          <p:cNvPr id="521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30" name="Group 530"/>
          <p:cNvGrpSpPr/>
          <p:nvPr/>
        </p:nvGrpSpPr>
        <p:grpSpPr>
          <a:xfrm>
            <a:off x="1196660" y="4214211"/>
            <a:ext cx="1303190" cy="1988990"/>
            <a:chOff x="0" y="0"/>
            <a:chExt cx="1303188" cy="1988988"/>
          </a:xfrm>
        </p:grpSpPr>
        <p:sp>
          <p:nvSpPr>
            <p:cNvPr id="522" name="Shape 522"/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23" name="Shape 523"/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24" name="Shape 524"/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25" name="Shape 525"/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26" name="Shape 526"/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27" name="Shape 527"/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28" name="Shape 528"/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29" name="Shape 529"/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pic>
        <p:nvPicPr>
          <p:cNvPr id="531" name="Screen Shot 2018-02-27 at 18.39.07.png"/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246239" y="4415154"/>
            <a:ext cx="2651572" cy="1586906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Shape 532"/>
          <p:cNvSpPr txBox="1"/>
          <p:nvPr/>
        </p:nvSpPr>
        <p:spPr>
          <a:xfrm>
            <a:off x="1075599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[1,2]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2097544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1173957" y="4929451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[0,1]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2097544" y="586060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  <p:pic>
        <p:nvPicPr>
          <p:cNvPr id="536" name="pasted-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212" y="4415154"/>
            <a:ext cx="1724714" cy="1587104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hape 537"/>
          <p:cNvSpPr/>
          <p:nvPr/>
        </p:nvSpPr>
        <p:spPr>
          <a:xfrm>
            <a:off x="4027791" y="4519808"/>
            <a:ext cx="1595067" cy="36131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8" name="Shape 538"/>
          <p:cNvSpPr/>
          <p:nvPr/>
        </p:nvSpPr>
        <p:spPr>
          <a:xfrm rot="16200000">
            <a:off x="6245743" y="5028048"/>
            <a:ext cx="1595067" cy="36131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  <a:bevel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 spd="med" advTm="1244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</a:lvl1pPr>
          </a:lstStyle>
          <a:p>
            <a:r>
              <a:rPr dirty="0"/>
              <a:t>A simple network could be defined as follows</a:t>
            </a:r>
          </a:p>
        </p:txBody>
      </p:sp>
      <p:sp>
        <p:nvSpPr>
          <p:cNvPr id="541" name="Shape 5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GCN: a simple example</a:t>
            </a:r>
          </a:p>
        </p:txBody>
      </p:sp>
      <p:sp>
        <p:nvSpPr>
          <p:cNvPr id="542" name="Shape 542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sp>
        <p:nvSpPr>
          <p:cNvPr id="543" name="Shape 543"/>
          <p:cNvSpPr txBox="1"/>
          <p:nvPr/>
        </p:nvSpPr>
        <p:spPr>
          <a:xfrm>
            <a:off x="224251" y="3036056"/>
            <a:ext cx="8695498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rPr dirty="0"/>
              <a:t>So at each layer for each node we compute a new feature vector which is</a:t>
            </a:r>
          </a:p>
          <a:p>
            <a:pPr algn="ctr">
              <a:defRPr>
                <a:solidFill>
                  <a:schemeClr val="accent2"/>
                </a:solidFill>
              </a:defRPr>
            </a:pPr>
            <a:r>
              <a:rPr dirty="0"/>
              <a:t>a non-linear function of its </a:t>
            </a:r>
            <a:r>
              <a:rPr dirty="0" err="1"/>
              <a:t>neighbours’</a:t>
            </a:r>
            <a:r>
              <a:rPr dirty="0"/>
              <a:t> features, and so on. The features are propagated.</a:t>
            </a:r>
          </a:p>
        </p:txBody>
      </p:sp>
      <p:pic>
        <p:nvPicPr>
          <p:cNvPr id="54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3" name="Group 553"/>
          <p:cNvGrpSpPr/>
          <p:nvPr/>
        </p:nvGrpSpPr>
        <p:grpSpPr>
          <a:xfrm>
            <a:off x="1196660" y="4214211"/>
            <a:ext cx="1303190" cy="1988990"/>
            <a:chOff x="0" y="0"/>
            <a:chExt cx="1303188" cy="1988988"/>
          </a:xfrm>
        </p:grpSpPr>
        <p:sp>
          <p:nvSpPr>
            <p:cNvPr id="545" name="Shape 545"/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46" name="Shape 546"/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48" name="Shape 548"/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pic>
        <p:nvPicPr>
          <p:cNvPr id="554" name="Screen Shot 2018-02-27 at 18.39.07.png"/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598213" y="3678162"/>
            <a:ext cx="1723360" cy="1031392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Shape 555"/>
          <p:cNvSpPr txBox="1"/>
          <p:nvPr/>
        </p:nvSpPr>
        <p:spPr>
          <a:xfrm>
            <a:off x="1075599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[1,2]</a:t>
            </a:r>
          </a:p>
        </p:txBody>
      </p:sp>
      <p:sp>
        <p:nvSpPr>
          <p:cNvPr id="556" name="Shape 556"/>
          <p:cNvSpPr txBox="1"/>
          <p:nvPr/>
        </p:nvSpPr>
        <p:spPr>
          <a:xfrm>
            <a:off x="2097544" y="376483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1173957" y="4929451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[0,1]</a:t>
            </a:r>
          </a:p>
        </p:txBody>
      </p:sp>
      <p:sp>
        <p:nvSpPr>
          <p:cNvPr id="558" name="Shape 558"/>
          <p:cNvSpPr txBox="1"/>
          <p:nvPr/>
        </p:nvSpPr>
        <p:spPr>
          <a:xfrm>
            <a:off x="2097544" y="5860604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  <p:pic>
        <p:nvPicPr>
          <p:cNvPr id="559" name="pasted-image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864" y="3618104"/>
            <a:ext cx="1120959" cy="10315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Tm="523964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457200" y="1382861"/>
            <a:ext cx="8229600" cy="5475139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A simple network could be defined as follows</a:t>
            </a:r>
          </a:p>
          <a:p>
            <a:pPr marL="0" indent="0">
              <a:spcBef>
                <a:spcPts val="500"/>
              </a:spcBef>
              <a:buNone/>
            </a:pPr>
            <a:endParaRPr dirty="0"/>
          </a:p>
          <a:p>
            <a:pPr>
              <a:spcBef>
                <a:spcPts val="500"/>
              </a:spcBef>
            </a:pPr>
            <a:r>
              <a:rPr lang="en-US" dirty="0"/>
              <a:t>The problems of the above formulation:</a:t>
            </a:r>
            <a:endParaRPr dirty="0"/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The feature at node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is </a:t>
            </a:r>
            <a:r>
              <a:rPr lang="en-US" sz="2400" dirty="0">
                <a:solidFill>
                  <a:srgbClr val="FF0000"/>
                </a:solidFill>
              </a:rPr>
              <a:t>NOT </a:t>
            </a:r>
            <a:r>
              <a:rPr sz="2400" dirty="0">
                <a:solidFill>
                  <a:srgbClr val="FF0000"/>
                </a:solidFill>
              </a:rPr>
              <a:t>included in the computation of the new </a:t>
            </a:r>
            <a:r>
              <a:rPr lang="en-US" sz="2400" dirty="0">
                <a:solidFill>
                  <a:srgbClr val="FF0000"/>
                </a:solidFill>
              </a:rPr>
              <a:t>aggregated </a:t>
            </a:r>
            <a:r>
              <a:rPr sz="2400" dirty="0">
                <a:solidFill>
                  <a:srgbClr val="FF0000"/>
                </a:solidFill>
              </a:rPr>
              <a:t>feature</a:t>
            </a:r>
            <a:r>
              <a:rPr lang="en-US" sz="2400" dirty="0">
                <a:solidFill>
                  <a:srgbClr val="FF0000"/>
                </a:solidFill>
              </a:rPr>
              <a:t> at node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  <a:endParaRPr sz="2400" dirty="0">
              <a:solidFill>
                <a:srgbClr val="FF0000"/>
              </a:solidFill>
            </a:endParaRPr>
          </a:p>
          <a:p>
            <a:pPr marL="457200" lvl="1" indent="0">
              <a:spcBef>
                <a:spcPts val="500"/>
              </a:spcBef>
              <a:buNone/>
            </a:pPr>
            <a:endParaRPr dirty="0"/>
          </a:p>
        </p:txBody>
      </p:sp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563" name="Shape 56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p:pic>
        <p:nvPicPr>
          <p:cNvPr id="56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074598"/>
            <a:ext cx="4721862" cy="471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Screen Shot 2018-02-27 at 18.39.07.png">
            <a:extLst>
              <a:ext uri="{FF2B5EF4-FFF2-40B4-BE49-F238E27FC236}">
                <a16:creationId xmlns:a16="http://schemas.microsoft.com/office/drawing/2014/main" id="{B6304E59-74A4-4811-9EEB-08C885CD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470817" y="3930456"/>
            <a:ext cx="2270168" cy="1099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asted-image.pdf">
            <a:extLst>
              <a:ext uri="{FF2B5EF4-FFF2-40B4-BE49-F238E27FC236}">
                <a16:creationId xmlns:a16="http://schemas.microsoft.com/office/drawing/2014/main" id="{70E9084C-8E78-4FE4-9431-359CA7364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790" y="3930456"/>
            <a:ext cx="1476630" cy="10995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Group 553">
            <a:extLst>
              <a:ext uri="{FF2B5EF4-FFF2-40B4-BE49-F238E27FC236}">
                <a16:creationId xmlns:a16="http://schemas.microsoft.com/office/drawing/2014/main" id="{3392B1D4-103D-442D-B5C5-DFC62B15631A}"/>
              </a:ext>
            </a:extLst>
          </p:cNvPr>
          <p:cNvGrpSpPr/>
          <p:nvPr/>
        </p:nvGrpSpPr>
        <p:grpSpPr>
          <a:xfrm>
            <a:off x="1196660" y="4606095"/>
            <a:ext cx="1303190" cy="1988990"/>
            <a:chOff x="0" y="0"/>
            <a:chExt cx="1303188" cy="1988988"/>
          </a:xfrm>
        </p:grpSpPr>
        <p:sp>
          <p:nvSpPr>
            <p:cNvPr id="18" name="Shape 545">
              <a:extLst>
                <a:ext uri="{FF2B5EF4-FFF2-40B4-BE49-F238E27FC236}">
                  <a16:creationId xmlns:a16="http://schemas.microsoft.com/office/drawing/2014/main" id="{E5CAE9B7-8C5E-41AA-BDBE-4FD9DBF07A5B}"/>
                </a:ext>
              </a:extLst>
            </p:cNvPr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" name="Shape 546">
              <a:extLst>
                <a:ext uri="{FF2B5EF4-FFF2-40B4-BE49-F238E27FC236}">
                  <a16:creationId xmlns:a16="http://schemas.microsoft.com/office/drawing/2014/main" id="{2830355F-BEFA-4444-A14D-88A1F13CA857}"/>
                </a:ext>
              </a:extLst>
            </p:cNvPr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0" name="Shape 547">
              <a:extLst>
                <a:ext uri="{FF2B5EF4-FFF2-40B4-BE49-F238E27FC236}">
                  <a16:creationId xmlns:a16="http://schemas.microsoft.com/office/drawing/2014/main" id="{EE3C7630-6BF3-4D4D-A3DF-015F1589F0BE}"/>
                </a:ext>
              </a:extLst>
            </p:cNvPr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1" name="Shape 548">
              <a:extLst>
                <a:ext uri="{FF2B5EF4-FFF2-40B4-BE49-F238E27FC236}">
                  <a16:creationId xmlns:a16="http://schemas.microsoft.com/office/drawing/2014/main" id="{A6BDDAC6-5403-4308-B665-46527CF2784E}"/>
                </a:ext>
              </a:extLst>
            </p:cNvPr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" name="Shape 549">
              <a:extLst>
                <a:ext uri="{FF2B5EF4-FFF2-40B4-BE49-F238E27FC236}">
                  <a16:creationId xmlns:a16="http://schemas.microsoft.com/office/drawing/2014/main" id="{045EE185-1A33-45E8-8559-39A626CCE01E}"/>
                </a:ext>
              </a:extLst>
            </p:cNvPr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" name="Shape 550">
              <a:extLst>
                <a:ext uri="{FF2B5EF4-FFF2-40B4-BE49-F238E27FC236}">
                  <a16:creationId xmlns:a16="http://schemas.microsoft.com/office/drawing/2014/main" id="{7384C899-2390-4B05-BB9E-ABA261C4E598}"/>
                </a:ext>
              </a:extLst>
            </p:cNvPr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" name="Shape 551">
              <a:extLst>
                <a:ext uri="{FF2B5EF4-FFF2-40B4-BE49-F238E27FC236}">
                  <a16:creationId xmlns:a16="http://schemas.microsoft.com/office/drawing/2014/main" id="{09B73925-1FA4-4E91-9B32-44E1CF614E20}"/>
                </a:ext>
              </a:extLst>
            </p:cNvPr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5" name="Shape 552">
              <a:extLst>
                <a:ext uri="{FF2B5EF4-FFF2-40B4-BE49-F238E27FC236}">
                  <a16:creationId xmlns:a16="http://schemas.microsoft.com/office/drawing/2014/main" id="{DCA36A37-392F-48CD-8230-8841F0F1854F}"/>
                </a:ext>
              </a:extLst>
            </p:cNvPr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6" name="Shape 555">
            <a:extLst>
              <a:ext uri="{FF2B5EF4-FFF2-40B4-BE49-F238E27FC236}">
                <a16:creationId xmlns:a16="http://schemas.microsoft.com/office/drawing/2014/main" id="{8E6F68C4-DA3B-4658-A2F0-98E5502A8192}"/>
              </a:ext>
            </a:extLst>
          </p:cNvPr>
          <p:cNvSpPr txBox="1"/>
          <p:nvPr/>
        </p:nvSpPr>
        <p:spPr>
          <a:xfrm>
            <a:off x="1075599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[1,2]</a:t>
            </a:r>
          </a:p>
        </p:txBody>
      </p:sp>
      <p:sp>
        <p:nvSpPr>
          <p:cNvPr id="27" name="Shape 556">
            <a:extLst>
              <a:ext uri="{FF2B5EF4-FFF2-40B4-BE49-F238E27FC236}">
                <a16:creationId xmlns:a16="http://schemas.microsoft.com/office/drawing/2014/main" id="{6BA46818-174F-4E7A-8D5B-723FF73CFC59}"/>
              </a:ext>
            </a:extLst>
          </p:cNvPr>
          <p:cNvSpPr txBox="1"/>
          <p:nvPr/>
        </p:nvSpPr>
        <p:spPr>
          <a:xfrm>
            <a:off x="2097544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28" name="Shape 557">
            <a:extLst>
              <a:ext uri="{FF2B5EF4-FFF2-40B4-BE49-F238E27FC236}">
                <a16:creationId xmlns:a16="http://schemas.microsoft.com/office/drawing/2014/main" id="{E6B2EACB-C2A7-498E-9E49-7F5C29868E30}"/>
              </a:ext>
            </a:extLst>
          </p:cNvPr>
          <p:cNvSpPr txBox="1"/>
          <p:nvPr/>
        </p:nvSpPr>
        <p:spPr>
          <a:xfrm>
            <a:off x="1173957" y="5321335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[0,1]</a:t>
            </a:r>
          </a:p>
        </p:txBody>
      </p:sp>
      <p:sp>
        <p:nvSpPr>
          <p:cNvPr id="29" name="Shape 558">
            <a:extLst>
              <a:ext uri="{FF2B5EF4-FFF2-40B4-BE49-F238E27FC236}">
                <a16:creationId xmlns:a16="http://schemas.microsoft.com/office/drawing/2014/main" id="{8CD2C761-AE77-4115-9243-16C6E14F0B74}"/>
              </a:ext>
            </a:extLst>
          </p:cNvPr>
          <p:cNvSpPr txBox="1"/>
          <p:nvPr/>
        </p:nvSpPr>
        <p:spPr>
          <a:xfrm>
            <a:off x="2097544" y="625248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</p:spTree>
    <p:extLst>
      <p:ext uri="{BB962C8B-B14F-4D97-AF65-F5344CB8AC3E}">
        <p14:creationId xmlns:p14="http://schemas.microsoft.com/office/powerpoint/2010/main" val="3782246281"/>
      </p:ext>
    </p:extLst>
  </p:cSld>
  <p:clrMapOvr>
    <a:masterClrMapping/>
  </p:clrMapOvr>
  <p:transition spd="med" advTm="10617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457200" y="1382861"/>
            <a:ext cx="8229600" cy="5475139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A simple network could be defined as follows</a:t>
            </a:r>
          </a:p>
          <a:p>
            <a:pPr marL="0" indent="0">
              <a:spcBef>
                <a:spcPts val="500"/>
              </a:spcBef>
              <a:buNone/>
            </a:pPr>
            <a:endParaRPr dirty="0"/>
          </a:p>
          <a:p>
            <a:pPr>
              <a:spcBef>
                <a:spcPts val="500"/>
              </a:spcBef>
            </a:pPr>
            <a:r>
              <a:rPr lang="en-US" dirty="0"/>
              <a:t>The problem of the above formulation:</a:t>
            </a:r>
            <a:endParaRPr dirty="0"/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Different node has different degrees, </a:t>
            </a:r>
            <a:r>
              <a:rPr lang="en-US" sz="2000" dirty="0" err="1">
                <a:solidFill>
                  <a:srgbClr val="FF0000"/>
                </a:solidFill>
              </a:rPr>
              <a:t>i.e</a:t>
            </a:r>
            <a:r>
              <a:rPr lang="en-US" sz="2000" dirty="0">
                <a:solidFill>
                  <a:srgbClr val="FF0000"/>
                </a:solidFill>
              </a:rPr>
              <a:t>, has different number of edges; node with large degrees might have large representations, and vice versa. This might cause explosion or vanishing problem. </a:t>
            </a:r>
            <a:endParaRPr sz="2000" dirty="0">
              <a:solidFill>
                <a:srgbClr val="FF0000"/>
              </a:solidFill>
            </a:endParaRPr>
          </a:p>
        </p:txBody>
      </p:sp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563" name="Shape 56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pic>
        <p:nvPicPr>
          <p:cNvPr id="56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074598"/>
            <a:ext cx="4721862" cy="471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Screen Shot 2018-02-27 at 18.39.07.png">
            <a:extLst>
              <a:ext uri="{FF2B5EF4-FFF2-40B4-BE49-F238E27FC236}">
                <a16:creationId xmlns:a16="http://schemas.microsoft.com/office/drawing/2014/main" id="{B6304E59-74A4-4811-9EEB-08C885CD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401828" y="4221935"/>
            <a:ext cx="2270168" cy="1099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asted-image.pdf">
            <a:extLst>
              <a:ext uri="{FF2B5EF4-FFF2-40B4-BE49-F238E27FC236}">
                <a16:creationId xmlns:a16="http://schemas.microsoft.com/office/drawing/2014/main" id="{70E9084C-8E78-4FE4-9431-359CA7364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228" y="4221797"/>
            <a:ext cx="1476630" cy="10995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Group 553">
            <a:extLst>
              <a:ext uri="{FF2B5EF4-FFF2-40B4-BE49-F238E27FC236}">
                <a16:creationId xmlns:a16="http://schemas.microsoft.com/office/drawing/2014/main" id="{3392B1D4-103D-442D-B5C5-DFC62B15631A}"/>
              </a:ext>
            </a:extLst>
          </p:cNvPr>
          <p:cNvGrpSpPr/>
          <p:nvPr/>
        </p:nvGrpSpPr>
        <p:grpSpPr>
          <a:xfrm>
            <a:off x="1196660" y="4606095"/>
            <a:ext cx="1303190" cy="1988990"/>
            <a:chOff x="0" y="0"/>
            <a:chExt cx="1303188" cy="1988988"/>
          </a:xfrm>
        </p:grpSpPr>
        <p:sp>
          <p:nvSpPr>
            <p:cNvPr id="18" name="Shape 545">
              <a:extLst>
                <a:ext uri="{FF2B5EF4-FFF2-40B4-BE49-F238E27FC236}">
                  <a16:creationId xmlns:a16="http://schemas.microsoft.com/office/drawing/2014/main" id="{E5CAE9B7-8C5E-41AA-BDBE-4FD9DBF07A5B}"/>
                </a:ext>
              </a:extLst>
            </p:cNvPr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" name="Shape 546">
              <a:extLst>
                <a:ext uri="{FF2B5EF4-FFF2-40B4-BE49-F238E27FC236}">
                  <a16:creationId xmlns:a16="http://schemas.microsoft.com/office/drawing/2014/main" id="{2830355F-BEFA-4444-A14D-88A1F13CA857}"/>
                </a:ext>
              </a:extLst>
            </p:cNvPr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0" name="Shape 547">
              <a:extLst>
                <a:ext uri="{FF2B5EF4-FFF2-40B4-BE49-F238E27FC236}">
                  <a16:creationId xmlns:a16="http://schemas.microsoft.com/office/drawing/2014/main" id="{EE3C7630-6BF3-4D4D-A3DF-015F1589F0BE}"/>
                </a:ext>
              </a:extLst>
            </p:cNvPr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1" name="Shape 548">
              <a:extLst>
                <a:ext uri="{FF2B5EF4-FFF2-40B4-BE49-F238E27FC236}">
                  <a16:creationId xmlns:a16="http://schemas.microsoft.com/office/drawing/2014/main" id="{A6BDDAC6-5403-4308-B665-46527CF2784E}"/>
                </a:ext>
              </a:extLst>
            </p:cNvPr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22" name="Shape 549">
              <a:extLst>
                <a:ext uri="{FF2B5EF4-FFF2-40B4-BE49-F238E27FC236}">
                  <a16:creationId xmlns:a16="http://schemas.microsoft.com/office/drawing/2014/main" id="{045EE185-1A33-45E8-8559-39A626CCE01E}"/>
                </a:ext>
              </a:extLst>
            </p:cNvPr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" name="Shape 550">
              <a:extLst>
                <a:ext uri="{FF2B5EF4-FFF2-40B4-BE49-F238E27FC236}">
                  <a16:creationId xmlns:a16="http://schemas.microsoft.com/office/drawing/2014/main" id="{7384C899-2390-4B05-BB9E-ABA261C4E598}"/>
                </a:ext>
              </a:extLst>
            </p:cNvPr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" name="Shape 551">
              <a:extLst>
                <a:ext uri="{FF2B5EF4-FFF2-40B4-BE49-F238E27FC236}">
                  <a16:creationId xmlns:a16="http://schemas.microsoft.com/office/drawing/2014/main" id="{09B73925-1FA4-4E91-9B32-44E1CF614E20}"/>
                </a:ext>
              </a:extLst>
            </p:cNvPr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5" name="Shape 552">
              <a:extLst>
                <a:ext uri="{FF2B5EF4-FFF2-40B4-BE49-F238E27FC236}">
                  <a16:creationId xmlns:a16="http://schemas.microsoft.com/office/drawing/2014/main" id="{DCA36A37-392F-48CD-8230-8841F0F1854F}"/>
                </a:ext>
              </a:extLst>
            </p:cNvPr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6" name="Shape 555">
            <a:extLst>
              <a:ext uri="{FF2B5EF4-FFF2-40B4-BE49-F238E27FC236}">
                <a16:creationId xmlns:a16="http://schemas.microsoft.com/office/drawing/2014/main" id="{8E6F68C4-DA3B-4658-A2F0-98E5502A8192}"/>
              </a:ext>
            </a:extLst>
          </p:cNvPr>
          <p:cNvSpPr txBox="1"/>
          <p:nvPr/>
        </p:nvSpPr>
        <p:spPr>
          <a:xfrm>
            <a:off x="1075599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[1,2]</a:t>
            </a:r>
          </a:p>
        </p:txBody>
      </p:sp>
      <p:sp>
        <p:nvSpPr>
          <p:cNvPr id="27" name="Shape 556">
            <a:extLst>
              <a:ext uri="{FF2B5EF4-FFF2-40B4-BE49-F238E27FC236}">
                <a16:creationId xmlns:a16="http://schemas.microsoft.com/office/drawing/2014/main" id="{6BA46818-174F-4E7A-8D5B-723FF73CFC59}"/>
              </a:ext>
            </a:extLst>
          </p:cNvPr>
          <p:cNvSpPr txBox="1"/>
          <p:nvPr/>
        </p:nvSpPr>
        <p:spPr>
          <a:xfrm>
            <a:off x="2097544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28" name="Shape 557">
            <a:extLst>
              <a:ext uri="{FF2B5EF4-FFF2-40B4-BE49-F238E27FC236}">
                <a16:creationId xmlns:a16="http://schemas.microsoft.com/office/drawing/2014/main" id="{E6B2EACB-C2A7-498E-9E49-7F5C29868E30}"/>
              </a:ext>
            </a:extLst>
          </p:cNvPr>
          <p:cNvSpPr txBox="1"/>
          <p:nvPr/>
        </p:nvSpPr>
        <p:spPr>
          <a:xfrm>
            <a:off x="1173957" y="5321335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[0,1]</a:t>
            </a:r>
          </a:p>
        </p:txBody>
      </p:sp>
      <p:sp>
        <p:nvSpPr>
          <p:cNvPr id="29" name="Shape 558">
            <a:extLst>
              <a:ext uri="{FF2B5EF4-FFF2-40B4-BE49-F238E27FC236}">
                <a16:creationId xmlns:a16="http://schemas.microsoft.com/office/drawing/2014/main" id="{8CD2C761-AE77-4115-9243-16C6E14F0B74}"/>
              </a:ext>
            </a:extLst>
          </p:cNvPr>
          <p:cNvSpPr txBox="1"/>
          <p:nvPr/>
        </p:nvSpPr>
        <p:spPr>
          <a:xfrm>
            <a:off x="2097544" y="625248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</p:spTree>
    <p:extLst>
      <p:ext uri="{BB962C8B-B14F-4D97-AF65-F5344CB8AC3E}">
        <p14:creationId xmlns:p14="http://schemas.microsoft.com/office/powerpoint/2010/main" val="1065283331"/>
      </p:ext>
    </p:extLst>
  </p:cSld>
  <p:clrMapOvr>
    <a:masterClrMapping/>
  </p:clrMapOvr>
  <p:transition spd="med" advTm="84403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457200" y="1396374"/>
            <a:ext cx="8229600" cy="5461626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A simple network could be defined as follows</a:t>
            </a:r>
          </a:p>
          <a:p>
            <a:pPr>
              <a:spcBef>
                <a:spcPts val="500"/>
              </a:spcBef>
            </a:pPr>
            <a:endParaRPr dirty="0"/>
          </a:p>
          <a:p>
            <a:pPr>
              <a:spcBef>
                <a:spcPts val="500"/>
              </a:spcBef>
            </a:pPr>
            <a:endParaRPr dirty="0"/>
          </a:p>
          <a:p>
            <a:pPr>
              <a:spcBef>
                <a:spcPts val="500"/>
              </a:spcBef>
            </a:pPr>
            <a:r>
              <a:rPr sz="2000" dirty="0"/>
              <a:t>We modify this in two ways:</a:t>
            </a:r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sz="2000" dirty="0"/>
              <a:t>Add a loop to each node, so the old feature is included in the computation of the new feature</a:t>
            </a:r>
          </a:p>
        </p:txBody>
      </p:sp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563" name="Shape 56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p:pic>
        <p:nvPicPr>
          <p:cNvPr id="56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380897"/>
            <a:ext cx="4721862" cy="471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Screen Shot 2018-02-27 at 18.39.07.png">
            <a:extLst>
              <a:ext uri="{FF2B5EF4-FFF2-40B4-BE49-F238E27FC236}">
                <a16:creationId xmlns:a16="http://schemas.microsoft.com/office/drawing/2014/main" id="{BCF7C863-4B5B-44D5-9552-04282B91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401828" y="4221935"/>
            <a:ext cx="2270168" cy="1099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asted-image.pdf">
            <a:extLst>
              <a:ext uri="{FF2B5EF4-FFF2-40B4-BE49-F238E27FC236}">
                <a16:creationId xmlns:a16="http://schemas.microsoft.com/office/drawing/2014/main" id="{150029E8-7198-4835-9863-18A6BF7FC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228" y="4221797"/>
            <a:ext cx="1476630" cy="10995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" name="Group 553">
            <a:extLst>
              <a:ext uri="{FF2B5EF4-FFF2-40B4-BE49-F238E27FC236}">
                <a16:creationId xmlns:a16="http://schemas.microsoft.com/office/drawing/2014/main" id="{56FB874E-A414-4DA0-89C2-01813D9579FC}"/>
              </a:ext>
            </a:extLst>
          </p:cNvPr>
          <p:cNvGrpSpPr/>
          <p:nvPr/>
        </p:nvGrpSpPr>
        <p:grpSpPr>
          <a:xfrm>
            <a:off x="1196660" y="4606095"/>
            <a:ext cx="1303190" cy="1988990"/>
            <a:chOff x="0" y="0"/>
            <a:chExt cx="1303188" cy="1988988"/>
          </a:xfrm>
        </p:grpSpPr>
        <p:sp>
          <p:nvSpPr>
            <p:cNvPr id="9" name="Shape 545">
              <a:extLst>
                <a:ext uri="{FF2B5EF4-FFF2-40B4-BE49-F238E27FC236}">
                  <a16:creationId xmlns:a16="http://schemas.microsoft.com/office/drawing/2014/main" id="{93617B31-277A-460A-AB21-BC680AF18607}"/>
                </a:ext>
              </a:extLst>
            </p:cNvPr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0" name="Shape 546">
              <a:extLst>
                <a:ext uri="{FF2B5EF4-FFF2-40B4-BE49-F238E27FC236}">
                  <a16:creationId xmlns:a16="http://schemas.microsoft.com/office/drawing/2014/main" id="{260E3BE8-FE47-47C5-A271-D27C61170FAA}"/>
                </a:ext>
              </a:extLst>
            </p:cNvPr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1" name="Shape 547">
              <a:extLst>
                <a:ext uri="{FF2B5EF4-FFF2-40B4-BE49-F238E27FC236}">
                  <a16:creationId xmlns:a16="http://schemas.microsoft.com/office/drawing/2014/main" id="{9D29020C-6078-49E1-8733-AE6985BFEAB2}"/>
                </a:ext>
              </a:extLst>
            </p:cNvPr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" name="Shape 548">
              <a:extLst>
                <a:ext uri="{FF2B5EF4-FFF2-40B4-BE49-F238E27FC236}">
                  <a16:creationId xmlns:a16="http://schemas.microsoft.com/office/drawing/2014/main" id="{B0AC8EC3-6BA0-4EAB-AB27-7074F38F185D}"/>
                </a:ext>
              </a:extLst>
            </p:cNvPr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" name="Shape 549">
              <a:extLst>
                <a:ext uri="{FF2B5EF4-FFF2-40B4-BE49-F238E27FC236}">
                  <a16:creationId xmlns:a16="http://schemas.microsoft.com/office/drawing/2014/main" id="{D2A93116-6E20-4869-8EC1-9F3973C705DD}"/>
                </a:ext>
              </a:extLst>
            </p:cNvPr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Shape 550">
              <a:extLst>
                <a:ext uri="{FF2B5EF4-FFF2-40B4-BE49-F238E27FC236}">
                  <a16:creationId xmlns:a16="http://schemas.microsoft.com/office/drawing/2014/main" id="{67B08623-875F-4E83-B94F-BC1F7CE6DD91}"/>
                </a:ext>
              </a:extLst>
            </p:cNvPr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Shape 551">
              <a:extLst>
                <a:ext uri="{FF2B5EF4-FFF2-40B4-BE49-F238E27FC236}">
                  <a16:creationId xmlns:a16="http://schemas.microsoft.com/office/drawing/2014/main" id="{97364950-8320-41BD-BD48-944649BAB498}"/>
                </a:ext>
              </a:extLst>
            </p:cNvPr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Shape 552">
              <a:extLst>
                <a:ext uri="{FF2B5EF4-FFF2-40B4-BE49-F238E27FC236}">
                  <a16:creationId xmlns:a16="http://schemas.microsoft.com/office/drawing/2014/main" id="{27774D7E-CAF6-4E59-8CB6-A09740A9B33E}"/>
                </a:ext>
              </a:extLst>
            </p:cNvPr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7" name="Shape 555">
            <a:extLst>
              <a:ext uri="{FF2B5EF4-FFF2-40B4-BE49-F238E27FC236}">
                <a16:creationId xmlns:a16="http://schemas.microsoft.com/office/drawing/2014/main" id="{2401A4D2-4ADA-459A-9783-823F9B243EB3}"/>
              </a:ext>
            </a:extLst>
          </p:cNvPr>
          <p:cNvSpPr txBox="1"/>
          <p:nvPr/>
        </p:nvSpPr>
        <p:spPr>
          <a:xfrm>
            <a:off x="1075599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[1,2]</a:t>
            </a:r>
          </a:p>
        </p:txBody>
      </p:sp>
      <p:sp>
        <p:nvSpPr>
          <p:cNvPr id="18" name="Shape 556">
            <a:extLst>
              <a:ext uri="{FF2B5EF4-FFF2-40B4-BE49-F238E27FC236}">
                <a16:creationId xmlns:a16="http://schemas.microsoft.com/office/drawing/2014/main" id="{59FE1EA0-94E0-4F5E-9544-801B39904B7D}"/>
              </a:ext>
            </a:extLst>
          </p:cNvPr>
          <p:cNvSpPr txBox="1"/>
          <p:nvPr/>
        </p:nvSpPr>
        <p:spPr>
          <a:xfrm>
            <a:off x="2097544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19" name="Shape 557">
            <a:extLst>
              <a:ext uri="{FF2B5EF4-FFF2-40B4-BE49-F238E27FC236}">
                <a16:creationId xmlns:a16="http://schemas.microsoft.com/office/drawing/2014/main" id="{490F56F0-0C36-4669-A703-113CA143A712}"/>
              </a:ext>
            </a:extLst>
          </p:cNvPr>
          <p:cNvSpPr txBox="1"/>
          <p:nvPr/>
        </p:nvSpPr>
        <p:spPr>
          <a:xfrm>
            <a:off x="1173957" y="5321335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[0,1]</a:t>
            </a:r>
          </a:p>
        </p:txBody>
      </p:sp>
      <p:sp>
        <p:nvSpPr>
          <p:cNvPr id="20" name="Shape 558">
            <a:extLst>
              <a:ext uri="{FF2B5EF4-FFF2-40B4-BE49-F238E27FC236}">
                <a16:creationId xmlns:a16="http://schemas.microsoft.com/office/drawing/2014/main" id="{D17A3FEE-55DB-4AEB-ABCB-13B490F82258}"/>
              </a:ext>
            </a:extLst>
          </p:cNvPr>
          <p:cNvSpPr txBox="1"/>
          <p:nvPr/>
        </p:nvSpPr>
        <p:spPr>
          <a:xfrm>
            <a:off x="2097544" y="625248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</p:spTree>
  </p:cSld>
  <p:clrMapOvr>
    <a:masterClrMapping/>
  </p:clrMapOvr>
  <p:transition spd="med" advTm="9072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561"/>
          <p:cNvSpPr txBox="1">
            <a:spLocks noGrp="1"/>
          </p:cNvSpPr>
          <p:nvPr>
            <p:ph type="body" idx="1"/>
          </p:nvPr>
        </p:nvSpPr>
        <p:spPr>
          <a:xfrm>
            <a:off x="457200" y="1419905"/>
            <a:ext cx="8229600" cy="52578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A simple network could be defined as follows</a:t>
            </a:r>
          </a:p>
          <a:p>
            <a:pPr marL="0" indent="0">
              <a:spcBef>
                <a:spcPts val="500"/>
              </a:spcBef>
              <a:buNone/>
            </a:pPr>
            <a:endParaRPr dirty="0"/>
          </a:p>
          <a:p>
            <a:pPr>
              <a:spcBef>
                <a:spcPts val="500"/>
              </a:spcBef>
            </a:pPr>
            <a:r>
              <a:rPr sz="2400" dirty="0"/>
              <a:t>We modify this in two ways:</a:t>
            </a:r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sz="2400" dirty="0" err="1"/>
              <a:t>Normalise</a:t>
            </a:r>
            <a:r>
              <a:rPr sz="2400" dirty="0"/>
              <a:t> A so the scale of the feature vectors doesn’t change, i.e.,</a:t>
            </a:r>
          </a:p>
        </p:txBody>
      </p:sp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563" name="Shape 563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  <p:pic>
        <p:nvPicPr>
          <p:cNvPr id="564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069" y="2036759"/>
            <a:ext cx="4721862" cy="471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Screen Shot 2018-02-27 at 18.39.07.png">
            <a:extLst>
              <a:ext uri="{FF2B5EF4-FFF2-40B4-BE49-F238E27FC236}">
                <a16:creationId xmlns:a16="http://schemas.microsoft.com/office/drawing/2014/main" id="{A5D6534A-E338-47D3-9D0C-53CA110581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114"/>
          <a:stretch>
            <a:fillRect/>
          </a:stretch>
        </p:blipFill>
        <p:spPr>
          <a:xfrm>
            <a:off x="3248677" y="3572606"/>
            <a:ext cx="2270168" cy="1099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asted-image.pdf">
            <a:extLst>
              <a:ext uri="{FF2B5EF4-FFF2-40B4-BE49-F238E27FC236}">
                <a16:creationId xmlns:a16="http://schemas.microsoft.com/office/drawing/2014/main" id="{36DDBC0C-8DF7-4AB7-9B7F-000C77440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077" y="3572468"/>
            <a:ext cx="1476630" cy="10995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" name="Group 553">
            <a:extLst>
              <a:ext uri="{FF2B5EF4-FFF2-40B4-BE49-F238E27FC236}">
                <a16:creationId xmlns:a16="http://schemas.microsoft.com/office/drawing/2014/main" id="{78CDBF5C-C070-4684-A0A7-8927084A95F6}"/>
              </a:ext>
            </a:extLst>
          </p:cNvPr>
          <p:cNvGrpSpPr/>
          <p:nvPr/>
        </p:nvGrpSpPr>
        <p:grpSpPr>
          <a:xfrm>
            <a:off x="1196660" y="4606095"/>
            <a:ext cx="1303190" cy="1988990"/>
            <a:chOff x="0" y="0"/>
            <a:chExt cx="1303188" cy="1988988"/>
          </a:xfrm>
        </p:grpSpPr>
        <p:sp>
          <p:nvSpPr>
            <p:cNvPr id="9" name="Shape 545">
              <a:extLst>
                <a:ext uri="{FF2B5EF4-FFF2-40B4-BE49-F238E27FC236}">
                  <a16:creationId xmlns:a16="http://schemas.microsoft.com/office/drawing/2014/main" id="{3D0F98D5-353D-4DDD-BA37-4D513C6D7A48}"/>
                </a:ext>
              </a:extLst>
            </p:cNvPr>
            <p:cNvSpPr/>
            <p:nvPr/>
          </p:nvSpPr>
          <p:spPr>
            <a:xfrm>
              <a:off x="133920" y="130993"/>
              <a:ext cx="556321" cy="801390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0" name="Shape 546">
              <a:extLst>
                <a:ext uri="{FF2B5EF4-FFF2-40B4-BE49-F238E27FC236}">
                  <a16:creationId xmlns:a16="http://schemas.microsoft.com/office/drawing/2014/main" id="{EEC617A6-FD44-4A63-887E-A9B1D97EC785}"/>
                </a:ext>
              </a:extLst>
            </p:cNvPr>
            <p:cNvSpPr/>
            <p:nvPr/>
          </p:nvSpPr>
          <p:spPr>
            <a:xfrm flipH="1">
              <a:off x="699764" y="131142"/>
              <a:ext cx="465040" cy="77594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1" name="Shape 547">
              <a:extLst>
                <a:ext uri="{FF2B5EF4-FFF2-40B4-BE49-F238E27FC236}">
                  <a16:creationId xmlns:a16="http://schemas.microsoft.com/office/drawing/2014/main" id="{34E90489-5FA2-42DE-BB72-CBA859C3AC44}"/>
                </a:ext>
              </a:extLst>
            </p:cNvPr>
            <p:cNvSpPr/>
            <p:nvPr/>
          </p:nvSpPr>
          <p:spPr>
            <a:xfrm flipV="1">
              <a:off x="689446" y="934218"/>
              <a:ext cx="1" cy="1012639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2" name="Shape 548">
              <a:extLst>
                <a:ext uri="{FF2B5EF4-FFF2-40B4-BE49-F238E27FC236}">
                  <a16:creationId xmlns:a16="http://schemas.microsoft.com/office/drawing/2014/main" id="{0B23C3D1-3297-4451-B9CD-7AC7EBD8B77D}"/>
                </a:ext>
              </a:extLst>
            </p:cNvPr>
            <p:cNvSpPr/>
            <p:nvPr/>
          </p:nvSpPr>
          <p:spPr>
            <a:xfrm>
              <a:off x="260920" y="156393"/>
              <a:ext cx="870249" cy="1"/>
            </a:xfrm>
            <a:prstGeom prst="line">
              <a:avLst/>
            </a:prstGeom>
            <a:noFill/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3" name="Shape 549">
              <a:extLst>
                <a:ext uri="{FF2B5EF4-FFF2-40B4-BE49-F238E27FC236}">
                  <a16:creationId xmlns:a16="http://schemas.microsoft.com/office/drawing/2014/main" id="{C49D5B7A-CE62-437D-88EF-85BD350992E5}"/>
                </a:ext>
              </a:extLst>
            </p:cNvPr>
            <p:cNvSpPr/>
            <p:nvPr/>
          </p:nvSpPr>
          <p:spPr>
            <a:xfrm>
              <a:off x="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Shape 550">
              <a:extLst>
                <a:ext uri="{FF2B5EF4-FFF2-40B4-BE49-F238E27FC236}">
                  <a16:creationId xmlns:a16="http://schemas.microsoft.com/office/drawing/2014/main" id="{AC5C198D-27FB-44B6-8B8A-914F79D9E1A0}"/>
                </a:ext>
              </a:extLst>
            </p:cNvPr>
            <p:cNvSpPr/>
            <p:nvPr/>
          </p:nvSpPr>
          <p:spPr>
            <a:xfrm>
              <a:off x="1003300" y="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Shape 551">
              <a:extLst>
                <a:ext uri="{FF2B5EF4-FFF2-40B4-BE49-F238E27FC236}">
                  <a16:creationId xmlns:a16="http://schemas.microsoft.com/office/drawing/2014/main" id="{1CB2CFE4-A6DF-4663-AAED-4449ED5BAFDB}"/>
                </a:ext>
              </a:extLst>
            </p:cNvPr>
            <p:cNvSpPr/>
            <p:nvPr/>
          </p:nvSpPr>
          <p:spPr>
            <a:xfrm>
              <a:off x="546100" y="7620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Shape 552">
              <a:extLst>
                <a:ext uri="{FF2B5EF4-FFF2-40B4-BE49-F238E27FC236}">
                  <a16:creationId xmlns:a16="http://schemas.microsoft.com/office/drawing/2014/main" id="{01564490-2139-4895-A358-4B67018A27CC}"/>
                </a:ext>
              </a:extLst>
            </p:cNvPr>
            <p:cNvSpPr/>
            <p:nvPr/>
          </p:nvSpPr>
          <p:spPr>
            <a:xfrm>
              <a:off x="546100" y="1689100"/>
              <a:ext cx="299889" cy="299889"/>
            </a:xfrm>
            <a:prstGeom prst="ellipse">
              <a:avLst/>
            </a:prstGeom>
            <a:solidFill>
              <a:srgbClr val="A7A7A7"/>
            </a:solidFill>
            <a:ln w="25400" cap="flat">
              <a:solidFill>
                <a:srgbClr val="535353"/>
              </a:solidFill>
              <a:prstDash val="solid"/>
              <a:bevel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7" name="Shape 555">
            <a:extLst>
              <a:ext uri="{FF2B5EF4-FFF2-40B4-BE49-F238E27FC236}">
                <a16:creationId xmlns:a16="http://schemas.microsoft.com/office/drawing/2014/main" id="{27A005E5-14F2-49C4-B996-B5E268434479}"/>
              </a:ext>
            </a:extLst>
          </p:cNvPr>
          <p:cNvSpPr txBox="1"/>
          <p:nvPr/>
        </p:nvSpPr>
        <p:spPr>
          <a:xfrm>
            <a:off x="1075599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[1,2]</a:t>
            </a:r>
          </a:p>
        </p:txBody>
      </p:sp>
      <p:sp>
        <p:nvSpPr>
          <p:cNvPr id="18" name="Shape 556">
            <a:extLst>
              <a:ext uri="{FF2B5EF4-FFF2-40B4-BE49-F238E27FC236}">
                <a16:creationId xmlns:a16="http://schemas.microsoft.com/office/drawing/2014/main" id="{2814C96C-B742-4B5B-ABC5-B04C4FCA92F4}"/>
              </a:ext>
            </a:extLst>
          </p:cNvPr>
          <p:cNvSpPr txBox="1"/>
          <p:nvPr/>
        </p:nvSpPr>
        <p:spPr>
          <a:xfrm>
            <a:off x="2097544" y="415671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[1,1]</a:t>
            </a:r>
          </a:p>
        </p:txBody>
      </p:sp>
      <p:sp>
        <p:nvSpPr>
          <p:cNvPr id="19" name="Shape 557">
            <a:extLst>
              <a:ext uri="{FF2B5EF4-FFF2-40B4-BE49-F238E27FC236}">
                <a16:creationId xmlns:a16="http://schemas.microsoft.com/office/drawing/2014/main" id="{EAF03E1C-41FB-43ED-A1A9-8A323F0B5D76}"/>
              </a:ext>
            </a:extLst>
          </p:cNvPr>
          <p:cNvSpPr txBox="1"/>
          <p:nvPr/>
        </p:nvSpPr>
        <p:spPr>
          <a:xfrm>
            <a:off x="1173957" y="5321335"/>
            <a:ext cx="53310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[0,1]</a:t>
            </a:r>
          </a:p>
        </p:txBody>
      </p:sp>
      <p:sp>
        <p:nvSpPr>
          <p:cNvPr id="20" name="Shape 558">
            <a:extLst>
              <a:ext uri="{FF2B5EF4-FFF2-40B4-BE49-F238E27FC236}">
                <a16:creationId xmlns:a16="http://schemas.microsoft.com/office/drawing/2014/main" id="{4AA35BAC-C670-46AA-B8B3-B8773AEEEB8E}"/>
              </a:ext>
            </a:extLst>
          </p:cNvPr>
          <p:cNvSpPr txBox="1"/>
          <p:nvPr/>
        </p:nvSpPr>
        <p:spPr>
          <a:xfrm>
            <a:off x="2097544" y="6252488"/>
            <a:ext cx="5331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[1,0]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2DB260-5BFB-4318-88CF-B4ECF8FD48CE}"/>
                  </a:ext>
                </a:extLst>
              </p:cNvPr>
              <p:cNvSpPr txBox="1"/>
              <p:nvPr/>
            </p:nvSpPr>
            <p:spPr>
              <a:xfrm>
                <a:off x="2812911" y="4672006"/>
                <a:ext cx="5685672" cy="5654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  <m:t>𝐻</m:t>
                          </m:r>
                        </m:e>
                        <m:sup>
                          <m:d>
                            <m:dPr>
                              <m:ctrlPr>
                                <a:rPr kumimoji="0" lang="en-US" sz="32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32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  <m:t>𝑙</m:t>
                              </m:r>
                              <m:r>
                                <a:rPr kumimoji="0" lang="en-US" sz="3200" i="0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kumimoji="0" lang="en-US" sz="3200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Calibri"/>
                        </a:rPr>
                        <m:t>=</m:t>
                      </m:r>
                      <m:func>
                        <m:funcPr>
                          <m:ctrlP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320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  <m:t>Re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kumimoji="0" lang="en-US" sz="320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  <m:t>LU</m:t>
                          </m:r>
                          <m:d>
                            <m:dPr>
                              <m:ctrlPr>
                                <a:rPr kumimoji="0" lang="en-US" sz="32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en-US" sz="320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sym typeface="Calibri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320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sym typeface="Calibri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0" lang="en-US" sz="320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−1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𝐴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𝑙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32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2DB260-5BFB-4318-88CF-B4ECF8FD4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911" y="4672006"/>
                <a:ext cx="5685672" cy="565411"/>
              </a:xfrm>
              <a:prstGeom prst="rect">
                <a:avLst/>
              </a:prstGeom>
              <a:blipFill>
                <a:blip r:embed="rId7"/>
                <a:stretch>
                  <a:fillRect b="-107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393694"/>
      </p:ext>
    </p:extLst>
  </p:cSld>
  <p:clrMapOvr>
    <a:masterClrMapping/>
  </p:clrMapOvr>
  <p:transition spd="med" advTm="245212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 txBox="1">
            <a:spLocks noGrp="1"/>
          </p:cNvSpPr>
          <p:nvPr>
            <p:ph type="body" idx="1"/>
          </p:nvPr>
        </p:nvSpPr>
        <p:spPr>
          <a:xfrm>
            <a:off x="457200" y="1267268"/>
            <a:ext cx="8150772" cy="4349761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A simple network could be defined as follows</a:t>
            </a:r>
          </a:p>
          <a:p>
            <a:pPr>
              <a:spcBef>
                <a:spcPts val="500"/>
              </a:spcBef>
            </a:pPr>
            <a:endParaRPr dirty="0"/>
          </a:p>
          <a:p>
            <a:pPr>
              <a:spcBef>
                <a:spcPts val="500"/>
              </a:spcBef>
            </a:pPr>
            <a:r>
              <a:rPr dirty="0"/>
              <a:t>We modify this:</a:t>
            </a:r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sz="2000" dirty="0" err="1"/>
              <a:t>Normalise</a:t>
            </a:r>
            <a:r>
              <a:rPr sz="2000" dirty="0"/>
              <a:t> A so the scale of the feature vectors doesn’t change</a:t>
            </a:r>
            <a:r>
              <a:rPr lang="en-US" sz="2000" dirty="0"/>
              <a:t>.</a:t>
            </a:r>
          </a:p>
          <a:p>
            <a:pPr marL="457200" lvl="1" indent="0">
              <a:spcBef>
                <a:spcPts val="500"/>
              </a:spcBef>
              <a:buNone/>
            </a:pPr>
            <a:endParaRPr lang="en-US" sz="2000" dirty="0"/>
          </a:p>
          <a:p>
            <a:pPr marL="778668" lvl="1" indent="-321468">
              <a:spcBef>
                <a:spcPts val="500"/>
              </a:spcBef>
              <a:buChar char="•"/>
            </a:pPr>
            <a:endParaRPr lang="en-US" sz="2000" dirty="0"/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lang="en-US" sz="2000" dirty="0"/>
              <a:t>When computing the aggregate feature representation of the </a:t>
            </a:r>
            <a:r>
              <a:rPr lang="en-US" sz="2000" dirty="0" err="1"/>
              <a:t>ith</a:t>
            </a:r>
            <a:r>
              <a:rPr lang="en-US" sz="2000" dirty="0"/>
              <a:t> node, we not only take into consideration the degree of the </a:t>
            </a:r>
            <a:r>
              <a:rPr lang="en-US" sz="2000" dirty="0" err="1"/>
              <a:t>ith</a:t>
            </a:r>
            <a:r>
              <a:rPr lang="en-US" sz="2000" dirty="0"/>
              <a:t> node, but also the degree of the </a:t>
            </a:r>
            <a:r>
              <a:rPr lang="en-US" sz="2000" dirty="0" err="1"/>
              <a:t>jth</a:t>
            </a:r>
            <a:r>
              <a:rPr lang="en-US" sz="2000" dirty="0"/>
              <a:t> node. We could have the following formula</a:t>
            </a:r>
            <a:endParaRPr sz="2000" dirty="0"/>
          </a:p>
        </p:txBody>
      </p:sp>
      <p:sp>
        <p:nvSpPr>
          <p:cNvPr id="567" name="Shape 5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GCN: a simple example</a:t>
            </a:r>
          </a:p>
        </p:txBody>
      </p:sp>
      <p:sp>
        <p:nvSpPr>
          <p:cNvPr id="568" name="Shape 568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 dirty="0"/>
          </a:p>
        </p:txBody>
      </p:sp>
      <p:pic>
        <p:nvPicPr>
          <p:cNvPr id="569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83" y="1851017"/>
            <a:ext cx="4721862" cy="471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570" name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479" y="5202222"/>
            <a:ext cx="6713042" cy="471092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hape 571"/>
          <p:cNvSpPr txBox="1"/>
          <p:nvPr/>
        </p:nvSpPr>
        <p:spPr>
          <a:xfrm>
            <a:off x="1150956" y="6206666"/>
            <a:ext cx="290791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200"/>
            </a:pPr>
            <a:r>
              <a:rPr dirty="0">
                <a:solidFill>
                  <a:schemeClr val="accent2"/>
                </a:solidFill>
              </a:rPr>
              <a:t>Source:</a:t>
            </a:r>
            <a:r>
              <a:rPr dirty="0"/>
              <a:t>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https://arxiv.org/pdf/1609.02907.pdf</a:t>
            </a:r>
          </a:p>
        </p:txBody>
      </p:sp>
      <p:sp>
        <p:nvSpPr>
          <p:cNvPr id="8" name="Shape 571">
            <a:extLst>
              <a:ext uri="{FF2B5EF4-FFF2-40B4-BE49-F238E27FC236}">
                <a16:creationId xmlns:a16="http://schemas.microsoft.com/office/drawing/2014/main" id="{B37F9E37-B782-4E3A-BF34-B4D4D8CB39F7}"/>
              </a:ext>
            </a:extLst>
          </p:cNvPr>
          <p:cNvSpPr txBox="1"/>
          <p:nvPr/>
        </p:nvSpPr>
        <p:spPr>
          <a:xfrm>
            <a:off x="1259101" y="5767639"/>
            <a:ext cx="724752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200"/>
            </a:pPr>
            <a:r>
              <a:rPr dirty="0">
                <a:solidFill>
                  <a:schemeClr val="accent2"/>
                </a:solidFill>
              </a:rPr>
              <a:t>Source:</a:t>
            </a:r>
            <a:r>
              <a:rPr dirty="0"/>
              <a:t> </a:t>
            </a:r>
            <a:r>
              <a:rPr lang="en-US" dirty="0">
                <a:hlinkClick r:id="rId5"/>
              </a:rPr>
              <a:t>https://towardsdatascience.com/how-to-do-deep-learning-on-graphs-with-graph-convolutional-networks-62acf5b143d0</a:t>
            </a:r>
            <a:endParaRPr u="sng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178A6F-7B9B-4AB8-B8FA-A9916FC0B161}"/>
                  </a:ext>
                </a:extLst>
              </p:cNvPr>
              <p:cNvSpPr txBox="1"/>
              <p:nvPr/>
            </p:nvSpPr>
            <p:spPr>
              <a:xfrm>
                <a:off x="1470983" y="3310663"/>
                <a:ext cx="6043448" cy="5741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  <m:t>𝐻</m:t>
                          </m:r>
                        </m:e>
                        <m:sup>
                          <m:d>
                            <m:dPr>
                              <m:ctrlPr>
                                <a:rPr kumimoji="0" lang="en-US" sz="32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dPr>
                            <m:e>
                              <m:r>
                                <a:rPr kumimoji="0" lang="en-US" sz="32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  <m:t>𝑙</m:t>
                              </m:r>
                              <m:r>
                                <a:rPr kumimoji="0" lang="en-US" sz="3200" i="0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kumimoji="0" lang="en-US" sz="3200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Calibri"/>
                        </a:rPr>
                        <m:t>=</m:t>
                      </m:r>
                      <m:func>
                        <m:funcPr>
                          <m:ctrlP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sz="3200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  <m:t>Re</m:t>
                          </m:r>
                        </m:fName>
                        <m:e>
                          <m:r>
                            <a:rPr kumimoji="0" lang="en-US" sz="32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Calibri"/>
                            </a:rPr>
                            <m:t>𝐿𝑈</m:t>
                          </m:r>
                          <m:d>
                            <m:dPr>
                              <m:ctrlPr>
                                <a:rPr kumimoji="0" lang="en-US" sz="320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en-US" sz="320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sym typeface="Calibri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3200" i="1" u="none" strike="noStrike" cap="none" spc="0" normalizeH="0" baseline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FillTx/>
                                          <a:latin typeface="Cambria Math" panose="02040503050406030204" pitchFamily="18" charset="0"/>
                                          <a:sym typeface="Calibri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kumimoji="0" lang="en-US" sz="3200" i="0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−1</m:t>
                                  </m:r>
                                </m:sup>
                              </m:sSup>
                              <m:acc>
                                <m:accPr>
                                  <m:chr m:val="̂"/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𝐴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𝐻</m:t>
                                  </m:r>
                                </m:e>
                                <m:sup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𝑙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kumimoji="0" lang="en-US" sz="320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sym typeface="Calibri"/>
                                    </a:rPr>
                                    <m:t>𝑙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320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178A6F-7B9B-4AB8-B8FA-A9916FC0B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83" y="3310663"/>
                <a:ext cx="6043448" cy="5741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 advTm="106047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sted-image.png">
            <a:extLst>
              <a:ext uri="{FF2B5EF4-FFF2-40B4-BE49-F238E27FC236}">
                <a16:creationId xmlns:a16="http://schemas.microsoft.com/office/drawing/2014/main" id="{D60723D8-95BB-42BB-9D09-B04AAB3C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46" y="247345"/>
            <a:ext cx="6713042" cy="471092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53A35D-44BD-4A9A-9529-1F156F38F730}"/>
                  </a:ext>
                </a:extLst>
              </p14:cNvPr>
              <p14:cNvContentPartPr/>
              <p14:nvPr/>
            </p14:nvContentPartPr>
            <p14:xfrm>
              <a:off x="3846334" y="-103233"/>
              <a:ext cx="2160" cy="8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53A35D-44BD-4A9A-9529-1F156F38F7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37694" y="-112233"/>
                <a:ext cx="19800" cy="2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2305184"/>
      </p:ext>
    </p:extLst>
  </p:cSld>
  <p:clrMapOvr>
    <a:masterClrMapping/>
  </p:clrMapOvr>
  <p:transition spd="med" advTm="66923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Shape 4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dirty="0"/>
              <a:t>Graph Convolutional Networks</a:t>
            </a:r>
            <a:br>
              <a:rPr lang="en-US" dirty="0"/>
            </a:br>
            <a:r>
              <a:rPr lang="en-US" dirty="0"/>
              <a:t>Receptive Field and Feature Depth</a:t>
            </a:r>
            <a:endParaRPr dirty="0"/>
          </a:p>
        </p:txBody>
      </p:sp>
      <p:pic>
        <p:nvPicPr>
          <p:cNvPr id="415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9" y="1683686"/>
            <a:ext cx="7957562" cy="4126564"/>
          </a:xfrm>
          <a:prstGeom prst="rect">
            <a:avLst/>
          </a:prstGeom>
          <a:ln w="12700">
            <a:miter lim="400000"/>
          </a:ln>
        </p:spPr>
      </p:pic>
      <p:sp>
        <p:nvSpPr>
          <p:cNvPr id="416" name="Shape 416"/>
          <p:cNvSpPr txBox="1"/>
          <p:nvPr/>
        </p:nvSpPr>
        <p:spPr>
          <a:xfrm>
            <a:off x="2614148" y="6404292"/>
            <a:ext cx="391570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1200"/>
            </a:pPr>
            <a:r>
              <a:rPr>
                <a:solidFill>
                  <a:schemeClr val="accent2"/>
                </a:solidFill>
              </a:rPr>
              <a:t>Source:</a:t>
            </a:r>
            <a:r>
              <a:t>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https://tkipf.github.io/graph-convolutional-networks/</a:t>
            </a:r>
          </a:p>
        </p:txBody>
      </p:sp>
      <p:sp>
        <p:nvSpPr>
          <p:cNvPr id="417" name="Shape 417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1770957"/>
      </p:ext>
    </p:extLst>
  </p:cSld>
  <p:clrMapOvr>
    <a:masterClrMapping/>
  </p:clrMapOvr>
  <p:transition spd="med" advTm="327687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We can add a </a:t>
            </a:r>
            <a:r>
              <a:rPr dirty="0" err="1"/>
              <a:t>softmax</a:t>
            </a:r>
            <a:r>
              <a:rPr dirty="0"/>
              <a:t> layer at the end and apply the GCN to predict the labels of the nodes of a graph, where some of the nodes already have labels (training set)</a:t>
            </a:r>
          </a:p>
          <a:p>
            <a:pPr>
              <a:spcBef>
                <a:spcPts val="500"/>
              </a:spcBef>
            </a:pPr>
            <a:endParaRPr dirty="0"/>
          </a:p>
          <a:p>
            <a:pPr>
              <a:spcBef>
                <a:spcPts val="500"/>
              </a:spcBef>
            </a:pPr>
            <a:endParaRPr dirty="0"/>
          </a:p>
          <a:p>
            <a:pPr>
              <a:spcBef>
                <a:spcPts val="500"/>
              </a:spcBef>
            </a:pPr>
            <a:r>
              <a:rPr dirty="0"/>
              <a:t>If we add a cross-entropy loss function we get the 2-layers GCN of </a:t>
            </a:r>
            <a:r>
              <a:rPr dirty="0" err="1"/>
              <a:t>Kipf</a:t>
            </a:r>
            <a:r>
              <a:rPr dirty="0"/>
              <a:t> et al.</a:t>
            </a:r>
          </a:p>
        </p:txBody>
      </p:sp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 for node classification</a:t>
            </a:r>
          </a:p>
        </p:txBody>
      </p:sp>
      <p:sp>
        <p:nvSpPr>
          <p:cNvPr id="575" name="Shape 575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  <p:pic>
        <p:nvPicPr>
          <p:cNvPr id="576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01" y="3794180"/>
            <a:ext cx="7335598" cy="597716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" name="pasted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402" y="5672965"/>
            <a:ext cx="3271196" cy="1003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Tm="22276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 for node classification</a:t>
            </a:r>
          </a:p>
        </p:txBody>
      </p:sp>
      <p:sp>
        <p:nvSpPr>
          <p:cNvPr id="580" name="Shape 58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pic>
        <p:nvPicPr>
          <p:cNvPr id="581" name="Screen Shot 2019-05-15 at 17.06.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24" y="1643686"/>
            <a:ext cx="6546152" cy="3570628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Shape 582"/>
          <p:cNvSpPr txBox="1"/>
          <p:nvPr/>
        </p:nvSpPr>
        <p:spPr>
          <a:xfrm>
            <a:off x="316167" y="5623883"/>
            <a:ext cx="851166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rPr dirty="0"/>
              <a:t>We can also explore the latent space to plot the network during the training: see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this video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1275942" y="6014087"/>
            <a:ext cx="659211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rPr dirty="0"/>
              <a:t>For an explanation of the video see Appendix A.1 and A.2 in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the paper</a:t>
            </a:r>
          </a:p>
        </p:txBody>
      </p:sp>
    </p:spTree>
  </p:cSld>
  <p:clrMapOvr>
    <a:masterClrMapping/>
  </p:clrMapOvr>
  <p:transition spd="med" advTm="3191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 for node classification</a:t>
            </a:r>
          </a:p>
        </p:txBody>
      </p:sp>
      <p:sp>
        <p:nvSpPr>
          <p:cNvPr id="580" name="Shape 580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p:pic>
        <p:nvPicPr>
          <p:cNvPr id="581" name="Screen Shot 2019-05-15 at 17.06.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84" y="1535580"/>
            <a:ext cx="2885695" cy="1574015"/>
          </a:xfrm>
          <a:prstGeom prst="rect">
            <a:avLst/>
          </a:prstGeom>
          <a:ln w="12700">
            <a:miter lim="400000"/>
          </a:ln>
        </p:spPr>
      </p:pic>
      <p:sp>
        <p:nvSpPr>
          <p:cNvPr id="582" name="Shape 582"/>
          <p:cNvSpPr txBox="1"/>
          <p:nvPr/>
        </p:nvSpPr>
        <p:spPr>
          <a:xfrm>
            <a:off x="316167" y="5623883"/>
            <a:ext cx="851166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rPr dirty="0"/>
              <a:t>We can also explore the latent space to plot the network during the training: see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this video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1275942" y="6014087"/>
            <a:ext cx="6592117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>
                <a:solidFill>
                  <a:schemeClr val="accent2"/>
                </a:solidFill>
              </a:defRPr>
            </a:pPr>
            <a:r>
              <a:rPr dirty="0"/>
              <a:t>For an explanation of the video see Appendix A.1 and A.2 in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the paper</a:t>
            </a:r>
          </a:p>
        </p:txBody>
      </p:sp>
      <p:pic>
        <p:nvPicPr>
          <p:cNvPr id="4" name="video">
            <a:hlinkClick r:id="" action="ppaction://media"/>
            <a:extLst>
              <a:ext uri="{FF2B5EF4-FFF2-40B4-BE49-F238E27FC236}">
                <a16:creationId xmlns:a16="http://schemas.microsoft.com/office/drawing/2014/main" id="{19C83481-34FE-40E4-BD16-D36D4CAB8A9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74015" y="1440318"/>
            <a:ext cx="4345961" cy="32594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3472045"/>
      </p:ext>
    </p:extLst>
  </p:cSld>
  <p:clrMapOvr>
    <a:masterClrMapping/>
  </p:clrMapOvr>
  <p:transition spd="med" advTm="2494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172571" objId="4"/>
        <p14:triggerEvt type="onClick" time="172572" objId="4"/>
        <p14:stopEvt time="178545" objId="4"/>
        <p14:playEvt time="179988" objId="4"/>
        <p14:triggerEvt type="onClick" time="179988" objId="4"/>
        <p14:stopEvt time="186016" objId="4"/>
        <p14:playEvt time="225135" objId="4"/>
        <p14:triggerEvt type="onClick" time="225135" objId="4"/>
        <p14:stopEvt time="231149" objId="4"/>
        <p14:playEvt time="242421" objId="4"/>
        <p14:stopEvt time="248433" objId="4"/>
      </p14:showEvtLst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GCN for graph classification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sp>
        <p:nvSpPr>
          <p:cNvPr id="587" name="Shape 58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</a:pPr>
            <a:r>
              <a:rPr dirty="0"/>
              <a:t>The previous architecture can be extended to deal with graph classifications (i.e., one label per graph) by combining the node-level features in a single graph-level feature</a:t>
            </a:r>
          </a:p>
          <a:p>
            <a:pPr marL="778668" lvl="1" indent="-321468">
              <a:spcBef>
                <a:spcPts val="500"/>
              </a:spcBef>
              <a:buChar char="•"/>
            </a:pPr>
            <a:r>
              <a:rPr dirty="0"/>
              <a:t>E.g., following the pooling-like approach of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this paper</a:t>
            </a:r>
          </a:p>
        </p:txBody>
      </p:sp>
    </p:spTree>
  </p:cSld>
  <p:clrMapOvr>
    <a:masterClrMapping/>
  </p:clrMapOvr>
  <p:transition spd="med" advTm="258802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58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defRPr sz="2400"/>
            </a:pPr>
            <a:r>
              <a:rPr i="1" dirty="0" err="1">
                <a:latin typeface="+mn-lt"/>
                <a:ea typeface="+mn-ea"/>
                <a:cs typeface="+mn-cs"/>
                <a:sym typeface="Helvetica"/>
              </a:rPr>
              <a:t>Duvenavud</a:t>
            </a:r>
            <a:r>
              <a:rPr i="1" dirty="0">
                <a:latin typeface="+mn-lt"/>
                <a:ea typeface="+mn-ea"/>
                <a:cs typeface="+mn-cs"/>
                <a:sym typeface="Helvetica"/>
              </a:rPr>
              <a:t> et al., NIPS 2015</a:t>
            </a:r>
            <a:br>
              <a:rPr dirty="0"/>
            </a:b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http://papers.nips.cc/paper/5954-convolutional-networks-on-graphs-for-learning-molecular-fingerprints.pdf</a:t>
            </a:r>
          </a:p>
          <a:p>
            <a:pPr>
              <a:spcBef>
                <a:spcPts val="500"/>
              </a:spcBef>
              <a:defRPr sz="2400"/>
            </a:pPr>
            <a:r>
              <a:rPr i="1" dirty="0" err="1">
                <a:latin typeface="+mn-lt"/>
                <a:ea typeface="+mn-ea"/>
                <a:cs typeface="+mn-cs"/>
                <a:sym typeface="Helvetica"/>
              </a:rPr>
              <a:t>Defferrard</a:t>
            </a:r>
            <a:r>
              <a:rPr i="1" dirty="0">
                <a:latin typeface="+mn-lt"/>
                <a:ea typeface="+mn-ea"/>
                <a:cs typeface="+mn-cs"/>
                <a:sym typeface="Helvetica"/>
              </a:rPr>
              <a:t> et al., NIPS 2016</a:t>
            </a:r>
            <a:br>
              <a:rPr dirty="0"/>
            </a:b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https://arxiv.org/pdf/1606.09375.pdf</a:t>
            </a:r>
          </a:p>
          <a:p>
            <a:pPr>
              <a:spcBef>
                <a:spcPts val="500"/>
              </a:spcBef>
              <a:defRPr sz="2400"/>
            </a:pPr>
            <a:r>
              <a:rPr i="1" dirty="0" err="1">
                <a:latin typeface="+mn-lt"/>
                <a:ea typeface="+mn-ea"/>
                <a:cs typeface="+mn-cs"/>
                <a:sym typeface="Helvetica"/>
              </a:rPr>
              <a:t>Kipf</a:t>
            </a:r>
            <a:r>
              <a:rPr i="1" dirty="0">
                <a:latin typeface="+mn-lt"/>
                <a:ea typeface="+mn-ea"/>
                <a:cs typeface="+mn-cs"/>
                <a:sym typeface="Helvetica"/>
              </a:rPr>
              <a:t> et al., ICLR 2017</a:t>
            </a:r>
            <a:br>
              <a:rPr dirty="0"/>
            </a:b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https://arxiv.org/pdf/1609.02907.pdf</a:t>
            </a:r>
          </a:p>
          <a:p>
            <a:pPr>
              <a:spcBef>
                <a:spcPts val="500"/>
              </a:spcBef>
              <a:defRPr sz="2400"/>
            </a:pPr>
            <a:r>
              <a:rPr i="1" dirty="0">
                <a:latin typeface="+mn-lt"/>
                <a:ea typeface="+mn-ea"/>
                <a:cs typeface="+mn-cs"/>
                <a:sym typeface="Helvetica"/>
              </a:rPr>
              <a:t>Gilmer et al., ICML 2017</a:t>
            </a:r>
            <a:br>
              <a:rPr dirty="0"/>
            </a:b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https://arxiv.org/pdf/1704.01212.pdf</a:t>
            </a:r>
          </a:p>
        </p:txBody>
      </p:sp>
      <p:sp>
        <p:nvSpPr>
          <p:cNvPr id="590" name="Shape 5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 and further reading</a:t>
            </a:r>
          </a:p>
        </p:txBody>
      </p:sp>
      <p:sp>
        <p:nvSpPr>
          <p:cNvPr id="591" name="Shape 59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</p:spTree>
  </p:cSld>
  <p:clrMapOvr>
    <a:masterClrMapping/>
  </p:clrMapOvr>
  <p:transition spd="med" advTm="55415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1227B6-228D-4FF4-9E0E-BEC58970B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17999"/>
              </a:lnSpc>
              <a:spcBef>
                <a:spcPts val="0"/>
              </a:spcBef>
              <a:buSzTx/>
              <a:buNone/>
              <a:defRPr/>
            </a:pPr>
            <a:r>
              <a:rPr lang="en-US" sz="3200" dirty="0">
                <a:sym typeface="Helvetica Neue"/>
              </a:rPr>
              <a:t>How to do Deep Learning on Graphs with Graph Convolutional Networks</a:t>
            </a:r>
            <a:endParaRPr lang="en-US" dirty="0"/>
          </a:p>
          <a:p>
            <a:r>
              <a:rPr lang="en-US" dirty="0">
                <a:hlinkClick r:id="rId2"/>
              </a:rPr>
              <a:t>https://towardsdatascience.com/how-to-do-deep-learning-on-graphs-with-graph-convolutional-networks-7d2250723780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Strongly recommend to read and </a:t>
            </a:r>
            <a:r>
              <a:rPr lang="en-US" dirty="0" err="1"/>
              <a:t>excecise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095DBE-60EC-41F7-8079-123E471D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good tutorial with examples</a:t>
            </a:r>
          </a:p>
        </p:txBody>
      </p:sp>
    </p:spTree>
    <p:extLst>
      <p:ext uri="{BB962C8B-B14F-4D97-AF65-F5344CB8AC3E}">
        <p14:creationId xmlns:p14="http://schemas.microsoft.com/office/powerpoint/2010/main" val="1232906675"/>
      </p:ext>
    </p:extLst>
  </p:cSld>
  <p:clrMapOvr>
    <a:masterClrMapping/>
  </p:clrMapOvr>
  <p:transition spd="med" advTm="3473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FBF96E-09FD-402B-8569-5E264F1D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731" y="1996590"/>
            <a:ext cx="8229600" cy="34627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Motivation of designing a deep learning model on Graphs</a:t>
            </a:r>
          </a:p>
          <a:p>
            <a:r>
              <a:rPr lang="en-US" dirty="0"/>
              <a:t>What are the challenges</a:t>
            </a:r>
          </a:p>
          <a:p>
            <a:r>
              <a:rPr lang="en-US" dirty="0"/>
              <a:t>Adjacency matrix, node features matrix, degree</a:t>
            </a:r>
          </a:p>
          <a:p>
            <a:r>
              <a:rPr lang="en-US" dirty="0"/>
              <a:t>Normalization of the node matrix and adding the self-loop.</a:t>
            </a:r>
          </a:p>
          <a:p>
            <a:r>
              <a:rPr lang="en-US" dirty="0"/>
              <a:t>Node classification and whole graph classification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9CB6A1-2CDF-4A1B-B873-49E6EB4B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86297909"/>
      </p:ext>
    </p:extLst>
  </p:cSld>
  <p:clrMapOvr>
    <a:masterClrMapping/>
  </p:clrMapOvr>
  <p:transition spd="med" advTm="8389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D658E5-8112-4113-A392-43EE643B7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033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Deep Reinforcement learning (Deep Q-Learning)</a:t>
            </a:r>
          </a:p>
          <a:p>
            <a:r>
              <a:rPr lang="en-US" dirty="0"/>
              <a:t>Self-reading materials: 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*</a:t>
            </a:r>
            <a:r>
              <a:rPr lang="en-US" sz="2000" dirty="0">
                <a:solidFill>
                  <a:srgbClr val="222222"/>
                </a:solidFill>
              </a:rPr>
              <a:t>A good introductory book for reinforcement learning is </a:t>
            </a:r>
            <a:r>
              <a:rPr lang="en-US" sz="2000" dirty="0">
                <a:solidFill>
                  <a:srgbClr val="22222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Reinforcement Learning: An Introduction</a:t>
            </a:r>
          </a:p>
          <a:p>
            <a:pPr lvl="1"/>
            <a:r>
              <a:rPr lang="en-US" sz="2000" dirty="0"/>
              <a:t> 	</a:t>
            </a:r>
            <a:r>
              <a:rPr lang="en-US" sz="2000" dirty="0">
                <a:solidFill>
                  <a:srgbClr val="222222"/>
                </a:solidFill>
              </a:rPr>
              <a:t>https://web.mst.edu/~gosavia/tutorial.pdf</a:t>
            </a:r>
          </a:p>
          <a:p>
            <a:pPr lvl="1"/>
            <a:r>
              <a:rPr lang="en-US" sz="2000" dirty="0">
                <a:solidFill>
                  <a:srgbClr val="222222"/>
                </a:solidFill>
              </a:rPr>
              <a:t>V. </a:t>
            </a:r>
            <a:r>
              <a:rPr lang="en-US" sz="2000" dirty="0" err="1">
                <a:solidFill>
                  <a:srgbClr val="222222"/>
                </a:solidFill>
              </a:rPr>
              <a:t>Mnih</a:t>
            </a:r>
            <a:r>
              <a:rPr lang="en-US" sz="2000" dirty="0">
                <a:solidFill>
                  <a:srgbClr val="222222"/>
                </a:solidFill>
              </a:rPr>
              <a:t>, K. </a:t>
            </a:r>
            <a:r>
              <a:rPr lang="en-US" sz="2000" dirty="0" err="1">
                <a:solidFill>
                  <a:srgbClr val="222222"/>
                </a:solidFill>
              </a:rPr>
              <a:t>Kavukcuoglu</a:t>
            </a:r>
            <a:r>
              <a:rPr lang="en-US" sz="2000" dirty="0">
                <a:solidFill>
                  <a:srgbClr val="222222"/>
                </a:solidFill>
              </a:rPr>
              <a:t>, D. Silver, A. Graves, I. </a:t>
            </a:r>
            <a:r>
              <a:rPr lang="en-US" sz="2000" dirty="0" err="1">
                <a:solidFill>
                  <a:srgbClr val="222222"/>
                </a:solidFill>
              </a:rPr>
              <a:t>Antonoglou</a:t>
            </a:r>
            <a:r>
              <a:rPr lang="en-US" sz="2000" dirty="0">
                <a:solidFill>
                  <a:srgbClr val="222222"/>
                </a:solidFill>
              </a:rPr>
              <a:t>, D. </a:t>
            </a:r>
            <a:r>
              <a:rPr lang="en-US" sz="2000" dirty="0" err="1">
                <a:solidFill>
                  <a:srgbClr val="222222"/>
                </a:solidFill>
              </a:rPr>
              <a:t>Wierstra</a:t>
            </a:r>
            <a:r>
              <a:rPr lang="en-US" sz="2000" dirty="0">
                <a:solidFill>
                  <a:srgbClr val="222222"/>
                </a:solidFill>
              </a:rPr>
              <a:t>, M. </a:t>
            </a:r>
            <a:r>
              <a:rPr lang="en-US" sz="2000" dirty="0" err="1">
                <a:solidFill>
                  <a:srgbClr val="222222"/>
                </a:solidFill>
              </a:rPr>
              <a:t>Riedmiller</a:t>
            </a:r>
            <a:r>
              <a:rPr lang="en-US" sz="2000" dirty="0">
                <a:solidFill>
                  <a:srgbClr val="222222"/>
                </a:solidFill>
              </a:rPr>
              <a:t>,</a:t>
            </a:r>
            <a:r>
              <a:rPr lang="en" sz="2000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sz="2000" u="sng" dirty="0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Human-level control through deep reinforcement learning</a:t>
            </a: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,</a:t>
            </a:r>
            <a:r>
              <a:rPr lang="en" sz="2000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2000" i="1" dirty="0">
                <a:solidFill>
                  <a:srgbClr val="222222"/>
                </a:solidFill>
                <a:highlight>
                  <a:srgbClr val="FFFFFF"/>
                </a:highlight>
              </a:rPr>
              <a:t>Nature </a:t>
            </a:r>
            <a:r>
              <a:rPr lang="en-US" sz="2000" dirty="0">
                <a:solidFill>
                  <a:srgbClr val="222222"/>
                </a:solidFill>
                <a:highlight>
                  <a:srgbClr val="FFFFFF"/>
                </a:highlight>
              </a:rPr>
              <a:t>2015</a:t>
            </a:r>
            <a:endParaRPr lang="en" sz="20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lvl="1"/>
            <a:r>
              <a:rPr lang="en-US" sz="2000" dirty="0">
                <a:solidFill>
                  <a:schemeClr val="accent2"/>
                </a:solidFill>
                <a:highlight>
                  <a:srgbClr val="FFFFFF"/>
                </a:highlight>
              </a:rPr>
              <a:t>:</a:t>
            </a:r>
            <a:r>
              <a:rPr lang="en-US" sz="2000" dirty="0"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22222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https://adeshpande3.github.io/Deep-Learning-Research-Review-Week-2-Reinforcement-Learning</a:t>
            </a:r>
            <a:endParaRPr lang="en-US" sz="2000" dirty="0">
              <a:solidFill>
                <a:srgbClr val="222222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D6DC19-00F4-4F67-AFE5-48C087294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other area in DL</a:t>
            </a:r>
            <a:br>
              <a:rPr lang="en-US" dirty="0"/>
            </a:br>
            <a:r>
              <a:rPr lang="en-US" dirty="0"/>
              <a:t>not covered in this module</a:t>
            </a:r>
          </a:p>
        </p:txBody>
      </p:sp>
    </p:spTree>
    <p:extLst>
      <p:ext uri="{BB962C8B-B14F-4D97-AF65-F5344CB8AC3E}">
        <p14:creationId xmlns:p14="http://schemas.microsoft.com/office/powerpoint/2010/main" val="3209284866"/>
      </p:ext>
    </p:extLst>
  </p:cSld>
  <p:clrMapOvr>
    <a:masterClrMapping/>
  </p:clrMapOvr>
  <p:transition spd="med" advTm="6459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deep 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35" y="1370474"/>
            <a:ext cx="8229600" cy="5257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AlphaGo and </a:t>
            </a:r>
            <a:r>
              <a:rPr lang="en-US" dirty="0" err="1"/>
              <a:t>AlphaZero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5293"/>
            <a:ext cx="4330479" cy="3234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5442" y="5926359"/>
            <a:ext cx="4314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deepmind.com</a:t>
            </a:r>
            <a:r>
              <a:rPr lang="en-US" dirty="0">
                <a:hlinkClick r:id="rId4"/>
              </a:rPr>
              <a:t>/research/</a:t>
            </a:r>
            <a:r>
              <a:rPr lang="en-US" dirty="0" err="1">
                <a:hlinkClick r:id="rId4"/>
              </a:rPr>
              <a:t>alphago</a:t>
            </a:r>
            <a:r>
              <a:rPr lang="en-US" dirty="0">
                <a:hlinkClick r:id="rId4"/>
              </a:rPr>
              <a:t>/</a:t>
            </a:r>
            <a:endParaRPr lang="en-US" dirty="0"/>
          </a:p>
        </p:txBody>
      </p:sp>
      <p:pic>
        <p:nvPicPr>
          <p:cNvPr id="10" name="Picture 9" descr="Screen Shot 2016-09-20 at 3.08.25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507" y="2175293"/>
            <a:ext cx="3456986" cy="31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69203"/>
      </p:ext>
    </p:extLst>
  </p:cSld>
  <p:clrMapOvr>
    <a:masterClrMapping/>
  </p:clrMapOvr>
  <p:transition spd="med" advTm="13585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D658E5-8112-4113-A392-43EE643B7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3260084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6000" dirty="0"/>
              <a:t>Deep Learning </a:t>
            </a:r>
          </a:p>
          <a:p>
            <a:pPr marL="457200" lvl="1" indent="0" algn="ctr">
              <a:buNone/>
            </a:pPr>
            <a:r>
              <a:rPr lang="en-US" sz="6000" dirty="0"/>
              <a:t>and </a:t>
            </a:r>
          </a:p>
          <a:p>
            <a:pPr marL="457200" lvl="1" indent="0" algn="ctr">
              <a:buNone/>
            </a:pPr>
            <a:r>
              <a:rPr lang="en-US" sz="6000" dirty="0"/>
              <a:t>Learning Deeper</a:t>
            </a:r>
          </a:p>
        </p:txBody>
      </p:sp>
    </p:spTree>
    <p:extLst>
      <p:ext uri="{BB962C8B-B14F-4D97-AF65-F5344CB8AC3E}">
        <p14:creationId xmlns:p14="http://schemas.microsoft.com/office/powerpoint/2010/main" val="3376205396"/>
      </p:ext>
    </p:extLst>
  </p:cSld>
  <p:clrMapOvr>
    <a:masterClrMapping/>
  </p:clrMapOvr>
  <p:transition spd="med" advTm="51667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2.4"/>
</p:tagLst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6484</TotalTime>
  <Words>2840</Words>
  <Application>Microsoft Office PowerPoint</Application>
  <PresentationFormat>On-screen Show (4:3)</PresentationFormat>
  <Paragraphs>370</Paragraphs>
  <Slides>61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Helvetica Neue</vt:lpstr>
      <vt:lpstr>Arial</vt:lpstr>
      <vt:lpstr>Calibri</vt:lpstr>
      <vt:lpstr>Cambria Math</vt:lpstr>
      <vt:lpstr>Default</vt:lpstr>
      <vt:lpstr>Deep Learning (CS324)  11. Beyond vectors: DL on graphs*</vt:lpstr>
      <vt:lpstr>Features vs Structure</vt:lpstr>
      <vt:lpstr>Features vs Structure</vt:lpstr>
      <vt:lpstr>Features vs Structure</vt:lpstr>
      <vt:lpstr>Features vs Structure</vt:lpstr>
      <vt:lpstr>Features vs Structure</vt:lpstr>
      <vt:lpstr>Features vs Structure</vt:lpstr>
      <vt:lpstr>Features vs Structure</vt:lpstr>
      <vt:lpstr>Graphs</vt:lpstr>
      <vt:lpstr>Graphs</vt:lpstr>
      <vt:lpstr>Graphs</vt:lpstr>
      <vt:lpstr>Graphs</vt:lpstr>
      <vt:lpstr>Graphs</vt:lpstr>
      <vt:lpstr>Graphs</vt:lpstr>
      <vt:lpstr>Graphs</vt:lpstr>
      <vt:lpstr>Graphs</vt:lpstr>
      <vt:lpstr>Graphs</vt:lpstr>
      <vt:lpstr>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Learning on graphs</vt:lpstr>
      <vt:lpstr>Graph Convolutional Networks</vt:lpstr>
      <vt:lpstr>Graph Convolutional Networks</vt:lpstr>
      <vt:lpstr>Graph Convolutional Networks</vt:lpstr>
      <vt:lpstr>Graph Convolutional Networks</vt:lpstr>
      <vt:lpstr>Graph Convolutional Networks</vt:lpstr>
      <vt:lpstr>Graph Convolutional Networks</vt:lpstr>
      <vt:lpstr>Graph Convolutional Networks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GCN: a simple example</vt:lpstr>
      <vt:lpstr>PowerPoint Presentation</vt:lpstr>
      <vt:lpstr>Graph Convolutional Networks Receptive Field and Feature Depth</vt:lpstr>
      <vt:lpstr>GCN for node classification</vt:lpstr>
      <vt:lpstr>GCN for node classification</vt:lpstr>
      <vt:lpstr>GCN for node classification</vt:lpstr>
      <vt:lpstr>GCN for graph classification</vt:lpstr>
      <vt:lpstr>References and further reading</vt:lpstr>
      <vt:lpstr>A very good tutorial with examples</vt:lpstr>
      <vt:lpstr>Summary</vt:lpstr>
      <vt:lpstr>One other area in DL not covered in this module</vt:lpstr>
      <vt:lpstr>Applications of deep RL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(CS324)  11. Beyond vectors: DL on graphs*</dc:title>
  <dc:creator>zjg</dc:creator>
  <cp:lastModifiedBy>e10270</cp:lastModifiedBy>
  <cp:revision>60</cp:revision>
  <dcterms:modified xsi:type="dcterms:W3CDTF">2024-05-29T05:03:30Z</dcterms:modified>
</cp:coreProperties>
</file>