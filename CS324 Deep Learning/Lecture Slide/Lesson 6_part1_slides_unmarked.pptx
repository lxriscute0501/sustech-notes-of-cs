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327" r:id="rId3"/>
    <p:sldId id="328" r:id="rId4"/>
    <p:sldId id="329" r:id="rId5"/>
    <p:sldId id="330" r:id="rId6"/>
    <p:sldId id="326"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7E7"/>
          </a:solidFill>
        </a:fill>
      </a:tcStyle>
    </a:wholeTbl>
    <a:band2H>
      <a:tcTxStyle/>
      <a:tcStyle>
        <a:tcBdr/>
        <a:fill>
          <a:solidFill>
            <a:srgbClr val="E8ECF4"/>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1"/>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1"/>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1"/>
          </a:solidFill>
        </a:fill>
      </a:tcStyle>
    </a:firstRow>
  </a:tblStyle>
  <a:tblStyle styleId="{C7B018BB-80A7-4F77-B60F-C8B233D01FF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EE7D0"/>
          </a:solidFill>
        </a:fill>
      </a:tcStyle>
    </a:wholeTbl>
    <a:band2H>
      <a:tcTxStyle/>
      <a:tcStyle>
        <a:tcBdr/>
        <a:fill>
          <a:solidFill>
            <a:srgbClr val="EFF3E9"/>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3"/>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3"/>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3"/>
          </a:solidFill>
        </a:fill>
      </a:tcStyle>
    </a:firstRow>
  </a:tblStyle>
  <a:tblStyle styleId="{EEE7283C-3CF3-47DC-8721-378D4A62B22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CDCCE"/>
          </a:solidFill>
        </a:fill>
      </a:tcStyle>
    </a:wholeTbl>
    <a:band2H>
      <a:tcTxStyle/>
      <a:tcStyle>
        <a:tcBdr/>
        <a:fill>
          <a:solidFill>
            <a:srgbClr val="FDEEE8"/>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6"/>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6"/>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6"/>
          </a:solidFill>
        </a:fill>
      </a:tcStyle>
    </a:firstRow>
  </a:tblStyle>
  <a:tblStyle styleId="{CF821DB8-F4EB-4A41-A1BA-3FCAFE7338EE}" styleName="">
    <a:tblBg/>
    <a:wholeTbl>
      <a:tcTxStyle b="on" i="on">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n">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0000"/>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0000"/>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0000"/>
          </a:solidFill>
        </a:fill>
      </a:tcStyle>
    </a:firstRow>
  </a:tblStyle>
  <a:tblStyle styleId="{2708684C-4D16-4618-839F-0558EEFCDFE6}" styleName="">
    <a:tblBg/>
    <a:wholeTb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7346" autoAdjust="0"/>
  </p:normalViewPr>
  <p:slideViewPr>
    <p:cSldViewPr snapToGrid="0">
      <p:cViewPr varScale="1">
        <p:scale>
          <a:sx n="61" d="100"/>
          <a:sy n="61" d="100"/>
        </p:scale>
        <p:origin x="1650"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20626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7802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AutoNum type="arabicPeriod"/>
            </a:pPr>
            <a:r>
              <a:rPr lang="en-US" dirty="0"/>
              <a:t>Good tutorial about weight initialization: https://prateekvjoshi.com/2016/03/29/understanding-xavier-initialization-in-deep-neural-networks/</a:t>
            </a:r>
          </a:p>
          <a:p>
            <a:pPr marL="457200" indent="-457200">
              <a:buAutoNum type="arabicPeriod"/>
            </a:pPr>
            <a:r>
              <a:rPr lang="en-US" dirty="0"/>
              <a:t>Paper of Xavier initialization: </a:t>
            </a:r>
          </a:p>
          <a:p>
            <a:endParaRPr lang="en-US" dirty="0"/>
          </a:p>
        </p:txBody>
      </p:sp>
    </p:spTree>
    <p:extLst>
      <p:ext uri="{BB962C8B-B14F-4D97-AF65-F5344CB8AC3E}">
        <p14:creationId xmlns:p14="http://schemas.microsoft.com/office/powerpoint/2010/main" val="3863012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0779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0329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Shape 11"/>
          <p:cNvSpPr txBox="1">
            <a:spLocks noGrp="1"/>
          </p:cNvSpPr>
          <p:nvPr>
            <p:ph type="title"/>
          </p:nvPr>
        </p:nvSpPr>
        <p:spPr>
          <a:xfrm>
            <a:off x="685800" y="1844675"/>
            <a:ext cx="7772400" cy="2041525"/>
          </a:xfrm>
          <a:prstGeom prst="rect">
            <a:avLst/>
          </a:prstGeom>
        </p:spPr>
        <p:txBody>
          <a:bodyPr/>
          <a:lstStyle/>
          <a:p>
            <a:r>
              <a:t>Title Text</a:t>
            </a:r>
          </a:p>
        </p:txBody>
      </p:sp>
      <p:sp>
        <p:nvSpPr>
          <p:cNvPr id="12" name="Shape 12"/>
          <p:cNvSpPr txBox="1">
            <a:spLocks noGrp="1"/>
          </p:cNvSpPr>
          <p:nvPr>
            <p:ph type="body" sz="half" idx="1"/>
          </p:nvPr>
        </p:nvSpPr>
        <p:spPr>
          <a:xfrm>
            <a:off x="1371600" y="3886200"/>
            <a:ext cx="6400800" cy="2971800"/>
          </a:xfrm>
          <a:prstGeom prst="rect">
            <a:avLst/>
          </a:prstGeom>
        </p:spPr>
        <p:txBody>
          <a:bodyPr/>
          <a:lstStyle>
            <a:lvl1pPr marL="0" indent="0" algn="ctr">
              <a:buSzTx/>
              <a:buFontTx/>
              <a:buNone/>
              <a:defRPr sz="3200">
                <a:solidFill>
                  <a:srgbClr val="888888"/>
                </a:solidFill>
              </a:defRPr>
            </a:lvl1pPr>
            <a:lvl2pPr marL="0" indent="457200" algn="ctr">
              <a:buSzTx/>
              <a:buFontTx/>
              <a:buNone/>
              <a:defRPr sz="3200">
                <a:solidFill>
                  <a:srgbClr val="888888"/>
                </a:solidFill>
              </a:defRPr>
            </a:lvl2pPr>
            <a:lvl3pPr marL="0" indent="914400" algn="ctr">
              <a:buSzTx/>
              <a:buFontTx/>
              <a:buNone/>
              <a:defRPr sz="3200">
                <a:solidFill>
                  <a:srgbClr val="888888"/>
                </a:solidFill>
              </a:defRPr>
            </a:lvl3pPr>
            <a:lvl4pPr marL="0" indent="1371600" algn="ctr">
              <a:buSzTx/>
              <a:buFontTx/>
              <a:buNone/>
              <a:defRPr sz="3200">
                <a:solidFill>
                  <a:srgbClr val="888888"/>
                </a:solidFill>
              </a:defRPr>
            </a:lvl4pPr>
            <a:lvl5pPr marL="0" indent="1828800" algn="ctr">
              <a:buSzTx/>
              <a:buFontTx/>
              <a:buNone/>
              <a:defRPr sz="32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hape 13"/>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Shape 20"/>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1" name="Shape 21"/>
          <p:cNvSpPr txBox="1">
            <a:spLocks noGrp="1"/>
          </p:cNvSpPr>
          <p:nvPr>
            <p:ph type="title"/>
          </p:nvPr>
        </p:nvSpPr>
        <p:spPr>
          <a:prstGeom prst="rect">
            <a:avLst/>
          </a:prstGeom>
        </p:spPr>
        <p:txBody>
          <a:bodyPr/>
          <a:lstStyle/>
          <a:p>
            <a:r>
              <a:t>Title Text</a:t>
            </a:r>
          </a:p>
        </p:txBody>
      </p:sp>
      <p:sp>
        <p:nvSpPr>
          <p:cNvPr id="22" name="Shape 22"/>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Shape 29"/>
          <p:cNvSpPr txBox="1">
            <a:spLocks noGrp="1"/>
          </p:cNvSpPr>
          <p:nvPr>
            <p:ph type="title"/>
          </p:nvPr>
        </p:nvSpPr>
        <p:spPr>
          <a:xfrm>
            <a:off x="722312" y="4406900"/>
            <a:ext cx="7772401" cy="1362075"/>
          </a:xfrm>
          <a:prstGeom prst="rect">
            <a:avLst/>
          </a:prstGeom>
        </p:spPr>
        <p:txBody>
          <a:bodyPr anchor="t"/>
          <a:lstStyle>
            <a:lvl1pPr algn="l">
              <a:defRPr sz="4000" b="1" cap="all">
                <a:latin typeface="+mn-lt"/>
                <a:ea typeface="+mn-ea"/>
                <a:cs typeface="+mn-cs"/>
                <a:sym typeface="Helvetica"/>
              </a:defRPr>
            </a:lvl1pPr>
          </a:lstStyle>
          <a:p>
            <a:r>
              <a:t>Title Text</a:t>
            </a:r>
          </a:p>
        </p:txBody>
      </p:sp>
      <p:sp>
        <p:nvSpPr>
          <p:cNvPr id="30" name="Shape 30"/>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hape 3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Shape 38"/>
          <p:cNvSpPr txBox="1">
            <a:spLocks noGrp="1"/>
          </p:cNvSpPr>
          <p:nvPr>
            <p:ph type="title"/>
          </p:nvPr>
        </p:nvSpPr>
        <p:spPr>
          <a:prstGeom prst="rect">
            <a:avLst/>
          </a:prstGeom>
        </p:spPr>
        <p:txBody>
          <a:bodyPr/>
          <a:lstStyle/>
          <a:p>
            <a:r>
              <a:t>Title Text</a:t>
            </a:r>
          </a:p>
        </p:txBody>
      </p:sp>
      <p:sp>
        <p:nvSpPr>
          <p:cNvPr id="39" name="Shape 39"/>
          <p:cNvSpPr txBox="1">
            <a:spLocks noGrp="1"/>
          </p:cNvSpPr>
          <p:nvPr>
            <p:ph type="body" sz="half" idx="1"/>
          </p:nvPr>
        </p:nvSpPr>
        <p:spPr>
          <a:xfrm>
            <a:off x="457200" y="1600200"/>
            <a:ext cx="4038600" cy="5257800"/>
          </a:xfrm>
          <a:prstGeom prst="rect">
            <a:avLst/>
          </a:prstGeom>
        </p:spPr>
        <p:txBody>
          <a:bodyPr/>
          <a:lstStyle>
            <a:lvl1pPr marL="342900" indent="-342900">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hape 40"/>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Shape 47"/>
          <p:cNvSpPr txBox="1">
            <a:spLocks noGrp="1"/>
          </p:cNvSpPr>
          <p:nvPr>
            <p:ph type="title"/>
          </p:nvPr>
        </p:nvSpPr>
        <p:spPr>
          <a:xfrm>
            <a:off x="457200" y="256810"/>
            <a:ext cx="8229600" cy="1178656"/>
          </a:xfrm>
          <a:prstGeom prst="rect">
            <a:avLst/>
          </a:prstGeom>
        </p:spPr>
        <p:txBody>
          <a:bodyPr/>
          <a:lstStyle/>
          <a:p>
            <a:r>
              <a:t>Title Text</a:t>
            </a:r>
          </a:p>
        </p:txBody>
      </p:sp>
      <p:sp>
        <p:nvSpPr>
          <p:cNvPr id="48" name="Shape 48"/>
          <p:cNvSpPr txBox="1">
            <a:spLocks noGrp="1"/>
          </p:cNvSpPr>
          <p:nvPr>
            <p:ph type="body" sz="quarter" idx="1"/>
          </p:nvPr>
        </p:nvSpPr>
        <p:spPr>
          <a:xfrm>
            <a:off x="457200" y="1435465"/>
            <a:ext cx="4040188" cy="739411"/>
          </a:xfrm>
          <a:prstGeom prst="rect">
            <a:avLst/>
          </a:prstGeom>
        </p:spPr>
        <p:txBody>
          <a:bodyPr anchor="b"/>
          <a:lstStyle>
            <a:lvl1pPr marL="0" indent="0">
              <a:spcBef>
                <a:spcPts val="500"/>
              </a:spcBef>
              <a:buSzTx/>
              <a:buFontTx/>
              <a:buNone/>
              <a:defRPr sz="2400" b="1">
                <a:latin typeface="+mn-lt"/>
                <a:ea typeface="+mn-ea"/>
                <a:cs typeface="+mn-cs"/>
                <a:sym typeface="Helvetica"/>
              </a:defRPr>
            </a:lvl1pPr>
            <a:lvl2pPr marL="0" indent="457200">
              <a:spcBef>
                <a:spcPts val="500"/>
              </a:spcBef>
              <a:buSzTx/>
              <a:buFontTx/>
              <a:buNone/>
              <a:defRPr sz="2400" b="1">
                <a:latin typeface="+mn-lt"/>
                <a:ea typeface="+mn-ea"/>
                <a:cs typeface="+mn-cs"/>
                <a:sym typeface="Helvetica"/>
              </a:defRPr>
            </a:lvl2pPr>
            <a:lvl3pPr marL="0" indent="914400">
              <a:spcBef>
                <a:spcPts val="500"/>
              </a:spcBef>
              <a:buSzTx/>
              <a:buFontTx/>
              <a:buNone/>
              <a:defRPr sz="2400" b="1">
                <a:latin typeface="+mn-lt"/>
                <a:ea typeface="+mn-ea"/>
                <a:cs typeface="+mn-cs"/>
                <a:sym typeface="Helvetica"/>
              </a:defRPr>
            </a:lvl3pPr>
            <a:lvl4pPr marL="0" indent="1371600">
              <a:spcBef>
                <a:spcPts val="500"/>
              </a:spcBef>
              <a:buSzTx/>
              <a:buFontTx/>
              <a:buNone/>
              <a:defRPr sz="2400" b="1">
                <a:latin typeface="+mn-lt"/>
                <a:ea typeface="+mn-ea"/>
                <a:cs typeface="+mn-cs"/>
                <a:sym typeface="Helvetica"/>
              </a:defRPr>
            </a:lvl4pPr>
            <a:lvl5pPr marL="0" indent="1828800">
              <a:spcBef>
                <a:spcPts val="500"/>
              </a:spcBef>
              <a:buSzTx/>
              <a:buFontTx/>
              <a:buNone/>
              <a:defRPr sz="2400" b="1">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49" name="Shape 49"/>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6" name="Shape 56"/>
          <p:cNvSpPr txBox="1">
            <a:spLocks noGrp="1"/>
          </p:cNvSpPr>
          <p:nvPr>
            <p:ph type="title"/>
          </p:nvPr>
        </p:nvSpPr>
        <p:spPr>
          <a:prstGeom prst="rect">
            <a:avLst/>
          </a:prstGeom>
        </p:spPr>
        <p:txBody>
          <a:bodyPr/>
          <a:lstStyle/>
          <a:p>
            <a:r>
              <a:t>Title Text</a:t>
            </a:r>
          </a:p>
        </p:txBody>
      </p:sp>
      <p:sp>
        <p:nvSpPr>
          <p:cNvPr id="57" name="Shape 57"/>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4" name="Shape 64"/>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1" name="Shape 71"/>
          <p:cNvSpPr txBox="1">
            <a:spLocks noGrp="1"/>
          </p:cNvSpPr>
          <p:nvPr>
            <p:ph type="body" idx="1"/>
          </p:nvPr>
        </p:nvSpPr>
        <p:spPr>
          <a:xfrm>
            <a:off x="3575050" y="273050"/>
            <a:ext cx="5111750" cy="6584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2" name="Shape 72"/>
          <p:cNvSpPr txBox="1">
            <a:spLocks noGrp="1"/>
          </p:cNvSpPr>
          <p:nvPr>
            <p:ph type="title"/>
          </p:nvPr>
        </p:nvSpPr>
        <p:spPr>
          <a:xfrm>
            <a:off x="457200" y="0"/>
            <a:ext cx="3008314" cy="1435100"/>
          </a:xfrm>
          <a:prstGeom prst="rect">
            <a:avLst/>
          </a:prstGeom>
        </p:spPr>
        <p:txBody>
          <a:bodyPr anchor="b"/>
          <a:lstStyle>
            <a:lvl1pPr algn="l">
              <a:defRPr sz="2000" b="1">
                <a:latin typeface="+mn-lt"/>
                <a:ea typeface="+mn-ea"/>
                <a:cs typeface="+mn-cs"/>
                <a:sym typeface="Helvetica"/>
              </a:defRPr>
            </a:lvl1pPr>
          </a:lstStyle>
          <a:p>
            <a:r>
              <a:t>Title Text</a:t>
            </a:r>
          </a:p>
        </p:txBody>
      </p:sp>
      <p:sp>
        <p:nvSpPr>
          <p:cNvPr id="73" name="Shape 73"/>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0" name="Shape 80"/>
          <p:cNvSpPr txBox="1">
            <a:spLocks noGrp="1"/>
          </p:cNvSpPr>
          <p:nvPr>
            <p:ph type="title"/>
          </p:nvPr>
        </p:nvSpPr>
        <p:spPr>
          <a:xfrm>
            <a:off x="1346200" y="4800600"/>
            <a:ext cx="6362700" cy="566738"/>
          </a:xfrm>
          <a:prstGeom prst="rect">
            <a:avLst/>
          </a:prstGeom>
        </p:spPr>
        <p:txBody>
          <a:bodyPr anchor="b"/>
          <a:lstStyle>
            <a:lvl1pPr algn="l">
              <a:defRPr sz="2000" b="1">
                <a:latin typeface="+mn-lt"/>
                <a:ea typeface="+mn-ea"/>
                <a:cs typeface="+mn-cs"/>
                <a:sym typeface="Helvetica"/>
              </a:defRPr>
            </a:lvl1pPr>
          </a:lstStyle>
          <a:p>
            <a:r>
              <a:t>Title Text</a:t>
            </a:r>
          </a:p>
        </p:txBody>
      </p:sp>
      <p:sp>
        <p:nvSpPr>
          <p:cNvPr id="81" name="Shape 81"/>
          <p:cNvSpPr txBox="1">
            <a:spLocks noGrp="1"/>
          </p:cNvSpPr>
          <p:nvPr>
            <p:ph type="body" sz="quarter" idx="1"/>
          </p:nvPr>
        </p:nvSpPr>
        <p:spPr>
          <a:xfrm>
            <a:off x="1346200" y="5367337"/>
            <a:ext cx="6362700"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2" name="Shape 82"/>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89" name="Shape 89"/>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0" name="Shape 90"/>
          <p:cNvSpPr txBox="1">
            <a:spLocks noGrp="1"/>
          </p:cNvSpPr>
          <p:nvPr>
            <p:ph type="title"/>
          </p:nvPr>
        </p:nvSpPr>
        <p:spPr>
          <a:prstGeom prst="rect">
            <a:avLst/>
          </a:prstGeom>
        </p:spPr>
        <p:txBody>
          <a:bodyPr/>
          <a:lstStyle/>
          <a:p>
            <a:r>
              <a:t>Title Text</a:t>
            </a:r>
          </a:p>
        </p:txBody>
      </p:sp>
      <p:sp>
        <p:nvSpPr>
          <p:cNvPr id="91" name="Shape 9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98" name="Shape 98"/>
          <p:cNvSpPr txBox="1">
            <a:spLocks noGrp="1"/>
          </p:cNvSpPr>
          <p:nvPr>
            <p:ph type="title"/>
          </p:nvPr>
        </p:nvSpPr>
        <p:spPr>
          <a:xfrm>
            <a:off x="6629400" y="0"/>
            <a:ext cx="2057400" cy="6400802"/>
          </a:xfrm>
          <a:prstGeom prst="rect">
            <a:avLst/>
          </a:prstGeom>
        </p:spPr>
        <p:txBody>
          <a:bodyPr/>
          <a:lstStyle/>
          <a:p>
            <a:r>
              <a:t>Title Text</a:t>
            </a:r>
          </a:p>
        </p:txBody>
      </p:sp>
      <p:sp>
        <p:nvSpPr>
          <p:cNvPr id="99" name="Shape 99"/>
          <p:cNvSpPr txBox="1">
            <a:spLocks noGrp="1"/>
          </p:cNvSpPr>
          <p:nvPr>
            <p:ph type="body" idx="1"/>
          </p:nvPr>
        </p:nvSpPr>
        <p:spPr>
          <a:xfrm>
            <a:off x="457200" y="274638"/>
            <a:ext cx="6019800" cy="65833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0" name="Shape 100"/>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txBox="1">
            <a:spLocks noGrp="1"/>
          </p:cNvSpPr>
          <p:nvPr>
            <p:ph type="body" idx="1"/>
          </p:nvPr>
        </p:nvSpPr>
        <p:spPr>
          <a:xfrm>
            <a:off x="457200" y="1600200"/>
            <a:ext cx="82296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3" name="Shape 3"/>
          <p:cNvSpPr txBox="1">
            <a:spLocks noGrp="1"/>
          </p:cNvSpPr>
          <p:nvPr>
            <p:ph type="title"/>
          </p:nvPr>
        </p:nvSpPr>
        <p:spPr>
          <a:xfrm>
            <a:off x="457200" y="92076"/>
            <a:ext cx="8229600" cy="15081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4" name="Shape 4"/>
          <p:cNvSpPr txBox="1">
            <a:spLocks noGrp="1"/>
          </p:cNvSpPr>
          <p:nvPr>
            <p:ph type="sldNum" sz="quarter" idx="2"/>
          </p:nvPr>
        </p:nvSpPr>
        <p:spPr>
          <a:xfrm>
            <a:off x="6553200" y="6414760"/>
            <a:ext cx="2133600" cy="248305"/>
          </a:xfrm>
          <a:prstGeom prst="rect">
            <a:avLst/>
          </a:prstGeom>
          <a:ln w="12700">
            <a:miter lim="400000"/>
          </a:ln>
        </p:spPr>
        <p:txBody>
          <a:bodyPr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9pPr>
    </p:titleStyle>
    <p:bodyStyle>
      <a:lvl1pPr marL="321468" marR="0" indent="-321468"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1pPr>
      <a:lvl2pPr marL="763360" marR="0" indent="-30616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2pPr>
      <a:lvl3pPr marL="1200150" marR="0" indent="-28575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3pPr>
      <a:lvl4pPr marL="17145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4pPr>
      <a:lvl5pPr marL="21717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5pPr>
      <a:lvl6pPr marL="26289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6pPr>
      <a:lvl7pPr marL="30861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7pPr>
      <a:lvl8pPr marL="35433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8pPr>
      <a:lvl9pPr marL="40005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deeplearningbook.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hyperlink" Target="https://blog.paperspace.com/vanishing-gradients-activation-func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cs231n.github.io/neural-networks-2/"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a:t>
            </a:fld>
            <a:endParaRPr/>
          </a:p>
        </p:txBody>
      </p:sp>
      <p:sp>
        <p:nvSpPr>
          <p:cNvPr id="110" name="Shape 110"/>
          <p:cNvSpPr txBox="1">
            <a:spLocks noGrp="1"/>
          </p:cNvSpPr>
          <p:nvPr>
            <p:ph type="ctrTitle"/>
          </p:nvPr>
        </p:nvSpPr>
        <p:spPr>
          <a:xfrm>
            <a:off x="685800" y="371475"/>
            <a:ext cx="7772400" cy="3425230"/>
          </a:xfrm>
          <a:prstGeom prst="rect">
            <a:avLst/>
          </a:prstGeom>
        </p:spPr>
        <p:txBody>
          <a:bodyPr/>
          <a:lstStyle/>
          <a:p>
            <a:pPr>
              <a:defRPr sz="3400"/>
            </a:pPr>
            <a:r>
              <a:rPr dirty="0"/>
              <a:t>Deep Learning (CS324)</a:t>
            </a:r>
          </a:p>
          <a:p>
            <a:pPr>
              <a:defRPr sz="3400"/>
            </a:pPr>
            <a:endParaRPr dirty="0"/>
          </a:p>
          <a:p>
            <a:pPr>
              <a:defRPr sz="3400">
                <a:solidFill>
                  <a:schemeClr val="accent2"/>
                </a:solidFill>
                <a:latin typeface="Chalkboard"/>
                <a:ea typeface="Chalkboard"/>
                <a:cs typeface="Chalkboard"/>
                <a:sym typeface="Chalkboard"/>
              </a:defRPr>
            </a:pPr>
            <a:r>
              <a:rPr dirty="0"/>
              <a:t>4. </a:t>
            </a:r>
            <a:r>
              <a:rPr dirty="0" err="1"/>
              <a:t>Optimisation</a:t>
            </a:r>
            <a:r>
              <a:rPr dirty="0"/>
              <a:t> and </a:t>
            </a:r>
            <a:r>
              <a:rPr dirty="0" err="1"/>
              <a:t>regularisation</a:t>
            </a:r>
            <a:r>
              <a:rPr sz="3000" baseline="31999" dirty="0"/>
              <a:t>*</a:t>
            </a:r>
            <a:br>
              <a:rPr lang="en-US" sz="3000" baseline="31999" dirty="0"/>
            </a:br>
            <a:r>
              <a:rPr lang="en-US" sz="3400" dirty="0">
                <a:solidFill>
                  <a:schemeClr val="accent2"/>
                </a:solidFill>
                <a:latin typeface="Chalkboard"/>
              </a:rPr>
              <a:t>(Continued)</a:t>
            </a:r>
            <a:endParaRPr sz="3400" dirty="0">
              <a:solidFill>
                <a:schemeClr val="accent2"/>
              </a:solidFill>
              <a:latin typeface="Chalkboard"/>
            </a:endParaRPr>
          </a:p>
        </p:txBody>
      </p:sp>
      <p:sp>
        <p:nvSpPr>
          <p:cNvPr id="111" name="Shape 111"/>
          <p:cNvSpPr txBox="1">
            <a:spLocks noGrp="1"/>
          </p:cNvSpPr>
          <p:nvPr>
            <p:ph type="subTitle" sz="half" idx="1"/>
          </p:nvPr>
        </p:nvSpPr>
        <p:spPr>
          <a:prstGeom prst="rect">
            <a:avLst/>
          </a:prstGeom>
        </p:spPr>
        <p:txBody>
          <a:bodyPr/>
          <a:lstStyle/>
          <a:p>
            <a:pPr>
              <a:defRPr sz="2800"/>
            </a:pPr>
            <a:r>
              <a:rPr lang="en-US" dirty="0"/>
              <a:t>Prof. Jianguo Zhang</a:t>
            </a:r>
            <a:endParaRPr dirty="0"/>
          </a:p>
          <a:p>
            <a:pPr>
              <a:defRPr sz="2800"/>
            </a:pPr>
            <a:r>
              <a:rPr dirty="0" err="1"/>
              <a:t>SUSTech</a:t>
            </a:r>
            <a:endParaRPr dirty="0"/>
          </a:p>
        </p:txBody>
      </p:sp>
      <p:sp>
        <p:nvSpPr>
          <p:cNvPr id="112" name="Shape 112"/>
          <p:cNvSpPr txBox="1"/>
          <p:nvPr/>
        </p:nvSpPr>
        <p:spPr>
          <a:xfrm>
            <a:off x="2582150" y="6404292"/>
            <a:ext cx="3979700"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200"/>
            </a:pPr>
            <a:r>
              <a:rPr>
                <a:solidFill>
                  <a:schemeClr val="accent2"/>
                </a:solidFill>
              </a:rPr>
              <a:t>*</a:t>
            </a:r>
            <a:r>
              <a:t>Based on </a:t>
            </a:r>
            <a:r>
              <a:rPr u="sng">
                <a:solidFill>
                  <a:srgbClr val="0000FF"/>
                </a:solidFill>
                <a:uFill>
                  <a:solidFill>
                    <a:srgbClr val="0000FF"/>
                  </a:solidFill>
                </a:uFill>
                <a:hlinkClick r:id="rId3"/>
              </a:rPr>
              <a:t>http://www.deeplearningbook.org</a:t>
            </a:r>
            <a:r>
              <a:t> chapters 7 and 8</a:t>
            </a:r>
          </a:p>
        </p:txBody>
      </p:sp>
    </p:spTree>
  </p:cSld>
  <p:clrMapOvr>
    <a:masterClrMapping/>
  </p:clrMapOvr>
  <p:transition spd="med" advTm="8329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5574CA-C32C-49B3-87C4-7EBED446254D}"/>
              </a:ext>
            </a:extLst>
          </p:cNvPr>
          <p:cNvSpPr>
            <a:spLocks noGrp="1"/>
          </p:cNvSpPr>
          <p:nvPr>
            <p:ph type="body" idx="1"/>
          </p:nvPr>
        </p:nvSpPr>
        <p:spPr>
          <a:xfrm>
            <a:off x="457200" y="1920631"/>
            <a:ext cx="8229600" cy="4706815"/>
          </a:xfrm>
        </p:spPr>
        <p:txBody>
          <a:bodyPr>
            <a:noAutofit/>
          </a:bodyPr>
          <a:lstStyle/>
          <a:p>
            <a:r>
              <a:rPr lang="en-US" sz="2300" dirty="0"/>
              <a:t>Regulations on Academic Misconduct in Assignments for Undergraduate Students in the </a:t>
            </a:r>
            <a:r>
              <a:rPr lang="en-US" sz="2300" dirty="0" err="1"/>
              <a:t>SUSTech</a:t>
            </a:r>
            <a:r>
              <a:rPr lang="en-US" sz="2300" dirty="0"/>
              <a:t> Department of Computer Science and Engineering</a:t>
            </a:r>
          </a:p>
          <a:p>
            <a:r>
              <a:rPr lang="zh-CN" altLang="en-US" sz="2300" dirty="0"/>
              <a:t>（南方科技大学计算机科学与工程系本科生作业抄袭学术不端行为的认定标准及处理办法）</a:t>
            </a:r>
            <a:endParaRPr lang="en-US" sz="2300" dirty="0"/>
          </a:p>
          <a:p>
            <a:r>
              <a:rPr lang="en-US" sz="2300" dirty="0"/>
              <a:t>From Spring 2018, the plagiarism policy applied by the Computer Science and Engineering department is the following: </a:t>
            </a:r>
          </a:p>
          <a:p>
            <a:r>
              <a:rPr lang="en-US" sz="2500" b="1" dirty="0"/>
              <a:t>*	If an undergraduate assignment is found to be plagiarized, the first time the score of the assignment will be 0.</a:t>
            </a:r>
            <a:endParaRPr lang="en-US" sz="2500" dirty="0"/>
          </a:p>
          <a:p>
            <a:r>
              <a:rPr lang="en-US" sz="2500" b="1" dirty="0"/>
              <a:t>*	The second time the score of the course will be 0</a:t>
            </a:r>
            <a:r>
              <a:rPr lang="en-US" sz="2500" dirty="0"/>
              <a:t>.</a:t>
            </a:r>
          </a:p>
          <a:p>
            <a:pPr marL="0" indent="0">
              <a:buNone/>
            </a:pPr>
            <a:endParaRPr lang="en-US" sz="2300" dirty="0"/>
          </a:p>
        </p:txBody>
      </p:sp>
      <p:sp>
        <p:nvSpPr>
          <p:cNvPr id="3" name="Title 2">
            <a:extLst>
              <a:ext uri="{FF2B5EF4-FFF2-40B4-BE49-F238E27FC236}">
                <a16:creationId xmlns:a16="http://schemas.microsoft.com/office/drawing/2014/main" id="{947534B7-9049-41FC-8802-9F62AA161B55}"/>
              </a:ext>
            </a:extLst>
          </p:cNvPr>
          <p:cNvSpPr>
            <a:spLocks noGrp="1"/>
          </p:cNvSpPr>
          <p:nvPr>
            <p:ph type="title"/>
          </p:nvPr>
        </p:nvSpPr>
        <p:spPr/>
        <p:txBody>
          <a:bodyPr/>
          <a:lstStyle/>
          <a:p>
            <a:r>
              <a:rPr lang="en-US" b="1" dirty="0"/>
              <a:t>Plagiarism policy</a:t>
            </a:r>
          </a:p>
        </p:txBody>
      </p:sp>
    </p:spTree>
    <p:extLst>
      <p:ext uri="{BB962C8B-B14F-4D97-AF65-F5344CB8AC3E}">
        <p14:creationId xmlns:p14="http://schemas.microsoft.com/office/powerpoint/2010/main" val="3664240699"/>
      </p:ext>
    </p:extLst>
  </p:cSld>
  <p:clrMapOvr>
    <a:masterClrMapping/>
  </p:clrMapOvr>
  <p:transition spd="med" advTm="9547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5574CA-C32C-49B3-87C4-7EBED446254D}"/>
              </a:ext>
            </a:extLst>
          </p:cNvPr>
          <p:cNvSpPr>
            <a:spLocks noGrp="1"/>
          </p:cNvSpPr>
          <p:nvPr>
            <p:ph type="body" idx="1"/>
          </p:nvPr>
        </p:nvSpPr>
        <p:spPr>
          <a:xfrm>
            <a:off x="457200" y="1795586"/>
            <a:ext cx="8229600" cy="3909646"/>
          </a:xfrm>
        </p:spPr>
        <p:txBody>
          <a:bodyPr>
            <a:noAutofit/>
          </a:bodyPr>
          <a:lstStyle/>
          <a:p>
            <a:pPr algn="just"/>
            <a:r>
              <a:rPr lang="en-US" sz="4000" dirty="0"/>
              <a:t>As it may be difficult when two assignments are identical or nearly identical who actually wrote it, the policy will apply to BOTH students, unless one confesses having copied without the knowledge of the other. </a:t>
            </a:r>
          </a:p>
          <a:p>
            <a:pPr marL="457200" lvl="1" indent="0" algn="just">
              <a:buNone/>
            </a:pPr>
            <a:endParaRPr lang="en-US" sz="4000" dirty="0"/>
          </a:p>
        </p:txBody>
      </p:sp>
      <p:sp>
        <p:nvSpPr>
          <p:cNvPr id="3" name="Title 2">
            <a:extLst>
              <a:ext uri="{FF2B5EF4-FFF2-40B4-BE49-F238E27FC236}">
                <a16:creationId xmlns:a16="http://schemas.microsoft.com/office/drawing/2014/main" id="{947534B7-9049-41FC-8802-9F62AA161B55}"/>
              </a:ext>
            </a:extLst>
          </p:cNvPr>
          <p:cNvSpPr>
            <a:spLocks noGrp="1"/>
          </p:cNvSpPr>
          <p:nvPr>
            <p:ph type="title"/>
          </p:nvPr>
        </p:nvSpPr>
        <p:spPr/>
        <p:txBody>
          <a:bodyPr/>
          <a:lstStyle/>
          <a:p>
            <a:r>
              <a:rPr lang="en-US" b="1" dirty="0"/>
              <a:t>Plagiarism policy</a:t>
            </a:r>
          </a:p>
        </p:txBody>
      </p:sp>
    </p:spTree>
    <p:extLst>
      <p:ext uri="{BB962C8B-B14F-4D97-AF65-F5344CB8AC3E}">
        <p14:creationId xmlns:p14="http://schemas.microsoft.com/office/powerpoint/2010/main" val="4088257000"/>
      </p:ext>
    </p:extLst>
  </p:cSld>
  <p:clrMapOvr>
    <a:masterClrMapping/>
  </p:clrMapOvr>
  <p:transition spd="med" advTm="5452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5574CA-C32C-49B3-87C4-7EBED446254D}"/>
              </a:ext>
            </a:extLst>
          </p:cNvPr>
          <p:cNvSpPr>
            <a:spLocks noGrp="1"/>
          </p:cNvSpPr>
          <p:nvPr>
            <p:ph type="body" idx="1"/>
          </p:nvPr>
        </p:nvSpPr>
        <p:spPr>
          <a:xfrm>
            <a:off x="457200" y="1600201"/>
            <a:ext cx="8229600" cy="4706815"/>
          </a:xfrm>
        </p:spPr>
        <p:txBody>
          <a:bodyPr>
            <a:noAutofit/>
          </a:bodyPr>
          <a:lstStyle/>
          <a:p>
            <a:pPr algn="just"/>
            <a:r>
              <a:rPr lang="en-US" sz="2200" dirty="0"/>
              <a:t>It's OK to work on an assignment with a friend, and think together about the program structure, share ideas and even the global logic. At the time of actually writing the code, you should write it alone.</a:t>
            </a:r>
          </a:p>
          <a:p>
            <a:pPr algn="just"/>
            <a:r>
              <a:rPr lang="en-US" sz="2200" dirty="0"/>
              <a:t>It's OK to use in an assignment a piece of code found on the web, as long as you indicate in a comment where it was found and don't claim it as your own work.</a:t>
            </a:r>
          </a:p>
          <a:p>
            <a:pPr algn="just"/>
            <a:r>
              <a:rPr lang="en-US" sz="2200" dirty="0"/>
              <a:t>It's OK to help friends debug their programs (you'll probably learn a lot yourself by doing so).</a:t>
            </a:r>
          </a:p>
          <a:p>
            <a:pPr algn="just"/>
            <a:r>
              <a:rPr lang="en-US" sz="2200" dirty="0"/>
              <a:t>It's OK to show your code to friends to explain the logic, as long as the friends write their code on their own later. </a:t>
            </a:r>
          </a:p>
          <a:p>
            <a:pPr algn="just"/>
            <a:r>
              <a:rPr lang="en-US" sz="2200" dirty="0"/>
              <a:t>It's </a:t>
            </a:r>
            <a:r>
              <a:rPr lang="en-US" sz="2200" b="1" dirty="0"/>
              <a:t>NOT OK</a:t>
            </a:r>
            <a:r>
              <a:rPr lang="en-US" sz="2200" dirty="0"/>
              <a:t> to take the code of a friend, make a few cosmetic changes (comments, some variable names) and pass it as your own work.</a:t>
            </a:r>
          </a:p>
          <a:p>
            <a:pPr lvl="1" algn="just"/>
            <a:endParaRPr lang="en-US" sz="2200" dirty="0"/>
          </a:p>
        </p:txBody>
      </p:sp>
      <p:sp>
        <p:nvSpPr>
          <p:cNvPr id="3" name="Title 2">
            <a:extLst>
              <a:ext uri="{FF2B5EF4-FFF2-40B4-BE49-F238E27FC236}">
                <a16:creationId xmlns:a16="http://schemas.microsoft.com/office/drawing/2014/main" id="{947534B7-9049-41FC-8802-9F62AA161B55}"/>
              </a:ext>
            </a:extLst>
          </p:cNvPr>
          <p:cNvSpPr>
            <a:spLocks noGrp="1"/>
          </p:cNvSpPr>
          <p:nvPr>
            <p:ph type="title"/>
          </p:nvPr>
        </p:nvSpPr>
        <p:spPr>
          <a:xfrm>
            <a:off x="457200" y="76445"/>
            <a:ext cx="8229600" cy="1508125"/>
          </a:xfrm>
        </p:spPr>
        <p:txBody>
          <a:bodyPr>
            <a:normAutofit/>
          </a:bodyPr>
          <a:lstStyle/>
          <a:p>
            <a:r>
              <a:rPr lang="en-US" sz="2800" b="1" dirty="0"/>
              <a:t>Plagiarism policy</a:t>
            </a:r>
            <a:br>
              <a:rPr lang="en-US" sz="2800" b="1" dirty="0"/>
            </a:br>
            <a:r>
              <a:rPr lang="en-US" sz="2800" b="1" dirty="0"/>
              <a:t>What is OK, and what isn't OK?</a:t>
            </a:r>
          </a:p>
        </p:txBody>
      </p:sp>
    </p:spTree>
    <p:extLst>
      <p:ext uri="{BB962C8B-B14F-4D97-AF65-F5344CB8AC3E}">
        <p14:creationId xmlns:p14="http://schemas.microsoft.com/office/powerpoint/2010/main" val="3988561481"/>
      </p:ext>
    </p:extLst>
  </p:cSld>
  <p:clrMapOvr>
    <a:masterClrMapping/>
  </p:clrMapOvr>
  <p:transition spd="med" advTm="204482"/>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6F0DF3-37D1-4362-9EE1-D9C30F73A43F}"/>
              </a:ext>
            </a:extLst>
          </p:cNvPr>
          <p:cNvSpPr>
            <a:spLocks noGrp="1"/>
          </p:cNvSpPr>
          <p:nvPr>
            <p:ph type="body" idx="1"/>
          </p:nvPr>
        </p:nvSpPr>
        <p:spPr>
          <a:xfrm>
            <a:off x="457200" y="1615831"/>
            <a:ext cx="8229600" cy="4839677"/>
          </a:xfrm>
        </p:spPr>
        <p:txBody>
          <a:bodyPr>
            <a:normAutofit fontScale="70000" lnSpcReduction="20000"/>
          </a:bodyPr>
          <a:lstStyle/>
          <a:p>
            <a:pPr algn="just"/>
            <a:r>
              <a:rPr lang="en-US" sz="8000" b="1" dirty="0">
                <a:solidFill>
                  <a:srgbClr val="FF0000"/>
                </a:solidFill>
              </a:rPr>
              <a:t>It is important to sign the following forms: </a:t>
            </a:r>
          </a:p>
          <a:p>
            <a:pPr algn="just"/>
            <a:endParaRPr lang="en-US" dirty="0"/>
          </a:p>
          <a:p>
            <a:pPr algn="just"/>
            <a:r>
              <a:rPr lang="en-US" b="1" dirty="0"/>
              <a:t>Undergraduate Students Assignment Declaration Form (English Version)</a:t>
            </a:r>
          </a:p>
          <a:p>
            <a:pPr algn="just"/>
            <a:r>
              <a:rPr lang="en-US" b="1" dirty="0"/>
              <a:t>Or</a:t>
            </a:r>
          </a:p>
          <a:p>
            <a:pPr algn="just"/>
            <a:r>
              <a:rPr lang="zh-CN" altLang="en-US" b="1" dirty="0"/>
              <a:t>本科生作业承诺书 </a:t>
            </a:r>
            <a:r>
              <a:rPr lang="en-US" altLang="zh-CN" b="1" dirty="0"/>
              <a:t>(the Chinese version)</a:t>
            </a:r>
          </a:p>
          <a:p>
            <a:pPr algn="just"/>
            <a:endParaRPr lang="en-US" b="1" dirty="0"/>
          </a:p>
          <a:p>
            <a:pPr algn="just"/>
            <a:r>
              <a:rPr lang="en-US" b="1" dirty="0"/>
              <a:t>Those will be made available on BB and please sign it and return this together with the assignment 1.  (Failing to sign this, you might not be able to continue your UG program. )</a:t>
            </a:r>
          </a:p>
          <a:p>
            <a:pPr marL="0" indent="0" algn="just">
              <a:buNone/>
            </a:pPr>
            <a:r>
              <a:rPr lang="en-US" dirty="0"/>
              <a:t> </a:t>
            </a:r>
          </a:p>
          <a:p>
            <a:pPr algn="just"/>
            <a:endParaRPr lang="en-US" dirty="0"/>
          </a:p>
        </p:txBody>
      </p:sp>
      <p:sp>
        <p:nvSpPr>
          <p:cNvPr id="3" name="Title 2">
            <a:extLst>
              <a:ext uri="{FF2B5EF4-FFF2-40B4-BE49-F238E27FC236}">
                <a16:creationId xmlns:a16="http://schemas.microsoft.com/office/drawing/2014/main" id="{CF40CD04-6A00-4A4D-8E9E-D55AF8930E07}"/>
              </a:ext>
            </a:extLst>
          </p:cNvPr>
          <p:cNvSpPr>
            <a:spLocks noGrp="1"/>
          </p:cNvSpPr>
          <p:nvPr>
            <p:ph type="title"/>
          </p:nvPr>
        </p:nvSpPr>
        <p:spPr/>
        <p:txBody>
          <a:bodyPr/>
          <a:lstStyle/>
          <a:p>
            <a:r>
              <a:rPr lang="en-US" b="1" dirty="0"/>
              <a:t>Plagiarism policy</a:t>
            </a:r>
            <a:br>
              <a:rPr lang="en-US" b="1" dirty="0"/>
            </a:br>
            <a:endParaRPr lang="en-US" dirty="0"/>
          </a:p>
        </p:txBody>
      </p:sp>
    </p:spTree>
    <p:extLst>
      <p:ext uri="{BB962C8B-B14F-4D97-AF65-F5344CB8AC3E}">
        <p14:creationId xmlns:p14="http://schemas.microsoft.com/office/powerpoint/2010/main" val="2488036116"/>
      </p:ext>
    </p:extLst>
  </p:cSld>
  <p:clrMapOvr>
    <a:masterClrMapping/>
  </p:clrMapOvr>
  <p:transition spd="med" advTm="76783"/>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Shape 465"/>
          <p:cNvSpPr txBox="1">
            <a:spLocks noGrp="1"/>
          </p:cNvSpPr>
          <p:nvPr>
            <p:ph type="body" idx="1"/>
          </p:nvPr>
        </p:nvSpPr>
        <p:spPr>
          <a:prstGeom prst="rect">
            <a:avLst/>
          </a:prstGeom>
        </p:spPr>
        <p:txBody>
          <a:bodyPr/>
          <a:lstStyle/>
          <a:p>
            <a:pPr marL="342899" indent="-342899">
              <a:defRPr sz="2900"/>
            </a:pPr>
            <a:r>
              <a:rPr dirty="0"/>
              <a:t>Gradient descent and variants</a:t>
            </a:r>
          </a:p>
          <a:p>
            <a:pPr marL="342899" indent="-342899">
              <a:defRPr sz="2900"/>
            </a:pPr>
            <a:r>
              <a:rPr dirty="0"/>
              <a:t>Momentum and learning rate</a:t>
            </a:r>
          </a:p>
          <a:p>
            <a:pPr marL="342899" indent="-342899">
              <a:defRPr sz="2900"/>
            </a:pPr>
            <a:r>
              <a:rPr dirty="0" err="1"/>
              <a:t>Regularisation</a:t>
            </a:r>
            <a:endParaRPr dirty="0"/>
          </a:p>
          <a:p>
            <a:pPr marL="342899" indent="-342899">
              <a:defRPr sz="2900"/>
            </a:pPr>
            <a:r>
              <a:rPr b="1" dirty="0"/>
              <a:t>Parameters </a:t>
            </a:r>
            <a:r>
              <a:rPr b="1" dirty="0" err="1"/>
              <a:t>initialisation</a:t>
            </a:r>
            <a:endParaRPr b="1" dirty="0"/>
          </a:p>
          <a:p>
            <a:pPr marL="342899" indent="-342899">
              <a:defRPr sz="2900"/>
            </a:pPr>
            <a:r>
              <a:rPr b="1" dirty="0"/>
              <a:t>Input </a:t>
            </a:r>
            <a:r>
              <a:rPr b="1" dirty="0" err="1"/>
              <a:t>normalisation</a:t>
            </a:r>
            <a:endParaRPr b="1" dirty="0"/>
          </a:p>
          <a:p>
            <a:pPr marL="342899" indent="-342899">
              <a:defRPr sz="2900"/>
            </a:pPr>
            <a:r>
              <a:rPr b="1" dirty="0"/>
              <a:t>Batch </a:t>
            </a:r>
            <a:r>
              <a:rPr b="1" dirty="0" err="1"/>
              <a:t>normalisation</a:t>
            </a:r>
            <a:endParaRPr b="1" dirty="0"/>
          </a:p>
        </p:txBody>
      </p:sp>
      <p:sp>
        <p:nvSpPr>
          <p:cNvPr id="466" name="Shape 466"/>
          <p:cNvSpPr txBox="1">
            <a:spLocks noGrp="1"/>
          </p:cNvSpPr>
          <p:nvPr>
            <p:ph type="title"/>
          </p:nvPr>
        </p:nvSpPr>
        <p:spPr>
          <a:prstGeom prst="rect">
            <a:avLst/>
          </a:prstGeom>
        </p:spPr>
        <p:txBody>
          <a:bodyPr/>
          <a:lstStyle/>
          <a:p>
            <a:r>
              <a:rPr dirty="0"/>
              <a:t>Summary</a:t>
            </a:r>
          </a:p>
        </p:txBody>
      </p:sp>
      <p:sp>
        <p:nvSpPr>
          <p:cNvPr id="467" name="Shape 467"/>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Tree>
    <p:extLst>
      <p:ext uri="{BB962C8B-B14F-4D97-AF65-F5344CB8AC3E}">
        <p14:creationId xmlns:p14="http://schemas.microsoft.com/office/powerpoint/2010/main" val="1985870468"/>
      </p:ext>
    </p:extLst>
  </p:cSld>
  <p:clrMapOvr>
    <a:masterClrMapping/>
  </p:clrMapOvr>
  <p:transition spd="med" advTm="33113"/>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Shape 387"/>
          <p:cNvSpPr txBox="1">
            <a:spLocks noGrp="1"/>
          </p:cNvSpPr>
          <p:nvPr>
            <p:ph type="body" idx="1"/>
          </p:nvPr>
        </p:nvSpPr>
        <p:spPr>
          <a:xfrm>
            <a:off x="457200" y="1600200"/>
            <a:ext cx="8229600" cy="4753222"/>
          </a:xfrm>
          <a:prstGeom prst="rect">
            <a:avLst/>
          </a:prstGeom>
        </p:spPr>
        <p:txBody>
          <a:bodyPr/>
          <a:lstStyle/>
          <a:p>
            <a:pPr marL="342899" indent="-342899">
              <a:defRPr sz="2900"/>
            </a:pPr>
            <a:r>
              <a:rPr dirty="0"/>
              <a:t>Deep learning training is iterative and strongly depends on the </a:t>
            </a:r>
            <a:r>
              <a:rPr dirty="0" err="1"/>
              <a:t>initialisation</a:t>
            </a:r>
            <a:r>
              <a:rPr dirty="0"/>
              <a:t> point (i.e., how we </a:t>
            </a:r>
            <a:r>
              <a:rPr dirty="0" err="1"/>
              <a:t>initialise</a:t>
            </a:r>
            <a:r>
              <a:rPr dirty="0"/>
              <a:t> the parameters of the network)</a:t>
            </a:r>
          </a:p>
          <a:p>
            <a:pPr marL="342899" indent="-342899">
              <a:defRPr sz="2900"/>
            </a:pPr>
            <a:r>
              <a:rPr dirty="0"/>
              <a:t>Important principle: </a:t>
            </a:r>
            <a:r>
              <a:rPr b="1" dirty="0">
                <a:latin typeface="+mn-lt"/>
                <a:ea typeface="+mn-ea"/>
                <a:cs typeface="+mn-cs"/>
                <a:sym typeface="Helvetica"/>
              </a:rPr>
              <a:t>weight asymmetricity</a:t>
            </a:r>
          </a:p>
          <a:p>
            <a:pPr marL="800100" lvl="1" indent="-342900">
              <a:buChar char="•"/>
              <a:defRPr sz="2900"/>
            </a:pPr>
            <a:r>
              <a:rPr i="1" dirty="0">
                <a:latin typeface="+mn-lt"/>
                <a:ea typeface="+mn-ea"/>
                <a:cs typeface="+mn-cs"/>
                <a:sym typeface="Helvetica"/>
              </a:rPr>
              <a:t>Why?</a:t>
            </a:r>
            <a:r>
              <a:rPr dirty="0"/>
              <a:t> Because if 2 units share the same activation, same weights, and same inputs, they will be updated in the same way (no learning)</a:t>
            </a:r>
          </a:p>
          <a:p>
            <a:pPr marL="800100" lvl="1" indent="-342900">
              <a:buChar char="•"/>
              <a:defRPr sz="2900"/>
            </a:pPr>
            <a:r>
              <a:rPr dirty="0"/>
              <a:t>So, </a:t>
            </a:r>
            <a:r>
              <a:rPr b="1" dirty="0">
                <a:latin typeface="+mn-lt"/>
                <a:ea typeface="+mn-ea"/>
                <a:cs typeface="+mn-cs"/>
                <a:sym typeface="Helvetica"/>
              </a:rPr>
              <a:t>don’t</a:t>
            </a:r>
            <a:r>
              <a:rPr dirty="0"/>
              <a:t> give same value to all weights (e.g., 0)</a:t>
            </a:r>
          </a:p>
          <a:p>
            <a:pPr marL="800100" lvl="1" indent="-342900">
              <a:buChar char="•"/>
              <a:defRPr sz="2900"/>
            </a:pPr>
            <a:r>
              <a:rPr dirty="0"/>
              <a:t>Sample weights from Gaussian or uniform </a:t>
            </a:r>
            <a:r>
              <a:rPr dirty="0" err="1"/>
              <a:t>dists</a:t>
            </a:r>
            <a:endParaRPr dirty="0"/>
          </a:p>
        </p:txBody>
      </p:sp>
      <p:sp>
        <p:nvSpPr>
          <p:cNvPr id="388" name="Shape 388"/>
          <p:cNvSpPr txBox="1">
            <a:spLocks noGrp="1"/>
          </p:cNvSpPr>
          <p:nvPr>
            <p:ph type="title"/>
          </p:nvPr>
        </p:nvSpPr>
        <p:spPr>
          <a:prstGeom prst="rect">
            <a:avLst/>
          </a:prstGeom>
        </p:spPr>
        <p:txBody>
          <a:bodyPr/>
          <a:lstStyle/>
          <a:p>
            <a:r>
              <a:rPr dirty="0"/>
              <a:t>Weight </a:t>
            </a:r>
            <a:r>
              <a:rPr dirty="0" err="1"/>
              <a:t>initialisation</a:t>
            </a:r>
            <a:endParaRPr dirty="0"/>
          </a:p>
        </p:txBody>
      </p:sp>
      <p:sp>
        <p:nvSpPr>
          <p:cNvPr id="389" name="Shape 389"/>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spTree>
  </p:cSld>
  <p:clrMapOvr>
    <a:masterClrMapping/>
  </p:clrMapOvr>
  <p:transition spd="med" advTm="11454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Shape 391"/>
          <p:cNvSpPr txBox="1">
            <a:spLocks noGrp="1"/>
          </p:cNvSpPr>
          <p:nvPr>
            <p:ph type="body" idx="1"/>
          </p:nvPr>
        </p:nvSpPr>
        <p:spPr>
          <a:prstGeom prst="rect">
            <a:avLst/>
          </a:prstGeom>
        </p:spPr>
        <p:txBody>
          <a:bodyPr/>
          <a:lstStyle/>
          <a:p>
            <a:pPr marL="342899" indent="-342899">
              <a:defRPr sz="2900"/>
            </a:pPr>
            <a:r>
              <a:rPr dirty="0"/>
              <a:t>But, </a:t>
            </a:r>
            <a:r>
              <a:rPr u="sng" dirty="0"/>
              <a:t>be careful</a:t>
            </a:r>
            <a:r>
              <a:rPr dirty="0"/>
              <a:t>:</a:t>
            </a:r>
          </a:p>
          <a:p>
            <a:pPr marL="800100" lvl="1" indent="-342900">
              <a:buChar char="•"/>
              <a:defRPr sz="2900"/>
            </a:pPr>
            <a:r>
              <a:rPr b="1" dirty="0">
                <a:latin typeface="+mn-lt"/>
                <a:ea typeface="+mn-ea"/>
                <a:cs typeface="+mn-cs"/>
                <a:sym typeface="Helvetica"/>
              </a:rPr>
              <a:t>Large weights</a:t>
            </a:r>
            <a:r>
              <a:rPr dirty="0"/>
              <a:t> will have strong symmetry-breaking effect and help to propagate strong signal during forward and backward propagation</a:t>
            </a:r>
          </a:p>
          <a:p>
            <a:pPr marL="800100" lvl="1" indent="-342900">
              <a:buChar char="•"/>
              <a:defRPr sz="2900"/>
            </a:pPr>
            <a:r>
              <a:rPr dirty="0"/>
              <a:t>However they may also cause exploding values, saturation of units</a:t>
            </a:r>
          </a:p>
          <a:p>
            <a:pPr marL="800100" lvl="1" indent="-342900">
              <a:buChar char="•"/>
              <a:defRPr sz="2900"/>
            </a:pPr>
            <a:r>
              <a:rPr dirty="0"/>
              <a:t>But we also don’t want </a:t>
            </a:r>
            <a:r>
              <a:rPr b="1" dirty="0">
                <a:latin typeface="+mn-lt"/>
                <a:ea typeface="+mn-ea"/>
                <a:cs typeface="+mn-cs"/>
                <a:sym typeface="Helvetica"/>
              </a:rPr>
              <a:t>small weights</a:t>
            </a:r>
            <a:r>
              <a:rPr dirty="0"/>
              <a:t>…</a:t>
            </a:r>
          </a:p>
          <a:p>
            <a:pPr marL="800100" lvl="1" indent="-342900">
              <a:buChar char="•"/>
              <a:defRPr sz="2900"/>
            </a:pPr>
            <a:r>
              <a:rPr b="1" dirty="0">
                <a:latin typeface="+mn-lt"/>
                <a:ea typeface="+mn-ea"/>
                <a:cs typeface="+mn-cs"/>
                <a:sym typeface="Helvetica"/>
              </a:rPr>
              <a:t>Also</a:t>
            </a:r>
            <a:r>
              <a:rPr dirty="0"/>
              <a:t>, we want to maintain the same variance for input and output (because outputs are inputs of next layer)</a:t>
            </a:r>
          </a:p>
        </p:txBody>
      </p:sp>
      <p:sp>
        <p:nvSpPr>
          <p:cNvPr id="392" name="Shape 392"/>
          <p:cNvSpPr txBox="1">
            <a:spLocks noGrp="1"/>
          </p:cNvSpPr>
          <p:nvPr>
            <p:ph type="title"/>
          </p:nvPr>
        </p:nvSpPr>
        <p:spPr>
          <a:prstGeom prst="rect">
            <a:avLst/>
          </a:prstGeom>
        </p:spPr>
        <p:txBody>
          <a:bodyPr/>
          <a:lstStyle/>
          <a:p>
            <a:r>
              <a:t>Weight initialisation</a:t>
            </a:r>
          </a:p>
        </p:txBody>
      </p:sp>
      <p:sp>
        <p:nvSpPr>
          <p:cNvPr id="393" name="Shape 393"/>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spTree>
  </p:cSld>
  <p:clrMapOvr>
    <a:masterClrMapping/>
  </p:clrMapOvr>
  <p:transition spd="med" advTm="1087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Shape 395"/>
          <p:cNvSpPr txBox="1">
            <a:spLocks noGrp="1"/>
          </p:cNvSpPr>
          <p:nvPr>
            <p:ph type="body" idx="1"/>
          </p:nvPr>
        </p:nvSpPr>
        <p:spPr>
          <a:prstGeom prst="rect">
            <a:avLst/>
          </a:prstGeom>
        </p:spPr>
        <p:txBody>
          <a:bodyPr/>
          <a:lstStyle/>
          <a:p>
            <a:pPr marL="342899" indent="-342899">
              <a:defRPr sz="2900"/>
            </a:pPr>
            <a:r>
              <a:rPr dirty="0"/>
              <a:t>Uniform distribution </a:t>
            </a:r>
            <a:r>
              <a:rPr dirty="0" err="1"/>
              <a:t>initialisation</a:t>
            </a:r>
            <a:r>
              <a:rPr dirty="0"/>
              <a:t> (tanh)</a:t>
            </a:r>
          </a:p>
          <a:p>
            <a:pPr marL="342899" indent="-342899">
              <a:defRPr sz="2900"/>
            </a:pPr>
            <a:endParaRPr dirty="0"/>
          </a:p>
          <a:p>
            <a:pPr marL="342899" indent="-342899">
              <a:defRPr sz="2900"/>
            </a:pPr>
            <a:endParaRPr dirty="0"/>
          </a:p>
          <a:p>
            <a:pPr marL="342899" indent="-342899">
              <a:defRPr sz="2900"/>
            </a:pPr>
            <a:endParaRPr dirty="0"/>
          </a:p>
          <a:p>
            <a:pPr marL="342899" indent="-342899">
              <a:defRPr sz="2900"/>
            </a:pPr>
            <a:r>
              <a:rPr dirty="0"/>
              <a:t>Xavier </a:t>
            </a:r>
            <a:r>
              <a:rPr dirty="0" err="1"/>
              <a:t>initialisation</a:t>
            </a:r>
            <a:r>
              <a:rPr dirty="0"/>
              <a:t> (tanh)</a:t>
            </a:r>
          </a:p>
        </p:txBody>
      </p:sp>
      <p:sp>
        <p:nvSpPr>
          <p:cNvPr id="396" name="Shape 396"/>
          <p:cNvSpPr txBox="1">
            <a:spLocks noGrp="1"/>
          </p:cNvSpPr>
          <p:nvPr>
            <p:ph type="title"/>
          </p:nvPr>
        </p:nvSpPr>
        <p:spPr>
          <a:prstGeom prst="rect">
            <a:avLst/>
          </a:prstGeom>
        </p:spPr>
        <p:txBody>
          <a:bodyPr/>
          <a:lstStyle/>
          <a:p>
            <a:r>
              <a:t>Weight initialisation</a:t>
            </a:r>
          </a:p>
        </p:txBody>
      </p:sp>
      <p:sp>
        <p:nvSpPr>
          <p:cNvPr id="397" name="Shape 397"/>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pic>
        <p:nvPicPr>
          <p:cNvPr id="398" name="pasted-image.png"/>
          <p:cNvPicPr>
            <a:picLocks noChangeAspect="1"/>
          </p:cNvPicPr>
          <p:nvPr/>
        </p:nvPicPr>
        <p:blipFill>
          <a:blip r:embed="rId3"/>
          <a:stretch>
            <a:fillRect/>
          </a:stretch>
        </p:blipFill>
        <p:spPr>
          <a:xfrm>
            <a:off x="1204255" y="2477880"/>
            <a:ext cx="6735490" cy="1201585"/>
          </a:xfrm>
          <a:prstGeom prst="rect">
            <a:avLst/>
          </a:prstGeom>
          <a:ln w="12700">
            <a:miter lim="400000"/>
          </a:ln>
        </p:spPr>
      </p:pic>
      <p:pic>
        <p:nvPicPr>
          <p:cNvPr id="399" name="pasted-image.png"/>
          <p:cNvPicPr>
            <a:picLocks noChangeAspect="1"/>
          </p:cNvPicPr>
          <p:nvPr/>
        </p:nvPicPr>
        <p:blipFill>
          <a:blip r:embed="rId4"/>
          <a:stretch>
            <a:fillRect/>
          </a:stretch>
        </p:blipFill>
        <p:spPr>
          <a:xfrm>
            <a:off x="2934978" y="4306722"/>
            <a:ext cx="3274044" cy="1201586"/>
          </a:xfrm>
          <a:prstGeom prst="rect">
            <a:avLst/>
          </a:prstGeom>
          <a:ln w="12700">
            <a:miter lim="400000"/>
          </a:ln>
        </p:spPr>
      </p:pic>
      <p:sp>
        <p:nvSpPr>
          <p:cNvPr id="400" name="Shape 400"/>
          <p:cNvSpPr txBox="1"/>
          <p:nvPr/>
        </p:nvSpPr>
        <p:spPr>
          <a:xfrm>
            <a:off x="720317" y="5508308"/>
            <a:ext cx="7219428"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ctr">
              <a:defRPr>
                <a:solidFill>
                  <a:schemeClr val="accent2"/>
                </a:solidFill>
              </a:defRPr>
            </a:pPr>
            <a:r>
              <a:rPr dirty="0"/>
              <a:t>Where </a:t>
            </a:r>
            <a:r>
              <a:rPr i="1" dirty="0">
                <a:latin typeface="+mn-lt"/>
                <a:ea typeface="+mn-ea"/>
                <a:cs typeface="+mn-cs"/>
                <a:sym typeface="Helvetica"/>
              </a:rPr>
              <a:t>m</a:t>
            </a:r>
            <a:r>
              <a:rPr dirty="0"/>
              <a:t> is the number of inputs and </a:t>
            </a:r>
            <a:r>
              <a:rPr i="1" dirty="0">
                <a:latin typeface="+mn-lt"/>
                <a:ea typeface="+mn-ea"/>
                <a:cs typeface="+mn-cs"/>
                <a:sym typeface="Helvetica"/>
              </a:rPr>
              <a:t>n</a:t>
            </a:r>
            <a:r>
              <a:rPr dirty="0"/>
              <a:t> is the number of outputs of the layer</a:t>
            </a:r>
          </a:p>
        </p:txBody>
      </p:sp>
      <p:sp>
        <p:nvSpPr>
          <p:cNvPr id="3" name="Rectangle 2">
            <a:extLst>
              <a:ext uri="{FF2B5EF4-FFF2-40B4-BE49-F238E27FC236}">
                <a16:creationId xmlns:a16="http://schemas.microsoft.com/office/drawing/2014/main" id="{2B64BD45-5730-4163-8722-28BC136DCB05}"/>
              </a:ext>
            </a:extLst>
          </p:cNvPr>
          <p:cNvSpPr/>
          <p:nvPr/>
        </p:nvSpPr>
        <p:spPr>
          <a:xfrm>
            <a:off x="720317" y="5985971"/>
            <a:ext cx="7436827" cy="646331"/>
          </a:xfrm>
          <a:prstGeom prst="rect">
            <a:avLst/>
          </a:prstGeom>
        </p:spPr>
        <p:txBody>
          <a:bodyPr wrap="square">
            <a:spAutoFit/>
          </a:bodyPr>
          <a:lstStyle/>
          <a:p>
            <a:r>
              <a:rPr lang="en-US" b="1" dirty="0"/>
              <a:t>Good tutorial: </a:t>
            </a:r>
            <a:r>
              <a:rPr lang="en-US" dirty="0"/>
              <a:t>https://prateekvjoshi.com/2016/03/29/understanding-xavier-initialization-in-deep-neural-networks/</a:t>
            </a:r>
          </a:p>
        </p:txBody>
      </p:sp>
    </p:spTree>
  </p:cSld>
  <p:clrMapOvr>
    <a:masterClrMapping/>
  </p:clrMapOvr>
  <p:transition spd="med" advTm="120498"/>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Shape 402"/>
          <p:cNvSpPr txBox="1">
            <a:spLocks noGrp="1"/>
          </p:cNvSpPr>
          <p:nvPr>
            <p:ph type="body" idx="1"/>
          </p:nvPr>
        </p:nvSpPr>
        <p:spPr>
          <a:prstGeom prst="rect">
            <a:avLst/>
          </a:prstGeom>
        </p:spPr>
        <p:txBody>
          <a:bodyPr/>
          <a:lstStyle/>
          <a:p>
            <a:pPr marL="342899" indent="-342899">
              <a:defRPr sz="2900"/>
            </a:pPr>
            <a:r>
              <a:rPr dirty="0"/>
              <a:t>Uniform distribution </a:t>
            </a:r>
            <a:r>
              <a:rPr dirty="0" err="1"/>
              <a:t>initialisation</a:t>
            </a:r>
            <a:r>
              <a:rPr dirty="0"/>
              <a:t> (sigmoid)</a:t>
            </a:r>
          </a:p>
          <a:p>
            <a:pPr marL="342899" indent="-342899">
              <a:defRPr sz="2900"/>
            </a:pPr>
            <a:endParaRPr dirty="0"/>
          </a:p>
          <a:p>
            <a:pPr marL="342899" indent="-342899">
              <a:defRPr sz="2900"/>
            </a:pPr>
            <a:endParaRPr dirty="0"/>
          </a:p>
          <a:p>
            <a:pPr marL="342899" indent="-342899">
              <a:defRPr sz="2900"/>
            </a:pPr>
            <a:endParaRPr dirty="0"/>
          </a:p>
          <a:p>
            <a:pPr marL="342899" indent="-342899">
              <a:defRPr sz="2900"/>
            </a:pPr>
            <a:r>
              <a:rPr dirty="0" err="1"/>
              <a:t>ReLU</a:t>
            </a:r>
            <a:r>
              <a:rPr dirty="0"/>
              <a:t> </a:t>
            </a:r>
            <a:r>
              <a:rPr dirty="0" err="1"/>
              <a:t>initialisation</a:t>
            </a:r>
            <a:endParaRPr dirty="0"/>
          </a:p>
        </p:txBody>
      </p:sp>
      <p:sp>
        <p:nvSpPr>
          <p:cNvPr id="403" name="Shape 403"/>
          <p:cNvSpPr txBox="1">
            <a:spLocks noGrp="1"/>
          </p:cNvSpPr>
          <p:nvPr>
            <p:ph type="title"/>
          </p:nvPr>
        </p:nvSpPr>
        <p:spPr>
          <a:prstGeom prst="rect">
            <a:avLst/>
          </a:prstGeom>
        </p:spPr>
        <p:txBody>
          <a:bodyPr/>
          <a:lstStyle/>
          <a:p>
            <a:r>
              <a:t>Weight initialisation</a:t>
            </a:r>
          </a:p>
        </p:txBody>
      </p:sp>
      <p:sp>
        <p:nvSpPr>
          <p:cNvPr id="404" name="Shape 404"/>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pic>
        <p:nvPicPr>
          <p:cNvPr id="405" name="pasted-image.png"/>
          <p:cNvPicPr>
            <a:picLocks noChangeAspect="1"/>
          </p:cNvPicPr>
          <p:nvPr/>
        </p:nvPicPr>
        <p:blipFill>
          <a:blip r:embed="rId2"/>
          <a:stretch>
            <a:fillRect/>
          </a:stretch>
        </p:blipFill>
        <p:spPr>
          <a:xfrm>
            <a:off x="1206500" y="2477880"/>
            <a:ext cx="7121319" cy="1201585"/>
          </a:xfrm>
          <a:prstGeom prst="rect">
            <a:avLst/>
          </a:prstGeom>
          <a:ln w="12700">
            <a:miter lim="400000"/>
          </a:ln>
        </p:spPr>
      </p:pic>
      <p:pic>
        <p:nvPicPr>
          <p:cNvPr id="406" name="pasted-image.png"/>
          <p:cNvPicPr>
            <a:picLocks noChangeAspect="1"/>
          </p:cNvPicPr>
          <p:nvPr/>
        </p:nvPicPr>
        <p:blipFill>
          <a:blip r:embed="rId3"/>
          <a:stretch>
            <a:fillRect/>
          </a:stretch>
        </p:blipFill>
        <p:spPr>
          <a:xfrm>
            <a:off x="2934978" y="4306722"/>
            <a:ext cx="3274044" cy="1201586"/>
          </a:xfrm>
          <a:prstGeom prst="rect">
            <a:avLst/>
          </a:prstGeom>
          <a:ln w="12700">
            <a:miter lim="400000"/>
          </a:ln>
        </p:spPr>
      </p:pic>
      <p:sp>
        <p:nvSpPr>
          <p:cNvPr id="407" name="Shape 407"/>
          <p:cNvSpPr txBox="1"/>
          <p:nvPr/>
        </p:nvSpPr>
        <p:spPr>
          <a:xfrm>
            <a:off x="721409" y="5770879"/>
            <a:ext cx="7219428"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lgn="ctr">
              <a:defRPr>
                <a:solidFill>
                  <a:schemeClr val="accent2"/>
                </a:solidFill>
              </a:defRPr>
            </a:pPr>
            <a:r>
              <a:t>Where </a:t>
            </a:r>
            <a:r>
              <a:rPr i="1">
                <a:latin typeface="+mn-lt"/>
                <a:ea typeface="+mn-ea"/>
                <a:cs typeface="+mn-cs"/>
                <a:sym typeface="Helvetica"/>
              </a:rPr>
              <a:t>m</a:t>
            </a:r>
            <a:r>
              <a:t> is the number of inputs and </a:t>
            </a:r>
            <a:r>
              <a:rPr i="1">
                <a:latin typeface="+mn-lt"/>
                <a:ea typeface="+mn-ea"/>
                <a:cs typeface="+mn-cs"/>
                <a:sym typeface="Helvetica"/>
              </a:rPr>
              <a:t>n</a:t>
            </a:r>
            <a:r>
              <a:t> is the number of outputs of the layer</a:t>
            </a:r>
          </a:p>
        </p:txBody>
      </p:sp>
    </p:spTree>
  </p:cSld>
  <p:clrMapOvr>
    <a:masterClrMapping/>
  </p:clrMapOvr>
  <p:transition spd="med" advTm="5777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Shape 409"/>
          <p:cNvSpPr txBox="1">
            <a:spLocks noGrp="1"/>
          </p:cNvSpPr>
          <p:nvPr>
            <p:ph type="body" idx="1"/>
          </p:nvPr>
        </p:nvSpPr>
        <p:spPr>
          <a:prstGeom prst="rect">
            <a:avLst/>
          </a:prstGeom>
        </p:spPr>
        <p:txBody>
          <a:bodyPr/>
          <a:lstStyle>
            <a:lvl1pPr marL="342899" indent="-342899">
              <a:defRPr sz="2900"/>
            </a:lvl1pPr>
          </a:lstStyle>
          <a:p>
            <a:r>
              <a:t>Activation functions are usually centred around zero</a:t>
            </a:r>
          </a:p>
        </p:txBody>
      </p:sp>
      <p:sp>
        <p:nvSpPr>
          <p:cNvPr id="410" name="Shape 410"/>
          <p:cNvSpPr txBox="1">
            <a:spLocks noGrp="1"/>
          </p:cNvSpPr>
          <p:nvPr>
            <p:ph type="title"/>
          </p:nvPr>
        </p:nvSpPr>
        <p:spPr>
          <a:prstGeom prst="rect">
            <a:avLst/>
          </a:prstGeom>
        </p:spPr>
        <p:txBody>
          <a:bodyPr/>
          <a:lstStyle/>
          <a:p>
            <a:r>
              <a:t>Data pre-processing</a:t>
            </a:r>
          </a:p>
        </p:txBody>
      </p:sp>
      <p:sp>
        <p:nvSpPr>
          <p:cNvPr id="411" name="Shape 41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pic>
        <p:nvPicPr>
          <p:cNvPr id="412" name="pasted-image.png"/>
          <p:cNvPicPr>
            <a:picLocks noChangeAspect="1"/>
          </p:cNvPicPr>
          <p:nvPr/>
        </p:nvPicPr>
        <p:blipFill>
          <a:blip r:embed="rId3"/>
          <a:stretch>
            <a:fillRect/>
          </a:stretch>
        </p:blipFill>
        <p:spPr>
          <a:xfrm>
            <a:off x="6247479" y="2768063"/>
            <a:ext cx="2457699" cy="1913840"/>
          </a:xfrm>
          <a:prstGeom prst="rect">
            <a:avLst/>
          </a:prstGeom>
          <a:ln w="12700">
            <a:miter lim="400000"/>
          </a:ln>
        </p:spPr>
      </p:pic>
      <p:pic>
        <p:nvPicPr>
          <p:cNvPr id="413" name="Screen Shot 2019-03-06 at 17.04.01.png"/>
          <p:cNvPicPr>
            <a:picLocks noChangeAspect="1"/>
          </p:cNvPicPr>
          <p:nvPr/>
        </p:nvPicPr>
        <p:blipFill>
          <a:blip r:embed="rId4"/>
          <a:stretch>
            <a:fillRect/>
          </a:stretch>
        </p:blipFill>
        <p:spPr>
          <a:xfrm>
            <a:off x="457200" y="2807732"/>
            <a:ext cx="2715062" cy="1834502"/>
          </a:xfrm>
          <a:prstGeom prst="rect">
            <a:avLst/>
          </a:prstGeom>
          <a:ln w="12700">
            <a:miter lim="400000"/>
          </a:ln>
        </p:spPr>
      </p:pic>
      <p:pic>
        <p:nvPicPr>
          <p:cNvPr id="414" name="Screen Shot 2019-03-06 at 17.04.56.png"/>
          <p:cNvPicPr>
            <a:picLocks noChangeAspect="1"/>
          </p:cNvPicPr>
          <p:nvPr/>
        </p:nvPicPr>
        <p:blipFill>
          <a:blip r:embed="rId5"/>
          <a:stretch>
            <a:fillRect/>
          </a:stretch>
        </p:blipFill>
        <p:spPr>
          <a:xfrm>
            <a:off x="3335846" y="2807732"/>
            <a:ext cx="2766428" cy="1834502"/>
          </a:xfrm>
          <a:prstGeom prst="rect">
            <a:avLst/>
          </a:prstGeom>
          <a:ln w="12700">
            <a:miter lim="400000"/>
          </a:ln>
        </p:spPr>
      </p:pic>
    </p:spTree>
  </p:cSld>
  <p:clrMapOvr>
    <a:masterClrMapping/>
  </p:clrMapOvr>
  <p:transition spd="med" advTm="59178"/>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Shape 416"/>
          <p:cNvSpPr txBox="1">
            <a:spLocks noGrp="1"/>
          </p:cNvSpPr>
          <p:nvPr>
            <p:ph type="body" idx="1"/>
          </p:nvPr>
        </p:nvSpPr>
        <p:spPr>
          <a:prstGeom prst="rect">
            <a:avLst/>
          </a:prstGeom>
        </p:spPr>
        <p:txBody>
          <a:bodyPr/>
          <a:lstStyle>
            <a:lvl1pPr marL="342899" indent="-342899">
              <a:defRPr sz="2900"/>
            </a:lvl1pPr>
          </a:lstStyle>
          <a:p>
            <a:r>
              <a:t>Activation functions are usually centred around zero</a:t>
            </a:r>
          </a:p>
        </p:txBody>
      </p:sp>
      <p:sp>
        <p:nvSpPr>
          <p:cNvPr id="417" name="Shape 417"/>
          <p:cNvSpPr txBox="1">
            <a:spLocks noGrp="1"/>
          </p:cNvSpPr>
          <p:nvPr>
            <p:ph type="title"/>
          </p:nvPr>
        </p:nvSpPr>
        <p:spPr>
          <a:prstGeom prst="rect">
            <a:avLst/>
          </a:prstGeom>
        </p:spPr>
        <p:txBody>
          <a:bodyPr/>
          <a:lstStyle/>
          <a:p>
            <a:r>
              <a:t>Data pre-processing</a:t>
            </a:r>
          </a:p>
        </p:txBody>
      </p:sp>
      <p:sp>
        <p:nvSpPr>
          <p:cNvPr id="418" name="Shape 41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pic>
        <p:nvPicPr>
          <p:cNvPr id="419" name="pasted-image.png"/>
          <p:cNvPicPr>
            <a:picLocks noChangeAspect="1"/>
          </p:cNvPicPr>
          <p:nvPr/>
        </p:nvPicPr>
        <p:blipFill>
          <a:blip r:embed="rId2"/>
          <a:stretch>
            <a:fillRect/>
          </a:stretch>
        </p:blipFill>
        <p:spPr>
          <a:xfrm>
            <a:off x="6247479" y="2294280"/>
            <a:ext cx="2457699" cy="1913840"/>
          </a:xfrm>
          <a:prstGeom prst="rect">
            <a:avLst/>
          </a:prstGeom>
          <a:ln w="12700">
            <a:miter lim="400000"/>
          </a:ln>
        </p:spPr>
      </p:pic>
      <p:pic>
        <p:nvPicPr>
          <p:cNvPr id="420" name="Screen Shot 2019-03-06 at 17.04.01.png"/>
          <p:cNvPicPr>
            <a:picLocks noChangeAspect="1"/>
          </p:cNvPicPr>
          <p:nvPr/>
        </p:nvPicPr>
        <p:blipFill>
          <a:blip r:embed="rId3"/>
          <a:stretch>
            <a:fillRect/>
          </a:stretch>
        </p:blipFill>
        <p:spPr>
          <a:xfrm>
            <a:off x="438821" y="2333949"/>
            <a:ext cx="2715062" cy="1834502"/>
          </a:xfrm>
          <a:prstGeom prst="rect">
            <a:avLst/>
          </a:prstGeom>
          <a:ln w="12700">
            <a:miter lim="400000"/>
          </a:ln>
        </p:spPr>
      </p:pic>
      <p:pic>
        <p:nvPicPr>
          <p:cNvPr id="421" name="Screen Shot 2019-03-06 at 17.04.56.png"/>
          <p:cNvPicPr>
            <a:picLocks noChangeAspect="1"/>
          </p:cNvPicPr>
          <p:nvPr/>
        </p:nvPicPr>
        <p:blipFill>
          <a:blip r:embed="rId4"/>
          <a:stretch>
            <a:fillRect/>
          </a:stretch>
        </p:blipFill>
        <p:spPr>
          <a:xfrm>
            <a:off x="3317467" y="2333949"/>
            <a:ext cx="2766428" cy="1834502"/>
          </a:xfrm>
          <a:prstGeom prst="rect">
            <a:avLst/>
          </a:prstGeom>
          <a:ln w="12700">
            <a:miter lim="400000"/>
          </a:ln>
        </p:spPr>
      </p:pic>
      <p:sp>
        <p:nvSpPr>
          <p:cNvPr id="422" name="Shape 422"/>
          <p:cNvSpPr/>
          <p:nvPr/>
        </p:nvSpPr>
        <p:spPr>
          <a:xfrm>
            <a:off x="4699000" y="3070860"/>
            <a:ext cx="243840" cy="243841"/>
          </a:xfrm>
          <a:prstGeom prst="ellipse">
            <a:avLst/>
          </a:prstGeom>
          <a:solidFill>
            <a:schemeClr val="accent2"/>
          </a:solidFill>
          <a:ln w="25400">
            <a:solidFill>
              <a:srgbClr val="8C3A38"/>
            </a:solidFill>
            <a:bevel/>
          </a:ln>
        </p:spPr>
        <p:txBody>
          <a:bodyPr lIns="45719" rIns="45719" anchor="ctr"/>
          <a:lstStyle/>
          <a:p>
            <a:pPr>
              <a:defRPr>
                <a:solidFill>
                  <a:srgbClr val="FFFFFF"/>
                </a:solidFill>
              </a:defRPr>
            </a:pPr>
            <a:endParaRPr/>
          </a:p>
        </p:txBody>
      </p:sp>
      <p:sp>
        <p:nvSpPr>
          <p:cNvPr id="423" name="Shape 423"/>
          <p:cNvSpPr/>
          <p:nvPr/>
        </p:nvSpPr>
        <p:spPr>
          <a:xfrm>
            <a:off x="7429500" y="3972559"/>
            <a:ext cx="243840" cy="243841"/>
          </a:xfrm>
          <a:prstGeom prst="ellipse">
            <a:avLst/>
          </a:prstGeom>
          <a:solidFill>
            <a:schemeClr val="accent2"/>
          </a:solidFill>
          <a:ln w="25400">
            <a:solidFill>
              <a:srgbClr val="8C3A38"/>
            </a:solidFill>
            <a:bevel/>
          </a:ln>
        </p:spPr>
        <p:txBody>
          <a:bodyPr lIns="45719" rIns="45719" anchor="ctr"/>
          <a:lstStyle/>
          <a:p>
            <a:pPr>
              <a:defRPr>
                <a:solidFill>
                  <a:srgbClr val="FFFFFF"/>
                </a:solidFill>
              </a:defRPr>
            </a:pPr>
            <a:endParaRPr/>
          </a:p>
        </p:txBody>
      </p:sp>
      <p:sp>
        <p:nvSpPr>
          <p:cNvPr id="424" name="Shape 424"/>
          <p:cNvSpPr txBox="1"/>
          <p:nvPr/>
        </p:nvSpPr>
        <p:spPr>
          <a:xfrm>
            <a:off x="806609" y="4284979"/>
            <a:ext cx="1979487"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chemeClr val="accent2"/>
                </a:solidFill>
              </a:defRPr>
            </a:lvl1pPr>
          </a:lstStyle>
          <a:p>
            <a:r>
              <a:t>Not the sigmoid :( …</a:t>
            </a:r>
          </a:p>
        </p:txBody>
      </p:sp>
      <p:sp>
        <p:nvSpPr>
          <p:cNvPr id="425" name="Shape 425"/>
          <p:cNvSpPr/>
          <p:nvPr/>
        </p:nvSpPr>
        <p:spPr>
          <a:xfrm>
            <a:off x="393700" y="2286000"/>
            <a:ext cx="2805305" cy="1904314"/>
          </a:xfrm>
          <a:prstGeom prst="rect">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Tree>
  </p:cSld>
  <p:clrMapOvr>
    <a:masterClrMapping/>
  </p:clrMapOvr>
  <p:transition spd="med" advTm="33786"/>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Shape 427"/>
          <p:cNvSpPr txBox="1">
            <a:spLocks noGrp="1"/>
          </p:cNvSpPr>
          <p:nvPr>
            <p:ph type="body" idx="1"/>
          </p:nvPr>
        </p:nvSpPr>
        <p:spPr>
          <a:prstGeom prst="rect">
            <a:avLst/>
          </a:prstGeom>
        </p:spPr>
        <p:txBody>
          <a:bodyPr/>
          <a:lstStyle/>
          <a:p>
            <a:pPr marL="342899" indent="-342899">
              <a:defRPr sz="2900"/>
            </a:pPr>
            <a:r>
              <a:rPr dirty="0"/>
              <a:t>Activation functions are usually </a:t>
            </a:r>
            <a:r>
              <a:rPr dirty="0" err="1"/>
              <a:t>centred</a:t>
            </a:r>
            <a:r>
              <a:rPr dirty="0"/>
              <a:t> around zero</a:t>
            </a:r>
          </a:p>
          <a:p>
            <a:pPr marL="342899" indent="-342899">
              <a:defRPr sz="2900"/>
            </a:pPr>
            <a:r>
              <a:rPr dirty="0"/>
              <a:t>This is a good thing because it helps us to avoid saturation, which leads to </a:t>
            </a:r>
            <a:r>
              <a:rPr b="1" dirty="0">
                <a:latin typeface="+mn-lt"/>
                <a:ea typeface="+mn-ea"/>
                <a:cs typeface="+mn-cs"/>
                <a:sym typeface="Helvetica"/>
              </a:rPr>
              <a:t>vanishing gradients</a:t>
            </a:r>
          </a:p>
          <a:p>
            <a:pPr marL="342899" indent="-342899">
              <a:defRPr sz="2900"/>
            </a:pPr>
            <a:r>
              <a:rPr dirty="0"/>
              <a:t>At the same time, we like </a:t>
            </a:r>
            <a:r>
              <a:rPr b="1" dirty="0">
                <a:latin typeface="+mn-lt"/>
                <a:ea typeface="+mn-ea"/>
                <a:cs typeface="+mn-cs"/>
                <a:sym typeface="Helvetica"/>
              </a:rPr>
              <a:t>one-sided saturations </a:t>
            </a:r>
            <a:r>
              <a:rPr dirty="0"/>
              <a:t>because they help to avoid variance due to noise</a:t>
            </a:r>
          </a:p>
        </p:txBody>
      </p:sp>
      <p:sp>
        <p:nvSpPr>
          <p:cNvPr id="428" name="Shape 428"/>
          <p:cNvSpPr txBox="1">
            <a:spLocks noGrp="1"/>
          </p:cNvSpPr>
          <p:nvPr>
            <p:ph type="title"/>
          </p:nvPr>
        </p:nvSpPr>
        <p:spPr>
          <a:prstGeom prst="rect">
            <a:avLst/>
          </a:prstGeom>
        </p:spPr>
        <p:txBody>
          <a:bodyPr/>
          <a:lstStyle/>
          <a:p>
            <a:r>
              <a:rPr dirty="0"/>
              <a:t>Data pre-processing</a:t>
            </a:r>
          </a:p>
        </p:txBody>
      </p:sp>
      <p:sp>
        <p:nvSpPr>
          <p:cNvPr id="429" name="Shape 429"/>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sp>
        <p:nvSpPr>
          <p:cNvPr id="430" name="Shape 430"/>
          <p:cNvSpPr txBox="1"/>
          <p:nvPr/>
        </p:nvSpPr>
        <p:spPr>
          <a:xfrm>
            <a:off x="226034" y="4411979"/>
            <a:ext cx="8691933"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rPr dirty="0">
                <a:solidFill>
                  <a:schemeClr val="accent2"/>
                </a:solidFill>
              </a:rPr>
              <a:t>More about this here:</a:t>
            </a:r>
            <a:r>
              <a:rPr dirty="0"/>
              <a:t> </a:t>
            </a:r>
            <a:r>
              <a:rPr u="sng" dirty="0">
                <a:solidFill>
                  <a:srgbClr val="0000FF"/>
                </a:solidFill>
                <a:uFill>
                  <a:solidFill>
                    <a:srgbClr val="0000FF"/>
                  </a:solidFill>
                </a:uFill>
                <a:hlinkClick r:id="rId2"/>
              </a:rPr>
              <a:t>https://blog.paperspace.com/vanishing-gradients-activation-function/</a:t>
            </a:r>
          </a:p>
        </p:txBody>
      </p:sp>
    </p:spTree>
  </p:cSld>
  <p:clrMapOvr>
    <a:masterClrMapping/>
  </p:clrMapOvr>
  <p:transition spd="med" advTm="66748"/>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 name="Shape 432"/>
          <p:cNvSpPr txBox="1">
            <a:spLocks noGrp="1"/>
          </p:cNvSpPr>
          <p:nvPr>
            <p:ph type="body" idx="1"/>
          </p:nvPr>
        </p:nvSpPr>
        <p:spPr>
          <a:prstGeom prst="rect">
            <a:avLst/>
          </a:prstGeom>
        </p:spPr>
        <p:txBody>
          <a:bodyPr/>
          <a:lstStyle/>
          <a:p>
            <a:pPr marL="342899" indent="-342899">
              <a:defRPr sz="2900"/>
            </a:pPr>
            <a:r>
              <a:t>Subtract mean so that training data is centred around zero as well</a:t>
            </a:r>
          </a:p>
          <a:p>
            <a:pPr marL="800100" lvl="1" indent="-342900">
              <a:buChar char="•"/>
              <a:defRPr sz="2900"/>
            </a:pPr>
            <a:r>
              <a:t>Otherwise may cause vanishing gradients</a:t>
            </a:r>
          </a:p>
          <a:p>
            <a:pPr marL="342899" indent="-342899">
              <a:defRPr sz="2900"/>
            </a:pPr>
            <a:r>
              <a:t>Scale inputs to have similar diagonal covariances</a:t>
            </a:r>
          </a:p>
          <a:p>
            <a:pPr marL="800100" lvl="1" indent="-342900">
              <a:buChar char="•"/>
              <a:defRPr sz="2900"/>
            </a:pPr>
            <a:r>
              <a:t>Otherwise input samples with very different covariances can generate very different gradients and make the gradient update harder</a:t>
            </a:r>
          </a:p>
        </p:txBody>
      </p:sp>
      <p:sp>
        <p:nvSpPr>
          <p:cNvPr id="433" name="Shape 433"/>
          <p:cNvSpPr txBox="1">
            <a:spLocks noGrp="1"/>
          </p:cNvSpPr>
          <p:nvPr>
            <p:ph type="title"/>
          </p:nvPr>
        </p:nvSpPr>
        <p:spPr>
          <a:prstGeom prst="rect">
            <a:avLst/>
          </a:prstGeom>
        </p:spPr>
        <p:txBody>
          <a:bodyPr/>
          <a:lstStyle/>
          <a:p>
            <a:r>
              <a:t>Data pre-processing</a:t>
            </a:r>
          </a:p>
        </p:txBody>
      </p:sp>
      <p:sp>
        <p:nvSpPr>
          <p:cNvPr id="434" name="Shape 434"/>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Tree>
  </p:cSld>
  <p:clrMapOvr>
    <a:masterClrMapping/>
  </p:clrMapOvr>
  <p:transition spd="med" advTm="9991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hape 436"/>
          <p:cNvSpPr txBox="1">
            <a:spLocks noGrp="1"/>
          </p:cNvSpPr>
          <p:nvPr>
            <p:ph type="body" idx="1"/>
          </p:nvPr>
        </p:nvSpPr>
        <p:spPr>
          <a:prstGeom prst="rect">
            <a:avLst/>
          </a:prstGeom>
        </p:spPr>
        <p:txBody>
          <a:bodyPr/>
          <a:lstStyle>
            <a:lvl1pPr marL="342899" indent="-342899">
              <a:defRPr sz="2900"/>
            </a:lvl1pPr>
          </a:lstStyle>
          <a:p>
            <a:r>
              <a:t>When input variables are normally distributed, subtract mean and divide by standard deviation</a:t>
            </a:r>
          </a:p>
        </p:txBody>
      </p:sp>
      <p:sp>
        <p:nvSpPr>
          <p:cNvPr id="437" name="Shape 437"/>
          <p:cNvSpPr txBox="1">
            <a:spLocks noGrp="1"/>
          </p:cNvSpPr>
          <p:nvPr>
            <p:ph type="title"/>
          </p:nvPr>
        </p:nvSpPr>
        <p:spPr>
          <a:prstGeom prst="rect">
            <a:avLst/>
          </a:prstGeom>
        </p:spPr>
        <p:txBody>
          <a:bodyPr/>
          <a:lstStyle/>
          <a:p>
            <a:r>
              <a:t>Unit normalisation</a:t>
            </a:r>
          </a:p>
        </p:txBody>
      </p:sp>
      <p:sp>
        <p:nvSpPr>
          <p:cNvPr id="438" name="Shape 43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15</a:t>
            </a:fld>
            <a:endParaRPr/>
          </a:p>
        </p:txBody>
      </p:sp>
      <p:pic>
        <p:nvPicPr>
          <p:cNvPr id="439" name="pasted-image.png"/>
          <p:cNvPicPr>
            <a:picLocks noChangeAspect="1"/>
          </p:cNvPicPr>
          <p:nvPr/>
        </p:nvPicPr>
        <p:blipFill>
          <a:blip r:embed="rId2"/>
          <a:stretch>
            <a:fillRect/>
          </a:stretch>
        </p:blipFill>
        <p:spPr>
          <a:xfrm>
            <a:off x="351666" y="2877529"/>
            <a:ext cx="8440668" cy="2906342"/>
          </a:xfrm>
          <a:prstGeom prst="rect">
            <a:avLst/>
          </a:prstGeom>
          <a:ln w="12700">
            <a:miter lim="400000"/>
          </a:ln>
        </p:spPr>
      </p:pic>
      <p:sp>
        <p:nvSpPr>
          <p:cNvPr id="440" name="Shape 440"/>
          <p:cNvSpPr txBox="1"/>
          <p:nvPr/>
        </p:nvSpPr>
        <p:spPr>
          <a:xfrm>
            <a:off x="2921999" y="5994718"/>
            <a:ext cx="3300002" cy="2483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1200"/>
            </a:pPr>
            <a:r>
              <a:rPr>
                <a:solidFill>
                  <a:schemeClr val="accent2"/>
                </a:solidFill>
              </a:rPr>
              <a:t>Source: </a:t>
            </a:r>
            <a:r>
              <a:rPr u="sng">
                <a:solidFill>
                  <a:srgbClr val="0000FF"/>
                </a:solidFill>
                <a:uFill>
                  <a:solidFill>
                    <a:srgbClr val="0000FF"/>
                  </a:solidFill>
                </a:uFill>
                <a:hlinkClick r:id="rId3"/>
              </a:rPr>
              <a:t>http://cs231n.github.io/neural-networks-2/</a:t>
            </a:r>
          </a:p>
        </p:txBody>
      </p:sp>
    </p:spTree>
  </p:cSld>
  <p:clrMapOvr>
    <a:masterClrMapping/>
  </p:clrMapOvr>
  <p:transition spd="med" advTm="53718"/>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Shape 442"/>
          <p:cNvSpPr txBox="1">
            <a:spLocks noGrp="1"/>
          </p:cNvSpPr>
          <p:nvPr>
            <p:ph type="body" idx="1"/>
          </p:nvPr>
        </p:nvSpPr>
        <p:spPr>
          <a:prstGeom prst="rect">
            <a:avLst/>
          </a:prstGeom>
        </p:spPr>
        <p:txBody>
          <a:bodyPr/>
          <a:lstStyle/>
          <a:p>
            <a:pPr marL="342899" indent="-342899">
              <a:defRPr sz="2900"/>
            </a:pPr>
            <a:r>
              <a:t>Two important principles. The distribution of the data fed to the layers of a network should be:</a:t>
            </a:r>
          </a:p>
          <a:p>
            <a:pPr marL="800100" lvl="1" indent="-342900">
              <a:buChar char="•"/>
              <a:defRPr sz="2900"/>
            </a:pPr>
            <a:r>
              <a:t>zero-centred</a:t>
            </a:r>
          </a:p>
          <a:p>
            <a:pPr marL="800100" lvl="1" indent="-342900">
              <a:buChar char="•"/>
              <a:defRPr sz="2900"/>
            </a:pPr>
            <a:r>
              <a:t>constant through time and data (mini-batches)</a:t>
            </a:r>
          </a:p>
        </p:txBody>
      </p:sp>
      <p:sp>
        <p:nvSpPr>
          <p:cNvPr id="443" name="Shape 443"/>
          <p:cNvSpPr txBox="1">
            <a:spLocks noGrp="1"/>
          </p:cNvSpPr>
          <p:nvPr>
            <p:ph type="title"/>
          </p:nvPr>
        </p:nvSpPr>
        <p:spPr>
          <a:prstGeom prst="rect">
            <a:avLst/>
          </a:prstGeom>
        </p:spPr>
        <p:txBody>
          <a:bodyPr/>
          <a:lstStyle/>
          <a:p>
            <a:r>
              <a:t>Batch normalisation</a:t>
            </a:r>
          </a:p>
        </p:txBody>
      </p:sp>
      <p:sp>
        <p:nvSpPr>
          <p:cNvPr id="444" name="Shape 444"/>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spTree>
  </p:cSld>
  <p:clrMapOvr>
    <a:masterClrMapping/>
  </p:clrMapOvr>
  <p:transition spd="med" advTm="62188"/>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Shape 446"/>
          <p:cNvSpPr txBox="1">
            <a:spLocks noGrp="1"/>
          </p:cNvSpPr>
          <p:nvPr>
            <p:ph type="body" idx="1"/>
          </p:nvPr>
        </p:nvSpPr>
        <p:spPr>
          <a:prstGeom prst="rect">
            <a:avLst/>
          </a:prstGeom>
        </p:spPr>
        <p:txBody>
          <a:bodyPr/>
          <a:lstStyle/>
          <a:p>
            <a:pPr marL="342899" indent="-342899">
              <a:defRPr sz="2900"/>
            </a:pPr>
            <a:r>
              <a:t>Two important principles. The distribution of the data fed to the layers of a network should be:</a:t>
            </a:r>
          </a:p>
          <a:p>
            <a:pPr marL="800100" lvl="1" indent="-342900">
              <a:buChar char="•"/>
              <a:defRPr sz="2900" strike="sngStrike">
                <a:solidFill>
                  <a:schemeClr val="accent1"/>
                </a:solidFill>
              </a:defRPr>
            </a:pPr>
            <a:r>
              <a:t>zero-centred</a:t>
            </a:r>
            <a:r>
              <a:rPr strike="noStrike"/>
              <a:t> (done)</a:t>
            </a:r>
          </a:p>
          <a:p>
            <a:pPr marL="800100" lvl="1" indent="-342900">
              <a:buChar char="•"/>
              <a:defRPr sz="2900"/>
            </a:pPr>
            <a:r>
              <a:t>constant through time and data (mini-batches)</a:t>
            </a:r>
          </a:p>
          <a:p>
            <a:pPr marL="342899" indent="-342899">
              <a:defRPr sz="2900"/>
            </a:pPr>
            <a:r>
              <a:t>We already took care of the first point, but what about the second one?</a:t>
            </a:r>
          </a:p>
        </p:txBody>
      </p:sp>
      <p:sp>
        <p:nvSpPr>
          <p:cNvPr id="447" name="Shape 447"/>
          <p:cNvSpPr txBox="1">
            <a:spLocks noGrp="1"/>
          </p:cNvSpPr>
          <p:nvPr>
            <p:ph type="title"/>
          </p:nvPr>
        </p:nvSpPr>
        <p:spPr>
          <a:prstGeom prst="rect">
            <a:avLst/>
          </a:prstGeom>
        </p:spPr>
        <p:txBody>
          <a:bodyPr/>
          <a:lstStyle/>
          <a:p>
            <a:r>
              <a:t>Batch normalisation</a:t>
            </a:r>
          </a:p>
        </p:txBody>
      </p:sp>
      <p:sp>
        <p:nvSpPr>
          <p:cNvPr id="448" name="Shape 44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spTree>
  </p:cSld>
  <p:clrMapOvr>
    <a:masterClrMapping/>
  </p:clrMapOvr>
  <p:transition spd="med" advTm="23724"/>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Shape 450"/>
          <p:cNvSpPr txBox="1">
            <a:spLocks noGrp="1"/>
          </p:cNvSpPr>
          <p:nvPr>
            <p:ph type="body" idx="1"/>
          </p:nvPr>
        </p:nvSpPr>
        <p:spPr>
          <a:prstGeom prst="rect">
            <a:avLst/>
          </a:prstGeom>
        </p:spPr>
        <p:txBody>
          <a:bodyPr/>
          <a:lstStyle/>
          <a:p>
            <a:pPr marL="342899" indent="-342899">
              <a:defRPr sz="2900"/>
            </a:pPr>
            <a:r>
              <a:t>Two important principles. The distribution of the data fed to the layers of a network should be:</a:t>
            </a:r>
          </a:p>
          <a:p>
            <a:pPr marL="800100" lvl="1" indent="-342900">
              <a:buChar char="•"/>
              <a:defRPr sz="2900" strike="sngStrike">
                <a:solidFill>
                  <a:schemeClr val="accent1"/>
                </a:solidFill>
              </a:defRPr>
            </a:pPr>
            <a:r>
              <a:t>zero-centred</a:t>
            </a:r>
            <a:r>
              <a:rPr strike="noStrike"/>
              <a:t> (done)</a:t>
            </a:r>
          </a:p>
          <a:p>
            <a:pPr marL="800100" lvl="1" indent="-342900">
              <a:buChar char="•"/>
              <a:defRPr sz="2900"/>
            </a:pPr>
            <a:r>
              <a:t>constant through time and data (mini-batches)</a:t>
            </a:r>
          </a:p>
          <a:p>
            <a:pPr marL="342899" indent="-342899">
              <a:defRPr sz="2900"/>
            </a:pPr>
            <a:r>
              <a:t>We already took care of the first point, but what about the second one?</a:t>
            </a:r>
          </a:p>
          <a:p>
            <a:pPr marL="800100" lvl="1" indent="-342900">
              <a:buChar char="•"/>
              <a:defRPr sz="2900"/>
            </a:pPr>
            <a:r>
              <a:t>Normalise the activations of each layer!</a:t>
            </a:r>
          </a:p>
        </p:txBody>
      </p:sp>
      <p:sp>
        <p:nvSpPr>
          <p:cNvPr id="451" name="Shape 451"/>
          <p:cNvSpPr txBox="1">
            <a:spLocks noGrp="1"/>
          </p:cNvSpPr>
          <p:nvPr>
            <p:ph type="title"/>
          </p:nvPr>
        </p:nvSpPr>
        <p:spPr>
          <a:prstGeom prst="rect">
            <a:avLst/>
          </a:prstGeom>
        </p:spPr>
        <p:txBody>
          <a:bodyPr/>
          <a:lstStyle/>
          <a:p>
            <a:r>
              <a:t>Batch normalisation</a:t>
            </a:r>
          </a:p>
        </p:txBody>
      </p:sp>
      <p:sp>
        <p:nvSpPr>
          <p:cNvPr id="452" name="Shape 452"/>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spTree>
  </p:cSld>
  <p:clrMapOvr>
    <a:masterClrMapping/>
  </p:clrMapOvr>
  <p:transition spd="med" advTm="697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Shape 454"/>
          <p:cNvSpPr txBox="1">
            <a:spLocks noGrp="1"/>
          </p:cNvSpPr>
          <p:nvPr>
            <p:ph type="title"/>
          </p:nvPr>
        </p:nvSpPr>
        <p:spPr>
          <a:prstGeom prst="rect">
            <a:avLst/>
          </a:prstGeom>
        </p:spPr>
        <p:txBody>
          <a:bodyPr/>
          <a:lstStyle/>
          <a:p>
            <a:r>
              <a:t>Batch normalisation</a:t>
            </a:r>
          </a:p>
        </p:txBody>
      </p:sp>
      <p:sp>
        <p:nvSpPr>
          <p:cNvPr id="455" name="Shape 455"/>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sp>
        <p:nvSpPr>
          <p:cNvPr id="456" name="Shape 456"/>
          <p:cNvSpPr txBox="1"/>
          <p:nvPr/>
        </p:nvSpPr>
        <p:spPr>
          <a:xfrm>
            <a:off x="457200" y="5666260"/>
            <a:ext cx="8229600" cy="5167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spAutoFit/>
          </a:bodyPr>
          <a:lstStyle>
            <a:lvl1pPr algn="ctr" defTabSz="410765">
              <a:defRPr sz="1600">
                <a:solidFill>
                  <a:schemeClr val="accent2"/>
                </a:solidFill>
              </a:defRPr>
            </a:lvl1pPr>
          </a:lstStyle>
          <a:p>
            <a:r>
              <a:rPr dirty="0"/>
              <a:t>“Batch Normalization: Accelerating Deep Network Training by Reducing Internal Covariate Shift” </a:t>
            </a:r>
            <a:r>
              <a:rPr dirty="0" err="1"/>
              <a:t>Ioffe</a:t>
            </a:r>
            <a:r>
              <a:rPr dirty="0"/>
              <a:t> and </a:t>
            </a:r>
            <a:r>
              <a:rPr dirty="0" err="1"/>
              <a:t>Szegedy</a:t>
            </a:r>
            <a:r>
              <a:rPr dirty="0"/>
              <a:t> 2015</a:t>
            </a:r>
          </a:p>
        </p:txBody>
      </p:sp>
      <p:pic>
        <p:nvPicPr>
          <p:cNvPr id="457" name="pasted-image.png"/>
          <p:cNvPicPr>
            <a:picLocks noChangeAspect="1"/>
          </p:cNvPicPr>
          <p:nvPr/>
        </p:nvPicPr>
        <p:blipFill>
          <a:blip r:embed="rId2"/>
          <a:stretch>
            <a:fillRect/>
          </a:stretch>
        </p:blipFill>
        <p:spPr>
          <a:xfrm>
            <a:off x="2840494" y="1759675"/>
            <a:ext cx="3525367" cy="3398766"/>
          </a:xfrm>
          <a:prstGeom prst="rect">
            <a:avLst/>
          </a:prstGeom>
          <a:ln w="3175">
            <a:miter lim="400000"/>
          </a:ln>
        </p:spPr>
      </p:pic>
      <p:sp>
        <p:nvSpPr>
          <p:cNvPr id="458" name="Shape 458"/>
          <p:cNvSpPr txBox="1"/>
          <p:nvPr/>
        </p:nvSpPr>
        <p:spPr>
          <a:xfrm>
            <a:off x="6072614" y="3903270"/>
            <a:ext cx="235795" cy="4218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6789" tIns="26789" rIns="26789" bIns="26789" anchor="ctr">
            <a:spAutoFit/>
          </a:bodyPr>
          <a:lstStyle>
            <a:lvl1pPr algn="ctr" defTabSz="410765">
              <a:defRPr sz="2400">
                <a:latin typeface="+mn-lt"/>
                <a:ea typeface="+mn-ea"/>
                <a:cs typeface="+mn-cs"/>
                <a:sym typeface="Helvetica"/>
              </a:defRPr>
            </a:lvl1pPr>
          </a:lstStyle>
          <a:p>
            <a:r>
              <a:t>2</a:t>
            </a:r>
          </a:p>
        </p:txBody>
      </p:sp>
    </p:spTree>
  </p:cSld>
  <p:clrMapOvr>
    <a:masterClrMapping/>
  </p:clrMapOvr>
  <p:transition spd="med" advTm="41968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Shape 460"/>
          <p:cNvSpPr txBox="1">
            <a:spLocks noGrp="1"/>
          </p:cNvSpPr>
          <p:nvPr>
            <p:ph type="title"/>
          </p:nvPr>
        </p:nvSpPr>
        <p:spPr>
          <a:prstGeom prst="rect">
            <a:avLst/>
          </a:prstGeom>
        </p:spPr>
        <p:txBody>
          <a:bodyPr/>
          <a:lstStyle/>
          <a:p>
            <a:r>
              <a:t>Batch normalisation</a:t>
            </a:r>
          </a:p>
        </p:txBody>
      </p:sp>
      <p:sp>
        <p:nvSpPr>
          <p:cNvPr id="461" name="Shape 461"/>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sp>
        <p:nvSpPr>
          <p:cNvPr id="462" name="Shape 462"/>
          <p:cNvSpPr txBox="1"/>
          <p:nvPr/>
        </p:nvSpPr>
        <p:spPr>
          <a:xfrm>
            <a:off x="457200" y="5666260"/>
            <a:ext cx="8229600" cy="5167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6789" tIns="26789" rIns="26789" bIns="26789" anchor="ctr">
            <a:spAutoFit/>
          </a:bodyPr>
          <a:lstStyle>
            <a:lvl1pPr algn="ctr" defTabSz="410765">
              <a:defRPr sz="1600">
                <a:solidFill>
                  <a:schemeClr val="accent2"/>
                </a:solidFill>
              </a:defRPr>
            </a:lvl1pPr>
          </a:lstStyle>
          <a:p>
            <a:r>
              <a:t>“Batch Normalization: Accelerating Deep Network Training by Reducing Internal Covariate Shift” Ioffe and Szegedy 2015</a:t>
            </a:r>
          </a:p>
        </p:txBody>
      </p:sp>
      <p:pic>
        <p:nvPicPr>
          <p:cNvPr id="463" name="pasted-image.png"/>
          <p:cNvPicPr>
            <a:picLocks noChangeAspect="1"/>
          </p:cNvPicPr>
          <p:nvPr/>
        </p:nvPicPr>
        <p:blipFill>
          <a:blip r:embed="rId2"/>
          <a:stretch>
            <a:fillRect/>
          </a:stretch>
        </p:blipFill>
        <p:spPr>
          <a:xfrm>
            <a:off x="1326128" y="1580780"/>
            <a:ext cx="6491745" cy="3696439"/>
          </a:xfrm>
          <a:prstGeom prst="rect">
            <a:avLst/>
          </a:prstGeom>
          <a:ln w="3175">
            <a:miter lim="400000"/>
          </a:ln>
        </p:spPr>
      </p:pic>
    </p:spTree>
  </p:cSld>
  <p:clrMapOvr>
    <a:masterClrMapping/>
  </p:clrMapOvr>
  <p:transition spd="med" advTm="55184"/>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Shape 465"/>
          <p:cNvSpPr txBox="1">
            <a:spLocks noGrp="1"/>
          </p:cNvSpPr>
          <p:nvPr>
            <p:ph type="body" idx="1"/>
          </p:nvPr>
        </p:nvSpPr>
        <p:spPr>
          <a:prstGeom prst="rect">
            <a:avLst/>
          </a:prstGeom>
        </p:spPr>
        <p:txBody>
          <a:bodyPr/>
          <a:lstStyle/>
          <a:p>
            <a:pPr marL="342899" indent="-342899">
              <a:defRPr sz="2900"/>
            </a:pPr>
            <a:r>
              <a:t>Gradient descent and variants</a:t>
            </a:r>
          </a:p>
          <a:p>
            <a:pPr marL="342899" indent="-342899">
              <a:defRPr sz="2900"/>
            </a:pPr>
            <a:r>
              <a:t>Momentum and learning rate</a:t>
            </a:r>
          </a:p>
          <a:p>
            <a:pPr marL="342899" indent="-342899">
              <a:defRPr sz="2900"/>
            </a:pPr>
            <a:r>
              <a:t>Regularisation</a:t>
            </a:r>
          </a:p>
          <a:p>
            <a:pPr marL="342899" indent="-342899">
              <a:defRPr sz="2900"/>
            </a:pPr>
            <a:r>
              <a:t>Parameters initialisation</a:t>
            </a:r>
          </a:p>
          <a:p>
            <a:pPr marL="342899" indent="-342899">
              <a:defRPr sz="2900"/>
            </a:pPr>
            <a:r>
              <a:t>Input normalisation</a:t>
            </a:r>
          </a:p>
          <a:p>
            <a:pPr marL="342899" indent="-342899">
              <a:defRPr sz="2900"/>
            </a:pPr>
            <a:r>
              <a:t>Batch normalisation</a:t>
            </a:r>
          </a:p>
        </p:txBody>
      </p:sp>
      <p:sp>
        <p:nvSpPr>
          <p:cNvPr id="466" name="Shape 466"/>
          <p:cNvSpPr txBox="1">
            <a:spLocks noGrp="1"/>
          </p:cNvSpPr>
          <p:nvPr>
            <p:ph type="title"/>
          </p:nvPr>
        </p:nvSpPr>
        <p:spPr>
          <a:prstGeom prst="rect">
            <a:avLst/>
          </a:prstGeom>
        </p:spPr>
        <p:txBody>
          <a:bodyPr/>
          <a:lstStyle/>
          <a:p>
            <a:r>
              <a:t>Summary</a:t>
            </a:r>
          </a:p>
        </p:txBody>
      </p:sp>
      <p:sp>
        <p:nvSpPr>
          <p:cNvPr id="467" name="Shape 467"/>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spTree>
  </p:cSld>
  <p:clrMapOvr>
    <a:masterClrMapping/>
  </p:clrMapOvr>
  <p:transition spd="med" advTm="87364"/>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bevel/>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bevel/>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bevel/>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bevel/>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9267</TotalTime>
  <Words>979</Words>
  <Application>Microsoft Office PowerPoint</Application>
  <PresentationFormat>On-screen Show (4:3)</PresentationFormat>
  <Paragraphs>127</Paragraphs>
  <Slides>21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Chalkboard</vt:lpstr>
      <vt:lpstr>Helvetica Neue</vt:lpstr>
      <vt:lpstr>Arial</vt:lpstr>
      <vt:lpstr>Calibri</vt:lpstr>
      <vt:lpstr>Helvetica</vt:lpstr>
      <vt:lpstr>Default</vt:lpstr>
      <vt:lpstr>Deep Learning (CS324)  4. Optimisation and regularisation* (Continued)</vt:lpstr>
      <vt:lpstr>Plagiarism policy</vt:lpstr>
      <vt:lpstr>Plagiarism policy</vt:lpstr>
      <vt:lpstr>Plagiarism policy What is OK, and what isn't OK?</vt:lpstr>
      <vt:lpstr>Plagiarism policy </vt:lpstr>
      <vt:lpstr>Summary</vt:lpstr>
      <vt:lpstr>Weight initialisation</vt:lpstr>
      <vt:lpstr>Weight initialisation</vt:lpstr>
      <vt:lpstr>Weight initialisation</vt:lpstr>
      <vt:lpstr>Weight initialisation</vt:lpstr>
      <vt:lpstr>Data pre-processing</vt:lpstr>
      <vt:lpstr>Data pre-processing</vt:lpstr>
      <vt:lpstr>Data pre-processing</vt:lpstr>
      <vt:lpstr>Data pre-processing</vt:lpstr>
      <vt:lpstr>Unit normalisation</vt:lpstr>
      <vt:lpstr>Batch normalisation</vt:lpstr>
      <vt:lpstr>Batch normalisation</vt:lpstr>
      <vt:lpstr>Batch normalisation</vt:lpstr>
      <vt:lpstr>Batch normalisation</vt:lpstr>
      <vt:lpstr>Batch normalisation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(CS324)  4. Optimisation and regularisation*</dc:title>
  <cp:lastModifiedBy>Jianguo Zhang (Staff)</cp:lastModifiedBy>
  <cp:revision>98</cp:revision>
  <dcterms:modified xsi:type="dcterms:W3CDTF">2020-04-02T03:16:24Z</dcterms:modified>
</cp:coreProperties>
</file>