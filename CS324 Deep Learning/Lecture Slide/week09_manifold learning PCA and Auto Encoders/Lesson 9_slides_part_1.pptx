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81" r:id="rId3"/>
    <p:sldId id="375" r:id="rId4"/>
    <p:sldId id="356" r:id="rId5"/>
    <p:sldId id="361" r:id="rId6"/>
    <p:sldId id="366" r:id="rId7"/>
    <p:sldId id="358" r:id="rId8"/>
    <p:sldId id="359" r:id="rId9"/>
    <p:sldId id="360" r:id="rId10"/>
    <p:sldId id="336" r:id="rId11"/>
    <p:sldId id="337" r:id="rId12"/>
    <p:sldId id="376" r:id="rId13"/>
    <p:sldId id="377" r:id="rId14"/>
    <p:sldId id="378" r:id="rId15"/>
    <p:sldId id="367" r:id="rId16"/>
    <p:sldId id="368" r:id="rId17"/>
    <p:sldId id="310" r:id="rId18"/>
    <p:sldId id="311" r:id="rId19"/>
    <p:sldId id="312" r:id="rId20"/>
    <p:sldId id="380" r:id="rId2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510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88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40D15-9517-9A43-B8B0-C5BE6343C6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26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Shape 12"/>
          <p:cNvSpPr txBox="1">
            <a:spLocks noGrp="1"/>
          </p:cNvSpPr>
          <p:nvPr>
            <p:ph type="body" sz="half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Shape 2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Shape 30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Shape 39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hape 48"/>
          <p:cNvSpPr txBox="1">
            <a:spLocks noGrp="1"/>
          </p:cNvSpPr>
          <p:nvPr>
            <p:ph type="body" sz="quarter" idx="1"/>
          </p:nvPr>
        </p:nvSpPr>
        <p:spPr>
          <a:xfrm>
            <a:off x="457200" y="1435465"/>
            <a:ext cx="4040188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1346200" y="4800600"/>
            <a:ext cx="63627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body" sz="quarter" idx="1"/>
          </p:nvPr>
        </p:nvSpPr>
        <p:spPr>
          <a:xfrm>
            <a:off x="1346200" y="5367337"/>
            <a:ext cx="6362700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hape 8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/>
          </p:cNvSpPr>
          <p:nvPr>
            <p:ph type="title"/>
          </p:nvPr>
        </p:nvSpPr>
        <p:spPr>
          <a:xfrm>
            <a:off x="669726" y="312539"/>
            <a:ext cx="7804548" cy="1518047"/>
          </a:xfrm>
          <a:prstGeom prst="rect">
            <a:avLst/>
          </a:prstGeom>
          <a:ln w="3175"/>
        </p:spPr>
        <p:txBody>
          <a:bodyPr lIns="35718" tIns="35718" rIns="35718" bIns="35718"/>
          <a:lstStyle>
            <a:lvl1pPr defTabSz="410765">
              <a:defRPr sz="56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08" name="Shape 108"/>
          <p:cNvSpPr>
            <a:spLocks noGrp="1"/>
          </p:cNvSpPr>
          <p:nvPr>
            <p:ph type="body" idx="1"/>
          </p:nvPr>
        </p:nvSpPr>
        <p:spPr>
          <a:xfrm>
            <a:off x="669726" y="1830585"/>
            <a:ext cx="7804548" cy="4420197"/>
          </a:xfrm>
          <a:prstGeom prst="rect">
            <a:avLst/>
          </a:prstGeom>
          <a:ln w="3175"/>
        </p:spPr>
        <p:txBody>
          <a:bodyPr lIns="35718" tIns="35718" rIns="35718" bIns="35718" anchor="ctr"/>
          <a:lstStyle>
            <a:lvl1pPr marL="296333" indent="-296333" defTabSz="410765">
              <a:spcBef>
                <a:spcPts val="2900"/>
              </a:spcBef>
              <a:buSzPct val="75000"/>
              <a:buFontTx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  <a:lvl2pPr marL="740833" indent="-296333" defTabSz="410765">
              <a:spcBef>
                <a:spcPts val="2900"/>
              </a:spcBef>
              <a:buSzPct val="75000"/>
              <a:buFontTx/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2pPr>
            <a:lvl3pPr marL="1185333" indent="-296333" defTabSz="410765">
              <a:spcBef>
                <a:spcPts val="2900"/>
              </a:spcBef>
              <a:buSzPct val="75000"/>
              <a:buFontTx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3pPr>
            <a:lvl4pPr marL="1629833" indent="-296333" defTabSz="410765">
              <a:spcBef>
                <a:spcPts val="2900"/>
              </a:spcBef>
              <a:buSzPct val="75000"/>
              <a:buFontTx/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4pPr>
            <a:lvl5pPr marL="2074333" indent="-296333" defTabSz="410765">
              <a:spcBef>
                <a:spcPts val="2900"/>
              </a:spcBef>
              <a:buSzPct val="75000"/>
              <a:buFontTx/>
              <a:buChar char="•"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hape 109"/>
          <p:cNvSpPr/>
          <p:nvPr/>
        </p:nvSpPr>
        <p:spPr>
          <a:xfrm>
            <a:off x="8195691" y="6566792"/>
            <a:ext cx="914352" cy="19843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8" tIns="35718" rIns="35718" bIns="35718" anchor="ctr">
            <a:spAutoFit/>
          </a:bodyPr>
          <a:lstStyle>
            <a:lvl1pPr algn="ctr" defTabSz="410765">
              <a:defRPr sz="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(Goodfellow 2016)</a:t>
            </a:r>
          </a:p>
        </p:txBody>
      </p:sp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xfrm>
            <a:off x="4440732" y="6505277"/>
            <a:ext cx="253607" cy="249238"/>
          </a:xfrm>
          <a:prstGeom prst="rect">
            <a:avLst/>
          </a:prstGeom>
          <a:ln w="3175"/>
        </p:spPr>
        <p:txBody>
          <a:bodyPr wrap="none" lIns="35718" tIns="35718" rIns="35718" bIns="35718" anchor="t"/>
          <a:lstStyle>
            <a:lvl1pPr algn="ctr" defTabSz="410765">
              <a:defRPr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Shape 3"/>
          <p:cNvSpPr txBox="1"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 txBox="1">
            <a:spLocks noGrp="1"/>
          </p:cNvSpPr>
          <p:nvPr>
            <p:ph type="sldNum" sz="quarter" idx="2"/>
          </p:nvPr>
        </p:nvSpPr>
        <p:spPr>
          <a:xfrm>
            <a:off x="6553200" y="6414760"/>
            <a:ext cx="21336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21468" marR="0" indent="-321468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1pPr>
      <a:lvl2pPr marL="763360" marR="0" indent="-3061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2pPr>
      <a:lvl3pPr marL="1200150" marR="0" indent="-28575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3pPr>
      <a:lvl4pPr marL="17145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4pPr>
      <a:lvl5pPr marL="21717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5pPr>
      <a:lvl6pPr marL="2628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6pPr>
      <a:lvl7pPr marL="30861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7pPr>
      <a:lvl8pPr marL="35433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8pPr>
      <a:lvl9pPr marL="40005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eplearningbook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hyperlink" Target="http://cs231n.stanford.edu/slides/2018/cs231n_2018_lecture10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40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arunmallya.github.io/writeups/nn/lstm/index.html#/1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hyperlink" Target="http://cs231n.stanford.edu/slides/2018/cs231n_2018_lecture10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406.1078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deeplearning.net/tutorial/lstm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proceedings.mlr.press/v37/jozefowicz15.pdf" TargetMode="External"/><Relationship Id="rId2" Type="http://schemas.openxmlformats.org/officeDocument/2006/relationships/hyperlink" Target="https://arxiv.org/pdf/1503.04069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people/karpathy/recurrentjs/" TargetMode="External"/><Relationship Id="rId2" Type="http://schemas.openxmlformats.org/officeDocument/2006/relationships/hyperlink" Target="http://www.hexahedria.com/2015/08/03/composing-music-with-recurrent-neural-network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.googleblog.com/2019/03/an-all-neural-on-device-speech.html" TargetMode="External"/><Relationship Id="rId4" Type="http://schemas.openxmlformats.org/officeDocument/2006/relationships/hyperlink" Target="https://ai.googleblog.com/2017/08/transformer-novel-neural-network.html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ctrTitle"/>
          </p:nvPr>
        </p:nvSpPr>
        <p:spPr>
          <a:xfrm>
            <a:off x="685800" y="371475"/>
            <a:ext cx="7772400" cy="3425230"/>
          </a:xfrm>
          <a:prstGeom prst="rect">
            <a:avLst/>
          </a:prstGeom>
        </p:spPr>
        <p:txBody>
          <a:bodyPr/>
          <a:lstStyle/>
          <a:p>
            <a:pPr>
              <a:defRPr sz="3400"/>
            </a:pPr>
            <a:r>
              <a:rPr dirty="0"/>
              <a:t>Deep Learning (CS324)</a:t>
            </a:r>
          </a:p>
          <a:p>
            <a:pPr>
              <a:defRPr sz="3400"/>
            </a:pPr>
            <a:endParaRPr dirty="0"/>
          </a:p>
          <a:p>
            <a:pPr>
              <a:defRPr sz="3400">
                <a:solidFill>
                  <a:schemeClr val="accent2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rPr sz="3400" dirty="0"/>
              <a:t>6. Recurrent Neural Networks*</a:t>
            </a:r>
            <a:br>
              <a:rPr lang="en-US" sz="3400" dirty="0"/>
            </a:br>
            <a:r>
              <a:rPr lang="en-US" sz="3400" dirty="0"/>
              <a:t>(Continued)</a:t>
            </a:r>
            <a:endParaRPr sz="3400" dirty="0"/>
          </a:p>
        </p:txBody>
      </p:sp>
      <p:sp>
        <p:nvSpPr>
          <p:cNvPr id="121" name="Shape 121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800"/>
            </a:pPr>
            <a:r>
              <a:rPr lang="en-US" dirty="0"/>
              <a:t>Jianguo Zhang</a:t>
            </a:r>
            <a:endParaRPr dirty="0"/>
          </a:p>
          <a:p>
            <a:pPr>
              <a:defRPr sz="2800"/>
            </a:pPr>
            <a:r>
              <a:rPr dirty="0" err="1"/>
              <a:t>SUSTech</a:t>
            </a:r>
            <a:endParaRPr dirty="0"/>
          </a:p>
        </p:txBody>
      </p:sp>
      <p:sp>
        <p:nvSpPr>
          <p:cNvPr id="122" name="Shape 122"/>
          <p:cNvSpPr txBox="1"/>
          <p:nvPr/>
        </p:nvSpPr>
        <p:spPr>
          <a:xfrm>
            <a:off x="1832838" y="6404292"/>
            <a:ext cx="54783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rPr>
                <a:solidFill>
                  <a:schemeClr val="accent2"/>
                </a:solidFill>
              </a:rPr>
              <a:t>*</a:t>
            </a:r>
            <a:r>
              <a:t>Based on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http://www.deeplearningbook.org</a:t>
            </a:r>
            <a:r>
              <a:t> chapter 10 + sources mentioned in slides</a:t>
            </a:r>
          </a:p>
        </p:txBody>
      </p:sp>
    </p:spTree>
  </p:cSld>
  <p:clrMapOvr>
    <a:masterClrMapping/>
  </p:clrMapOvr>
  <p:transition spd="med" advTm="20752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2056F-74DA-404F-88B8-8EC53B92A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078396"/>
            <a:ext cx="8229600" cy="1185640"/>
          </a:xfrm>
        </p:spPr>
        <p:txBody>
          <a:bodyPr/>
          <a:lstStyle/>
          <a:p>
            <a:r>
              <a:rPr lang="en-US" dirty="0"/>
              <a:t>Gated Recurrent Neural Network</a:t>
            </a:r>
          </a:p>
          <a:p>
            <a:r>
              <a:rPr lang="en-US" dirty="0"/>
              <a:t>Different architectures of RNN.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545A8D-5873-4F5D-AB2A-DB1FDBA9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</p:spTree>
    <p:extLst>
      <p:ext uri="{BB962C8B-B14F-4D97-AF65-F5344CB8AC3E}">
        <p14:creationId xmlns:p14="http://schemas.microsoft.com/office/powerpoint/2010/main" val="1515117319"/>
      </p:ext>
    </p:extLst>
  </p:cSld>
  <p:clrMapOvr>
    <a:masterClrMapping/>
  </p:clrMapOvr>
  <p:transition spd="med" advTm="32247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 Forward Pass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2BC513F-4066-3144-BC21-D30ADC72B7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71704" y="2561170"/>
                <a:ext cx="4530436" cy="30549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tanh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2BC513F-4066-3144-BC21-D30ADC72B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71704" y="2561170"/>
                <a:ext cx="4530436" cy="3054928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B39EA89-59C0-7445-B3ED-31247A223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95" y="2154440"/>
            <a:ext cx="5295915" cy="3366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25CE55-C3B5-C144-AC2A-93ABB4FFAE07}"/>
              </a:ext>
            </a:extLst>
          </p:cNvPr>
          <p:cNvSpPr txBox="1"/>
          <p:nvPr/>
        </p:nvSpPr>
        <p:spPr>
          <a:xfrm>
            <a:off x="7947134" y="6550223"/>
            <a:ext cx="1202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MU Bright Roman"/>
                <a:cs typeface="CMU Bright Roman"/>
                <a:hlinkClick r:id="rId7"/>
              </a:rPr>
              <a:t>Figure source</a:t>
            </a:r>
            <a:r>
              <a:rPr lang="en-US" sz="1400" dirty="0">
                <a:latin typeface="CMU Bright Roman"/>
                <a:cs typeface="CMU Bright Roman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228578"/>
      </p:ext>
    </p:extLst>
  </p:cSld>
  <p:clrMapOvr>
    <a:masterClrMapping/>
  </p:clrMapOvr>
  <p:transition spd="med" advTm="24230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LSTM Backward Pass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39EA89-59C0-7445-B3ED-31247A22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5" y="2154440"/>
            <a:ext cx="5295915" cy="3366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25CE55-C3B5-C144-AC2A-93ABB4FFAE07}"/>
              </a:ext>
            </a:extLst>
          </p:cNvPr>
          <p:cNvSpPr txBox="1"/>
          <p:nvPr/>
        </p:nvSpPr>
        <p:spPr>
          <a:xfrm>
            <a:off x="7947134" y="6550223"/>
            <a:ext cx="1202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MU Bright Roman"/>
                <a:cs typeface="CMU Bright Roman"/>
                <a:hlinkClick r:id="rId4"/>
              </a:rPr>
              <a:t>Figure source</a:t>
            </a:r>
            <a:r>
              <a:rPr lang="en-US" sz="1400" dirty="0">
                <a:latin typeface="CMU Bright Roman"/>
                <a:cs typeface="CMU Bright Roman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C32B65-D12D-754F-B94A-19243A53C9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39710" y="2499827"/>
                <a:ext cx="3443033" cy="32919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Gradient flow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only involves back-propagating through addition and elementwise multiplication, not matrix multiplication or tanh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FC32B65-D12D-754F-B94A-19243A53C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39710" y="2499827"/>
                <a:ext cx="3443033" cy="3291917"/>
              </a:xfrm>
              <a:blipFill>
                <a:blip r:embed="rId7"/>
                <a:stretch>
                  <a:fillRect l="-2574" t="-1154" r="-3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53FB86-5B4E-224E-A773-0EB046EDB6D7}"/>
              </a:ext>
            </a:extLst>
          </p:cNvPr>
          <p:cNvCxnSpPr>
            <a:cxnSpLocks/>
          </p:cNvCxnSpPr>
          <p:nvPr/>
        </p:nvCxnSpPr>
        <p:spPr>
          <a:xfrm flipH="1">
            <a:off x="4085112" y="2838203"/>
            <a:ext cx="122315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85A58B-6D42-5643-8CEC-A954E141DF77}"/>
              </a:ext>
            </a:extLst>
          </p:cNvPr>
          <p:cNvCxnSpPr>
            <a:cxnSpLocks/>
          </p:cNvCxnSpPr>
          <p:nvPr/>
        </p:nvCxnSpPr>
        <p:spPr>
          <a:xfrm flipH="1" flipV="1">
            <a:off x="3251860" y="2836224"/>
            <a:ext cx="560119" cy="19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FC235D-72EB-124E-B885-54F680FE202A}"/>
              </a:ext>
            </a:extLst>
          </p:cNvPr>
          <p:cNvCxnSpPr>
            <a:cxnSpLocks/>
          </p:cNvCxnSpPr>
          <p:nvPr/>
        </p:nvCxnSpPr>
        <p:spPr>
          <a:xfrm flipH="1" flipV="1">
            <a:off x="2596334" y="2834246"/>
            <a:ext cx="464710" cy="19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BC4733-0ABF-E042-BEC2-5EFD52EEFC72}"/>
              </a:ext>
            </a:extLst>
          </p:cNvPr>
          <p:cNvCxnSpPr>
            <a:cxnSpLocks/>
          </p:cNvCxnSpPr>
          <p:nvPr/>
        </p:nvCxnSpPr>
        <p:spPr>
          <a:xfrm flipH="1">
            <a:off x="676894" y="2834246"/>
            <a:ext cx="169619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65B1D7-D3F9-7340-A118-066E9D8CE96B}"/>
              </a:ext>
            </a:extLst>
          </p:cNvPr>
          <p:cNvSpPr txBox="1"/>
          <p:nvPr/>
        </p:nvSpPr>
        <p:spPr>
          <a:xfrm>
            <a:off x="0" y="579174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 complete details: </a:t>
            </a:r>
            <a:r>
              <a:rPr lang="en-US" sz="2400" dirty="0">
                <a:latin typeface="CMU Bright Roman"/>
                <a:cs typeface="CMU Bright Roman"/>
                <a:hlinkClick r:id="rId8"/>
              </a:rPr>
              <a:t>Illustrated LSTM Forward and Backward Pass</a:t>
            </a:r>
            <a:endParaRPr lang="en-US" sz="2400" dirty="0">
              <a:latin typeface="CMU Bright Roman"/>
              <a:cs typeface="CMU Bright Roma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5179432"/>
      </p:ext>
    </p:extLst>
  </p:cSld>
  <p:clrMapOvr>
    <a:masterClrMapping/>
  </p:clrMapOvr>
  <p:transition spd="med" advTm="1242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80045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Gated Recurrent Unit (GRU)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4C293-9B75-8548-A27B-76EC3BE19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204" y="2731325"/>
            <a:ext cx="2897727" cy="2706876"/>
          </a:xfrm>
        </p:spPr>
        <p:txBody>
          <a:bodyPr>
            <a:normAutofit/>
          </a:bodyPr>
          <a:lstStyle/>
          <a:p>
            <a:r>
              <a:rPr lang="en-US" sz="2400" dirty="0"/>
              <a:t>Get rid of separate cell state</a:t>
            </a:r>
          </a:p>
          <a:p>
            <a:endParaRPr lang="en-US" sz="2400" dirty="0"/>
          </a:p>
          <a:p>
            <a:r>
              <a:rPr lang="en-US" sz="2400" dirty="0"/>
              <a:t>Merge “forget” and “output” gates into “update” gate</a:t>
            </a:r>
          </a:p>
        </p:txBody>
      </p:sp>
      <p:sp>
        <p:nvSpPr>
          <p:cNvPr id="42" name="Oval 41"/>
          <p:cNvSpPr/>
          <p:nvPr/>
        </p:nvSpPr>
        <p:spPr>
          <a:xfrm>
            <a:off x="3944887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z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46947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72821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Oval 50"/>
          <p:cNvSpPr/>
          <p:nvPr/>
        </p:nvSpPr>
        <p:spPr>
          <a:xfrm>
            <a:off x="4063724" y="3690788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</p:cNvCxnSpPr>
          <p:nvPr/>
        </p:nvCxnSpPr>
        <p:spPr>
          <a:xfrm>
            <a:off x="4202493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324342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  <a:endCxn id="164" idx="1"/>
          </p:cNvCxnSpPr>
          <p:nvPr/>
        </p:nvCxnSpPr>
        <p:spPr>
          <a:xfrm>
            <a:off x="4341261" y="3829557"/>
            <a:ext cx="1252684" cy="1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72708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4381009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3860235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190923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46947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2864261" y="2406895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Update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99838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93945" y="3660419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6040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75213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6327" y="4142953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21029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468943" y="2340390"/>
            <a:ext cx="487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z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5857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5544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58614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cxnSpLocks/>
            <a:endCxn id="44" idx="3"/>
          </p:cNvCxnSpPr>
          <p:nvPr/>
        </p:nvCxnSpPr>
        <p:spPr>
          <a:xfrm flipV="1">
            <a:off x="586147" y="4011711"/>
            <a:ext cx="2217522" cy="338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1454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307241" y="1684767"/>
            <a:ext cx="703807" cy="2063921"/>
          </a:xfrm>
          <a:custGeom>
            <a:avLst/>
            <a:gdLst>
              <a:gd name="connsiteX0" fmla="*/ 374208 w 703807"/>
              <a:gd name="connsiteY0" fmla="*/ 0 h 2063921"/>
              <a:gd name="connsiteX1" fmla="*/ 691718 w 703807"/>
              <a:gd name="connsiteY1" fmla="*/ 1043301 h 2063921"/>
              <a:gd name="connsiteX2" fmla="*/ 0 w 703807"/>
              <a:gd name="connsiteY2" fmla="*/ 2063921 h 2063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3807" h="2063921">
                <a:moveTo>
                  <a:pt x="374208" y="0"/>
                </a:moveTo>
                <a:cubicBezTo>
                  <a:pt x="564147" y="349657"/>
                  <a:pt x="754086" y="699314"/>
                  <a:pt x="691718" y="1043301"/>
                </a:cubicBezTo>
                <a:cubicBezTo>
                  <a:pt x="629350" y="1387288"/>
                  <a:pt x="0" y="2063921"/>
                  <a:pt x="0" y="2063921"/>
                </a:cubicBezTo>
              </a:path>
            </a:pathLst>
          </a:cu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EDFB1-7A46-9D4B-8390-0A4E1AFE5890}"/>
              </a:ext>
            </a:extLst>
          </p:cNvPr>
          <p:cNvSpPr/>
          <p:nvPr/>
        </p:nvSpPr>
        <p:spPr>
          <a:xfrm>
            <a:off x="558347" y="6346494"/>
            <a:ext cx="82015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MU Bright Roman"/>
                <a:cs typeface="CMU Bright Roman"/>
              </a:rPr>
              <a:t>K. Cho, B. Van </a:t>
            </a:r>
            <a:r>
              <a:rPr lang="en-US" sz="1400" dirty="0" err="1">
                <a:latin typeface="CMU Bright Roman"/>
                <a:cs typeface="CMU Bright Roman"/>
              </a:rPr>
              <a:t>Merrienboer</a:t>
            </a:r>
            <a:r>
              <a:rPr lang="en-US" sz="1400" dirty="0">
                <a:latin typeface="CMU Bright Roman"/>
                <a:cs typeface="CMU Bright Roman"/>
              </a:rPr>
              <a:t>, C. </a:t>
            </a:r>
            <a:r>
              <a:rPr lang="en-US" sz="1400" dirty="0" err="1">
                <a:latin typeface="CMU Bright Roman"/>
                <a:cs typeface="CMU Bright Roman"/>
              </a:rPr>
              <a:t>Gulcehre</a:t>
            </a:r>
            <a:r>
              <a:rPr lang="en-US" sz="1400" dirty="0">
                <a:latin typeface="CMU Bright Roman"/>
                <a:cs typeface="CMU Bright Roman"/>
              </a:rPr>
              <a:t>, D. </a:t>
            </a:r>
            <a:r>
              <a:rPr lang="en-US" sz="1400" dirty="0" err="1">
                <a:latin typeface="CMU Bright Roman"/>
                <a:cs typeface="CMU Bright Roman"/>
              </a:rPr>
              <a:t>Bahdanau</a:t>
            </a:r>
            <a:r>
              <a:rPr lang="en-US" sz="1400" dirty="0">
                <a:latin typeface="CMU Bright Roman"/>
                <a:cs typeface="CMU Bright Roman"/>
              </a:rPr>
              <a:t>, F. </a:t>
            </a:r>
            <a:r>
              <a:rPr lang="en-US" sz="1400" dirty="0" err="1">
                <a:latin typeface="CMU Bright Roman"/>
                <a:cs typeface="CMU Bright Roman"/>
              </a:rPr>
              <a:t>Bougares</a:t>
            </a:r>
            <a:r>
              <a:rPr lang="en-US" sz="1400" dirty="0">
                <a:latin typeface="CMU Bright Roman"/>
                <a:cs typeface="CMU Bright Roman"/>
              </a:rPr>
              <a:t>, H. </a:t>
            </a:r>
            <a:r>
              <a:rPr lang="en-US" sz="1400" dirty="0" err="1">
                <a:latin typeface="CMU Bright Roman"/>
                <a:cs typeface="CMU Bright Roman"/>
              </a:rPr>
              <a:t>Schwenk</a:t>
            </a:r>
            <a:r>
              <a:rPr lang="en-US" sz="1400" dirty="0">
                <a:latin typeface="CMU Bright Roman"/>
                <a:cs typeface="CMU Bright Roman"/>
              </a:rPr>
              <a:t>, and Y. </a:t>
            </a:r>
            <a:r>
              <a:rPr lang="en-US" sz="1400" dirty="0" err="1">
                <a:latin typeface="CMU Bright Roman"/>
                <a:cs typeface="CMU Bright Roman"/>
              </a:rPr>
              <a:t>Bengio</a:t>
            </a:r>
            <a:r>
              <a:rPr lang="en-US" sz="1400" dirty="0">
                <a:latin typeface="CMU Bright Roman"/>
                <a:cs typeface="CMU Bright Roman"/>
              </a:rPr>
              <a:t>, </a:t>
            </a:r>
            <a:r>
              <a:rPr lang="en-US" sz="1400" dirty="0">
                <a:latin typeface="CMU Bright Roman"/>
                <a:cs typeface="CMU Bright Roman"/>
                <a:hlinkClick r:id="rId2"/>
              </a:rPr>
              <a:t>Learning phrase representations using RNN encoder-decoder for statistical machine translation</a:t>
            </a:r>
            <a:r>
              <a:rPr lang="en-US" sz="1400" dirty="0">
                <a:latin typeface="CMU Bright Roman"/>
                <a:cs typeface="CMU Bright Roman"/>
              </a:rPr>
              <a:t>, ACL 2014</a:t>
            </a:r>
          </a:p>
        </p:txBody>
      </p:sp>
      <p:sp>
        <p:nvSpPr>
          <p:cNvPr id="91" name="Oval 90"/>
          <p:cNvSpPr/>
          <p:nvPr/>
        </p:nvSpPr>
        <p:spPr>
          <a:xfrm>
            <a:off x="1588315" y="4037003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DAAC55-0328-0340-B1D8-6B2DDB0094AB}"/>
              </a:ext>
            </a:extLst>
          </p:cNvPr>
          <p:cNvSpPr txBox="1"/>
          <p:nvPr/>
        </p:nvSpPr>
        <p:spPr>
          <a:xfrm>
            <a:off x="1595074" y="3765213"/>
            <a:ext cx="288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1790626"/>
      </p:ext>
    </p:extLst>
  </p:cSld>
  <p:clrMapOvr>
    <a:masterClrMapping/>
  </p:clrMapOvr>
  <p:transition spd="med" advTm="43978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80045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Gated Recurrent Unit (GRU)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272821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Straight Arrow Connector 72"/>
          <p:cNvCxnSpPr>
            <a:stCxn id="44" idx="6"/>
          </p:cNvCxnSpPr>
          <p:nvPr/>
        </p:nvCxnSpPr>
        <p:spPr>
          <a:xfrm>
            <a:off x="324342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21029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5544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58614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69855" y="3449632"/>
            <a:ext cx="334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DF37BF-7B02-D74A-8BA6-DFCF57744591}"/>
                  </a:ext>
                </a:extLst>
              </p:cNvPr>
              <p:cNvSpPr txBox="1"/>
              <p:nvPr/>
            </p:nvSpPr>
            <p:spPr>
              <a:xfrm>
                <a:off x="6013207" y="3204962"/>
                <a:ext cx="198349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DF37BF-7B02-D74A-8BA6-DFCF57744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3204962"/>
                <a:ext cx="1983492" cy="475451"/>
              </a:xfrm>
              <a:prstGeom prst="rect">
                <a:avLst/>
              </a:prstGeom>
              <a:blipFill>
                <a:blip r:embed="rId4"/>
                <a:stretch>
                  <a:fillRect l="-1899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A363A77-35B7-7949-8213-90D5BDA784E8}"/>
              </a:ext>
            </a:extLst>
          </p:cNvPr>
          <p:cNvSpPr txBox="1"/>
          <p:nvPr/>
        </p:nvSpPr>
        <p:spPr>
          <a:xfrm>
            <a:off x="156327" y="4142953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3EFE6A7-18B2-954A-B739-7B046804F869}"/>
              </a:ext>
            </a:extLst>
          </p:cNvPr>
          <p:cNvCxnSpPr>
            <a:cxnSpLocks/>
          </p:cNvCxnSpPr>
          <p:nvPr/>
        </p:nvCxnSpPr>
        <p:spPr>
          <a:xfrm flipV="1">
            <a:off x="586147" y="4011711"/>
            <a:ext cx="2217522" cy="338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914503"/>
      </p:ext>
    </p:extLst>
  </p:cSld>
  <p:clrMapOvr>
    <a:masterClrMapping/>
  </p:clrMapOvr>
  <p:transition spd="med" advTm="27898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80045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Gated Recurrent Unit (GRU)</a:t>
            </a:r>
          </a:p>
        </p:txBody>
      </p:sp>
      <p:sp>
        <p:nvSpPr>
          <p:cNvPr id="43" name="Oval 42"/>
          <p:cNvSpPr/>
          <p:nvPr/>
        </p:nvSpPr>
        <p:spPr>
          <a:xfrm>
            <a:off x="146947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72821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Straight Arrow Connector 72"/>
          <p:cNvCxnSpPr>
            <a:stCxn id="44" idx="6"/>
          </p:cNvCxnSpPr>
          <p:nvPr/>
        </p:nvCxnSpPr>
        <p:spPr>
          <a:xfrm>
            <a:off x="324342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72708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190923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46947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99838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040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1029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5857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5544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58614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1454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2D99D0-DFC7-6046-A3ED-81239477DB31}"/>
                  </a:ext>
                </a:extLst>
              </p:cNvPr>
              <p:cNvSpPr txBox="1"/>
              <p:nvPr/>
            </p:nvSpPr>
            <p:spPr>
              <a:xfrm>
                <a:off x="6013207" y="2323577"/>
                <a:ext cx="247170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2D99D0-DFC7-6046-A3ED-81239477D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2323577"/>
                <a:ext cx="2471702" cy="475451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DF37BF-7B02-D74A-8BA6-DFCF57744591}"/>
                  </a:ext>
                </a:extLst>
              </p:cNvPr>
              <p:cNvSpPr txBox="1"/>
              <p:nvPr/>
            </p:nvSpPr>
            <p:spPr>
              <a:xfrm>
                <a:off x="6013207" y="3204962"/>
                <a:ext cx="245785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⨀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BDF37BF-7B02-D74A-8BA6-DFCF57744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3204962"/>
                <a:ext cx="2457852" cy="475451"/>
              </a:xfrm>
              <a:prstGeom prst="rect">
                <a:avLst/>
              </a:prstGeom>
              <a:blipFill>
                <a:blip r:embed="rId5"/>
                <a:stretch>
                  <a:fillRect l="-1538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F9B0FBA-85FE-1042-87F5-BD7597F9E019}"/>
              </a:ext>
            </a:extLst>
          </p:cNvPr>
          <p:cNvSpPr txBox="1"/>
          <p:nvPr/>
        </p:nvSpPr>
        <p:spPr>
          <a:xfrm>
            <a:off x="156327" y="4142953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D90F67-9DA8-7149-83BB-0097694D8A53}"/>
              </a:ext>
            </a:extLst>
          </p:cNvPr>
          <p:cNvCxnSpPr>
            <a:cxnSpLocks/>
          </p:cNvCxnSpPr>
          <p:nvPr/>
        </p:nvCxnSpPr>
        <p:spPr>
          <a:xfrm flipV="1">
            <a:off x="586147" y="4011711"/>
            <a:ext cx="2217522" cy="338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588315" y="4037003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CDE18F-1E00-454E-858B-18BCA7E7F4BA}"/>
              </a:ext>
            </a:extLst>
          </p:cNvPr>
          <p:cNvSpPr txBox="1"/>
          <p:nvPr/>
        </p:nvSpPr>
        <p:spPr>
          <a:xfrm>
            <a:off x="1595074" y="3765213"/>
            <a:ext cx="288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587019"/>
      </p:ext>
    </p:extLst>
  </p:cSld>
  <p:clrMapOvr>
    <a:masterClrMapping/>
  </p:clrMapOvr>
  <p:transition spd="med" advTm="27966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80045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Gated Recurrent Unit (GRU)</a:t>
            </a:r>
          </a:p>
        </p:txBody>
      </p:sp>
      <p:sp>
        <p:nvSpPr>
          <p:cNvPr id="42" name="Oval 41"/>
          <p:cNvSpPr/>
          <p:nvPr/>
        </p:nvSpPr>
        <p:spPr>
          <a:xfrm>
            <a:off x="3944887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z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46947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72821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Arrow Connector 52"/>
          <p:cNvCxnSpPr>
            <a:stCxn id="42" idx="4"/>
          </p:cNvCxnSpPr>
          <p:nvPr/>
        </p:nvCxnSpPr>
        <p:spPr>
          <a:xfrm>
            <a:off x="4202493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</p:cNvCxnSpPr>
          <p:nvPr/>
        </p:nvCxnSpPr>
        <p:spPr>
          <a:xfrm>
            <a:off x="324342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72708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4381009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3860235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190923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46947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2864261" y="2406895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Update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99838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040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75213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1029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5857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5544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58614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1454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292F42E-F064-7C43-A9BB-1DC8D4A1592A}"/>
                  </a:ext>
                </a:extLst>
              </p:cNvPr>
              <p:cNvSpPr txBox="1"/>
              <p:nvPr/>
            </p:nvSpPr>
            <p:spPr>
              <a:xfrm>
                <a:off x="6013207" y="2323577"/>
                <a:ext cx="247170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292F42E-F064-7C43-A9BB-1DC8D4A15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2323577"/>
                <a:ext cx="2471702" cy="475451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B2E06FD-55E0-584B-A385-21971C5AD149}"/>
                  </a:ext>
                </a:extLst>
              </p:cNvPr>
              <p:cNvSpPr txBox="1"/>
              <p:nvPr/>
            </p:nvSpPr>
            <p:spPr>
              <a:xfrm>
                <a:off x="6013207" y="3204962"/>
                <a:ext cx="245785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⨀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B2E06FD-55E0-584B-A385-21971C5AD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3204962"/>
                <a:ext cx="2457852" cy="475451"/>
              </a:xfrm>
              <a:prstGeom prst="rect">
                <a:avLst/>
              </a:prstGeom>
              <a:blipFill>
                <a:blip r:embed="rId5"/>
                <a:stretch>
                  <a:fillRect l="-1538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5A9034-920E-7B44-92FA-9E2BF94C7025}"/>
                  </a:ext>
                </a:extLst>
              </p:cNvPr>
              <p:cNvSpPr txBox="1"/>
              <p:nvPr/>
            </p:nvSpPr>
            <p:spPr>
              <a:xfrm>
                <a:off x="6013207" y="4081030"/>
                <a:ext cx="2493055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5A9034-920E-7B44-92FA-9E2BF94C7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4081030"/>
                <a:ext cx="2493055" cy="475451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5E58E51F-C843-BA43-B691-48A498B3C5E4}"/>
              </a:ext>
            </a:extLst>
          </p:cNvPr>
          <p:cNvSpPr txBox="1"/>
          <p:nvPr/>
        </p:nvSpPr>
        <p:spPr>
          <a:xfrm>
            <a:off x="4417585" y="2316487"/>
            <a:ext cx="487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z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5B1039-7AC6-1443-940C-C9676B917F92}"/>
              </a:ext>
            </a:extLst>
          </p:cNvPr>
          <p:cNvSpPr txBox="1"/>
          <p:nvPr/>
        </p:nvSpPr>
        <p:spPr>
          <a:xfrm>
            <a:off x="156327" y="4142953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0AA7186-80C8-384D-9866-92176F8EA6B3}"/>
              </a:ext>
            </a:extLst>
          </p:cNvPr>
          <p:cNvCxnSpPr>
            <a:cxnSpLocks/>
          </p:cNvCxnSpPr>
          <p:nvPr/>
        </p:nvCxnSpPr>
        <p:spPr>
          <a:xfrm flipV="1">
            <a:off x="586147" y="4011711"/>
            <a:ext cx="2217522" cy="338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588315" y="4037003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A2E4F9-DB8D-1945-8A7D-BE2215AA8CB8}"/>
              </a:ext>
            </a:extLst>
          </p:cNvPr>
          <p:cNvSpPr txBox="1"/>
          <p:nvPr/>
        </p:nvSpPr>
        <p:spPr>
          <a:xfrm>
            <a:off x="1595074" y="3765213"/>
            <a:ext cx="288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7305461"/>
      </p:ext>
    </p:extLst>
  </p:cSld>
  <p:clrMapOvr>
    <a:masterClrMapping/>
  </p:clrMapOvr>
  <p:transition spd="med" advTm="17678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800456" y="2240569"/>
            <a:ext cx="4419609" cy="3199101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Gated Recurrent Unit (GRU)</a:t>
            </a:r>
          </a:p>
        </p:txBody>
      </p:sp>
      <p:sp>
        <p:nvSpPr>
          <p:cNvPr id="42" name="Oval 41"/>
          <p:cNvSpPr/>
          <p:nvPr/>
        </p:nvSpPr>
        <p:spPr>
          <a:xfrm>
            <a:off x="3944887" y="2324443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z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469478" y="4864549"/>
            <a:ext cx="515211" cy="515211"/>
          </a:xfrm>
          <a:prstGeom prst="ellipse">
            <a:avLst/>
          </a:prstGeom>
          <a:solidFill>
            <a:schemeClr val="accent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 i="1" dirty="0" err="1">
                <a:solidFill>
                  <a:srgbClr val="000000"/>
                </a:solidFill>
                <a:latin typeface="CMU Bright Roman"/>
                <a:cs typeface="CMU Bright Roman"/>
              </a:rPr>
              <a:t>r</a:t>
            </a:r>
            <a:r>
              <a:rPr lang="en-US" sz="1600" i="1" baseline="-25000" dirty="0" err="1">
                <a:solidFill>
                  <a:srgbClr val="000000"/>
                </a:solidFill>
                <a:latin typeface="CMU Bright Roman"/>
                <a:cs typeface="CMU Bright Roman"/>
              </a:rPr>
              <a:t>t</a:t>
            </a:r>
            <a:endParaRPr lang="en-US" sz="1600" i="1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2728218" y="3571951"/>
            <a:ext cx="515211" cy="515211"/>
            <a:chOff x="6406139" y="3573941"/>
            <a:chExt cx="515211" cy="515211"/>
          </a:xfrm>
        </p:grpSpPr>
        <p:sp>
          <p:nvSpPr>
            <p:cNvPr id="44" name="Oval 43"/>
            <p:cNvSpPr/>
            <p:nvPr/>
          </p:nvSpPr>
          <p:spPr>
            <a:xfrm>
              <a:off x="6406139" y="3573941"/>
              <a:ext cx="515211" cy="515211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en-US" sz="1600" baseline="-25000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6512077" y="3727998"/>
              <a:ext cx="311489" cy="251615"/>
            </a:xfrm>
            <a:custGeom>
              <a:avLst/>
              <a:gdLst>
                <a:gd name="connsiteX0" fmla="*/ 0 w 515155"/>
                <a:gd name="connsiteY0" fmla="*/ 347468 h 347468"/>
                <a:gd name="connsiteX1" fmla="*/ 227627 w 515155"/>
                <a:gd name="connsiteY1" fmla="*/ 287559 h 347468"/>
                <a:gd name="connsiteX2" fmla="*/ 275548 w 515155"/>
                <a:gd name="connsiteY2" fmla="*/ 47926 h 347468"/>
                <a:gd name="connsiteX3" fmla="*/ 515155 w 515155"/>
                <a:gd name="connsiteY3" fmla="*/ 0 h 347468"/>
                <a:gd name="connsiteX4" fmla="*/ 515155 w 515155"/>
                <a:gd name="connsiteY4" fmla="*/ 0 h 347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55" h="347468">
                  <a:moveTo>
                    <a:pt x="0" y="347468"/>
                  </a:moveTo>
                  <a:cubicBezTo>
                    <a:pt x="90851" y="342475"/>
                    <a:pt x="181702" y="337483"/>
                    <a:pt x="227627" y="287559"/>
                  </a:cubicBezTo>
                  <a:cubicBezTo>
                    <a:pt x="273552" y="237635"/>
                    <a:pt x="227627" y="95852"/>
                    <a:pt x="275548" y="47926"/>
                  </a:cubicBezTo>
                  <a:cubicBezTo>
                    <a:pt x="323469" y="0"/>
                    <a:pt x="515155" y="0"/>
                    <a:pt x="515155" y="0"/>
                  </a:cubicBezTo>
                  <a:lnTo>
                    <a:pt x="51515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Oval 50"/>
          <p:cNvSpPr/>
          <p:nvPr/>
        </p:nvSpPr>
        <p:spPr>
          <a:xfrm>
            <a:off x="4063724" y="3690788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3" name="Straight Arrow Connector 52"/>
          <p:cNvCxnSpPr>
            <a:stCxn id="42" idx="4"/>
          </p:cNvCxnSpPr>
          <p:nvPr/>
        </p:nvCxnSpPr>
        <p:spPr>
          <a:xfrm>
            <a:off x="4202493" y="2839654"/>
            <a:ext cx="4028" cy="8546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44" idx="6"/>
            <a:endCxn id="51" idx="2"/>
          </p:cNvCxnSpPr>
          <p:nvPr/>
        </p:nvCxnSpPr>
        <p:spPr>
          <a:xfrm>
            <a:off x="3243429" y="3829557"/>
            <a:ext cx="820295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51" idx="6"/>
            <a:endCxn id="164" idx="1"/>
          </p:cNvCxnSpPr>
          <p:nvPr/>
        </p:nvCxnSpPr>
        <p:spPr>
          <a:xfrm>
            <a:off x="4341261" y="3829557"/>
            <a:ext cx="1252684" cy="13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43" idx="0"/>
            <a:endCxn id="91" idx="4"/>
          </p:cNvCxnSpPr>
          <p:nvPr/>
        </p:nvCxnSpPr>
        <p:spPr>
          <a:xfrm flipV="1">
            <a:off x="1727084" y="4314540"/>
            <a:ext cx="0" cy="55000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>
            <a:off x="4381009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3860235" y="1701396"/>
            <a:ext cx="169304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endCxn id="43" idx="5"/>
          </p:cNvCxnSpPr>
          <p:nvPr/>
        </p:nvCxnSpPr>
        <p:spPr>
          <a:xfrm flipH="1" flipV="1">
            <a:off x="190923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endCxn id="43" idx="3"/>
          </p:cNvCxnSpPr>
          <p:nvPr/>
        </p:nvCxnSpPr>
        <p:spPr>
          <a:xfrm flipV="1">
            <a:off x="1469478" y="5304309"/>
            <a:ext cx="75451" cy="68651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2864261" y="2406895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Update Gate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998384" y="4995637"/>
            <a:ext cx="916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CMU Bright Roman"/>
                <a:cs typeface="CMU Bright Roman"/>
              </a:rPr>
              <a:t>Reset Gate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93945" y="3660419"/>
            <a:ext cx="3878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60403" y="5911037"/>
            <a:ext cx="102408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</a:t>
            </a:r>
            <a:r>
              <a:rPr lang="en-US" sz="1600" i="1" dirty="0">
                <a:latin typeface="CMU Bright Roman"/>
                <a:cs typeface="CMU Bright Roman"/>
              </a:rPr>
              <a:t>     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75213" y="1362842"/>
            <a:ext cx="113795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r>
              <a:rPr lang="en-US" sz="1600" i="1" baseline="-25000" dirty="0">
                <a:latin typeface="CMU Bright Roman"/>
                <a:cs typeface="CMU Bright Roman"/>
              </a:rPr>
              <a:t>           </a:t>
            </a:r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ctr"/>
            <a:r>
              <a:rPr lang="en-US" sz="1600" i="1" baseline="-25000" dirty="0">
                <a:latin typeface="CMU Bright Roman"/>
                <a:cs typeface="CMU Bright Roman"/>
              </a:rPr>
              <a:t> 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10294" y="3262904"/>
            <a:ext cx="434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SemiBold Oblique"/>
                <a:cs typeface="CMU Bright SemiBold Oblique"/>
              </a:rPr>
              <a:t>W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417585" y="2316487"/>
            <a:ext cx="487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z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58577" y="5099647"/>
            <a:ext cx="4782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CMU Bright SemiBold Oblique"/>
                <a:cs typeface="CMU Bright SemiBold Oblique"/>
              </a:rPr>
              <a:t>W</a:t>
            </a:r>
            <a:r>
              <a:rPr lang="en-US" sz="1600" baseline="-25000" dirty="0" err="1">
                <a:latin typeface="CMU Bright SemiBold Oblique"/>
                <a:cs typeface="CMU Bright SemiBold Oblique"/>
              </a:rPr>
              <a:t>f</a:t>
            </a:r>
            <a:endParaRPr lang="en-US" sz="1600" baseline="-25000" dirty="0">
              <a:latin typeface="CMU Bright SemiBold Oblique"/>
              <a:cs typeface="CMU Bright SemiBold Oblique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55448" y="3235387"/>
            <a:ext cx="430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latin typeface="CMU Bright Roman"/>
                <a:cs typeface="CMU Bright Roman"/>
              </a:rPr>
              <a:t> </a:t>
            </a:r>
            <a:r>
              <a:rPr lang="en-US" sz="1600" dirty="0" err="1">
                <a:latin typeface="CMU Bright Roman"/>
                <a:cs typeface="CMU Bright Roman"/>
              </a:rPr>
              <a:t>x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96" name="Straight Arrow Connector 95"/>
          <p:cNvCxnSpPr>
            <a:stCxn id="95" idx="3"/>
            <a:endCxn id="44" idx="1"/>
          </p:cNvCxnSpPr>
          <p:nvPr/>
        </p:nvCxnSpPr>
        <p:spPr>
          <a:xfrm>
            <a:off x="586147" y="3404664"/>
            <a:ext cx="2217522" cy="24273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214544" y="3449632"/>
            <a:ext cx="445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i="1" dirty="0" err="1">
                <a:latin typeface="CMU Bright Roman"/>
                <a:cs typeface="CMU Bright Roman"/>
              </a:rPr>
              <a:t>h’</a:t>
            </a:r>
            <a:r>
              <a:rPr lang="en-US" sz="1600" i="1" baseline="-25000" dirty="0" err="1">
                <a:latin typeface="CMU Bright Roman"/>
                <a:cs typeface="CMU Bright Roman"/>
              </a:rPr>
              <a:t>t</a:t>
            </a:r>
            <a:endParaRPr lang="en-US" sz="1600" i="1" baseline="-25000" dirty="0">
              <a:latin typeface="CMU Bright Roman"/>
              <a:cs typeface="CMU Bright Roman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307241" y="1684767"/>
            <a:ext cx="703807" cy="2063921"/>
          </a:xfrm>
          <a:custGeom>
            <a:avLst/>
            <a:gdLst>
              <a:gd name="connsiteX0" fmla="*/ 374208 w 703807"/>
              <a:gd name="connsiteY0" fmla="*/ 0 h 2063921"/>
              <a:gd name="connsiteX1" fmla="*/ 691718 w 703807"/>
              <a:gd name="connsiteY1" fmla="*/ 1043301 h 2063921"/>
              <a:gd name="connsiteX2" fmla="*/ 0 w 703807"/>
              <a:gd name="connsiteY2" fmla="*/ 2063921 h 2063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3807" h="2063921">
                <a:moveTo>
                  <a:pt x="374208" y="0"/>
                </a:moveTo>
                <a:cubicBezTo>
                  <a:pt x="564147" y="349657"/>
                  <a:pt x="754086" y="699314"/>
                  <a:pt x="691718" y="1043301"/>
                </a:cubicBezTo>
                <a:cubicBezTo>
                  <a:pt x="629350" y="1387288"/>
                  <a:pt x="0" y="2063921"/>
                  <a:pt x="0" y="2063921"/>
                </a:cubicBezTo>
              </a:path>
            </a:pathLst>
          </a:custGeom>
          <a:ln w="12700">
            <a:solidFill>
              <a:schemeClr val="tx1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454256-DF23-3A4E-A1FD-D6C0EF5FA91D}"/>
                  </a:ext>
                </a:extLst>
              </p:cNvPr>
              <p:cNvSpPr txBox="1"/>
              <p:nvPr/>
            </p:nvSpPr>
            <p:spPr>
              <a:xfrm>
                <a:off x="6013207" y="2323577"/>
                <a:ext cx="247170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5454256-DF23-3A4E-A1FD-D6C0EF5FA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2323577"/>
                <a:ext cx="2471702" cy="475451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D0860BE-8983-EE44-A8F8-8455E8F94C3A}"/>
                  </a:ext>
                </a:extLst>
              </p:cNvPr>
              <p:cNvSpPr txBox="1"/>
              <p:nvPr/>
            </p:nvSpPr>
            <p:spPr>
              <a:xfrm>
                <a:off x="6013207" y="3204962"/>
                <a:ext cx="2457852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⨀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D0860BE-8983-EE44-A8F8-8455E8F94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3204962"/>
                <a:ext cx="2457852" cy="475451"/>
              </a:xfrm>
              <a:prstGeom prst="rect">
                <a:avLst/>
              </a:prstGeom>
              <a:blipFill>
                <a:blip r:embed="rId5"/>
                <a:stretch>
                  <a:fillRect l="-1538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5C9924E-0E05-B049-9AA9-DA4BC8D68101}"/>
                  </a:ext>
                </a:extLst>
              </p:cNvPr>
              <p:cNvSpPr txBox="1"/>
              <p:nvPr/>
            </p:nvSpPr>
            <p:spPr>
              <a:xfrm>
                <a:off x="6013207" y="4081030"/>
                <a:ext cx="2493055" cy="4754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5C9924E-0E05-B049-9AA9-DA4BC8D68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07" y="4081030"/>
                <a:ext cx="2493055" cy="475451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585744-FEFF-E74D-8EAC-5FE2D18CE1D3}"/>
                  </a:ext>
                </a:extLst>
              </p:cNvPr>
              <p:cNvSpPr txBox="1"/>
              <p:nvPr/>
            </p:nvSpPr>
            <p:spPr>
              <a:xfrm>
                <a:off x="6084459" y="5018929"/>
                <a:ext cx="29852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585744-FEFF-E74D-8EAC-5FE2D18CE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459" y="5018929"/>
                <a:ext cx="2985241" cy="276999"/>
              </a:xfrm>
              <a:prstGeom prst="rect">
                <a:avLst/>
              </a:prstGeom>
              <a:blipFill>
                <a:blip r:embed="rId7"/>
                <a:stretch>
                  <a:fillRect l="-2542" t="-4348" r="-42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28DF9DBC-DF41-DC48-A516-36430772570B}"/>
              </a:ext>
            </a:extLst>
          </p:cNvPr>
          <p:cNvSpPr txBox="1"/>
          <p:nvPr/>
        </p:nvSpPr>
        <p:spPr>
          <a:xfrm>
            <a:off x="156327" y="4142953"/>
            <a:ext cx="505362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i="1" dirty="0">
                <a:latin typeface="CMU Bright Roman"/>
                <a:cs typeface="CMU Bright Roman"/>
              </a:rPr>
              <a:t>h</a:t>
            </a:r>
            <a:r>
              <a:rPr lang="en-US" sz="1600" i="1" baseline="-25000" dirty="0">
                <a:latin typeface="CMU Bright Roman"/>
                <a:cs typeface="CMU Bright Roman"/>
              </a:rPr>
              <a:t>t-1</a:t>
            </a:r>
          </a:p>
          <a:p>
            <a:pPr algn="just"/>
            <a:endParaRPr lang="en-US" sz="1600" i="1" baseline="-25000" dirty="0">
              <a:latin typeface="CMU Bright Roman"/>
              <a:cs typeface="CMU Bright Roman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FCDA6DB-6880-0846-91B7-A1B99B44E3AD}"/>
              </a:ext>
            </a:extLst>
          </p:cNvPr>
          <p:cNvCxnSpPr>
            <a:cxnSpLocks/>
          </p:cNvCxnSpPr>
          <p:nvPr/>
        </p:nvCxnSpPr>
        <p:spPr>
          <a:xfrm flipV="1">
            <a:off x="586147" y="4011711"/>
            <a:ext cx="2217522" cy="3382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588315" y="4037003"/>
            <a:ext cx="277537" cy="277537"/>
          </a:xfrm>
          <a:prstGeom prst="ellipse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baseline="-250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DAAC55-0328-0340-B1D8-6B2DDB0094AB}"/>
              </a:ext>
            </a:extLst>
          </p:cNvPr>
          <p:cNvSpPr txBox="1"/>
          <p:nvPr/>
        </p:nvSpPr>
        <p:spPr>
          <a:xfrm>
            <a:off x="1595074" y="3765213"/>
            <a:ext cx="288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510709"/>
      </p:ext>
    </p:extLst>
  </p:cSld>
  <p:clrMapOvr>
    <a:masterClrMapping/>
  </p:clrMapOvr>
  <p:transition spd="med" advTm="62763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Multi-layer RNNs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767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We can of course design RNNs with multiple hidden layers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795958" y="3739184"/>
            <a:ext cx="3489437" cy="657583"/>
            <a:chOff x="2795958" y="3739184"/>
            <a:chExt cx="3489437" cy="657583"/>
          </a:xfrm>
        </p:grpSpPr>
        <p:sp>
          <p:nvSpPr>
            <p:cNvPr id="58" name="Rectangle 57"/>
            <p:cNvSpPr/>
            <p:nvPr/>
          </p:nvSpPr>
          <p:spPr>
            <a:xfrm>
              <a:off x="2795958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125820" y="421243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3427572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>
              <a:off x="3748798" y="421243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4050550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687449" y="4038668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>
              <a:off x="4381924" y="4223004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V="1">
              <a:off x="4853136" y="373918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5319063" y="4049241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>
              <a:off x="5013538" y="423357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5484750" y="374975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5954021" y="4049241"/>
              <a:ext cx="331374" cy="347526"/>
            </a:xfrm>
            <a:prstGeom prst="rect">
              <a:avLst/>
            </a:prstGeom>
            <a:solidFill>
              <a:schemeClr val="accent3">
                <a:lumMod val="75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>
              <a:off x="5648496" y="423357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6119708" y="374975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2960132" y="374184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3591746" y="375241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4226704" y="375241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783438" y="3092174"/>
            <a:ext cx="3489437" cy="657583"/>
            <a:chOff x="2783438" y="3092174"/>
            <a:chExt cx="3489437" cy="657583"/>
          </a:xfrm>
        </p:grpSpPr>
        <p:sp>
          <p:nvSpPr>
            <p:cNvPr id="75" name="Rectangle 74"/>
            <p:cNvSpPr/>
            <p:nvPr/>
          </p:nvSpPr>
          <p:spPr>
            <a:xfrm>
              <a:off x="2783438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>
              <a:off x="3113300" y="356542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/>
            <p:cNvSpPr/>
            <p:nvPr/>
          </p:nvSpPr>
          <p:spPr>
            <a:xfrm>
              <a:off x="3415052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78" name="Straight Arrow Connector 77"/>
            <p:cNvCxnSpPr/>
            <p:nvPr/>
          </p:nvCxnSpPr>
          <p:spPr>
            <a:xfrm>
              <a:off x="3736278" y="356542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/>
            <p:cNvSpPr/>
            <p:nvPr/>
          </p:nvSpPr>
          <p:spPr>
            <a:xfrm>
              <a:off x="4038030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674929" y="3391658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>
              <a:off x="4369404" y="3575994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 flipV="1">
              <a:off x="4840616" y="309217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/>
            <p:cNvSpPr/>
            <p:nvPr/>
          </p:nvSpPr>
          <p:spPr>
            <a:xfrm>
              <a:off x="5306543" y="3402231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>
              <a:off x="5001018" y="358656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V="1">
              <a:off x="5472230" y="310274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5941501" y="3402231"/>
              <a:ext cx="331374" cy="347526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87" name="Straight Arrow Connector 86"/>
            <p:cNvCxnSpPr/>
            <p:nvPr/>
          </p:nvCxnSpPr>
          <p:spPr>
            <a:xfrm>
              <a:off x="5635976" y="358656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 flipV="1">
              <a:off x="6107188" y="310274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2947612" y="309483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3579226" y="310540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4214184" y="310540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2771538" y="4386194"/>
            <a:ext cx="3544712" cy="1316334"/>
            <a:chOff x="2771538" y="4386194"/>
            <a:chExt cx="3544712" cy="1316334"/>
          </a:xfrm>
        </p:grpSpPr>
        <p:sp>
          <p:nvSpPr>
            <p:cNvPr id="31" name="Rectangle 30"/>
            <p:cNvSpPr/>
            <p:nvPr/>
          </p:nvSpPr>
          <p:spPr>
            <a:xfrm>
              <a:off x="2798778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2971263" y="503320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3128640" y="485944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3430392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3594566" y="503320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3751618" y="4859441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4053370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4217544" y="503320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4690269" y="4685678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4384744" y="4870014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4855956" y="438619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/>
            <p:cNvSpPr/>
            <p:nvPr/>
          </p:nvSpPr>
          <p:spPr>
            <a:xfrm>
              <a:off x="5321883" y="4696251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016358" y="488058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5487570" y="439676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5956841" y="4696251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5651316" y="4880587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V="1">
              <a:off x="6122528" y="439676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2771538" y="5332688"/>
              <a:ext cx="399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98268" y="5333196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014893" y="5333196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V="1">
              <a:off x="2962952" y="438885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3594566" y="439942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4229524" y="4399425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/>
            <p:cNvSpPr txBox="1"/>
            <p:nvPr/>
          </p:nvSpPr>
          <p:spPr>
            <a:xfrm>
              <a:off x="4658257" y="5332688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4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287912" y="5333196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5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898125" y="5333196"/>
              <a:ext cx="418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x</a:t>
              </a:r>
              <a:r>
                <a:rPr lang="en-US" baseline="-25000" dirty="0">
                  <a:latin typeface="CMU Bright Oblique"/>
                  <a:cs typeface="CMU Bright Oblique"/>
                </a:rPr>
                <a:t>6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flipV="1">
              <a:off x="4857134" y="504377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/>
            <p:nvPr/>
          </p:nvCxnSpPr>
          <p:spPr>
            <a:xfrm flipV="1">
              <a:off x="5480437" y="504377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 flipV="1">
              <a:off x="6103415" y="5043777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2767765" y="2077982"/>
            <a:ext cx="3544712" cy="1014192"/>
            <a:chOff x="2767765" y="2077982"/>
            <a:chExt cx="3544712" cy="1014192"/>
          </a:xfrm>
        </p:grpSpPr>
        <p:sp>
          <p:nvSpPr>
            <p:cNvPr id="98" name="Rectangle 97"/>
            <p:cNvSpPr/>
            <p:nvPr/>
          </p:nvSpPr>
          <p:spPr>
            <a:xfrm>
              <a:off x="2779665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411279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034257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671156" y="2734075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5" name="Straight Arrow Connector 104"/>
            <p:cNvCxnSpPr/>
            <p:nvPr/>
          </p:nvCxnSpPr>
          <p:spPr>
            <a:xfrm flipV="1">
              <a:off x="4836843" y="2434591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/>
            <p:cNvSpPr/>
            <p:nvPr/>
          </p:nvSpPr>
          <p:spPr>
            <a:xfrm>
              <a:off x="5302770" y="2744648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08" name="Straight Arrow Connector 107"/>
            <p:cNvCxnSpPr/>
            <p:nvPr/>
          </p:nvCxnSpPr>
          <p:spPr>
            <a:xfrm flipV="1">
              <a:off x="5468457" y="244516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/>
            <p:cNvSpPr/>
            <p:nvPr/>
          </p:nvSpPr>
          <p:spPr>
            <a:xfrm>
              <a:off x="5937728" y="2744648"/>
              <a:ext cx="331374" cy="34752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33000"/>
              </a:schemeClr>
            </a:solidFill>
            <a:ln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 flipV="1">
              <a:off x="6103415" y="2445164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 flipV="1">
              <a:off x="2943839" y="2437249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V="1">
              <a:off x="3575453" y="244782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/>
            <p:nvPr/>
          </p:nvCxnSpPr>
          <p:spPr>
            <a:xfrm flipV="1">
              <a:off x="4210411" y="2447822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2767765" y="2077982"/>
              <a:ext cx="399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1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94495" y="2078490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2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011120" y="2078490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3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654484" y="2077982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4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284139" y="2078490"/>
              <a:ext cx="405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5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894352" y="2078490"/>
              <a:ext cx="4181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MU Bright Oblique"/>
                  <a:cs typeface="CMU Bright Oblique"/>
                </a:rPr>
                <a:t>y</a:t>
              </a:r>
              <a:r>
                <a:rPr lang="en-US" baseline="-25000" dirty="0">
                  <a:latin typeface="CMU Bright Oblique"/>
                  <a:cs typeface="CMU Bright Oblique"/>
                </a:rPr>
                <a:t>6</a:t>
              </a:r>
              <a:endParaRPr lang="en-US" baseline="-25000" dirty="0">
                <a:latin typeface="CMU Bright Roman"/>
                <a:cs typeface="CMU Bright Roman"/>
              </a:endParaRPr>
            </a:p>
          </p:txBody>
        </p:sp>
      </p:grpSp>
      <p:sp>
        <p:nvSpPr>
          <p:cNvPr id="127" name="Content Placeholder 2"/>
          <p:cNvSpPr txBox="1">
            <a:spLocks/>
          </p:cNvSpPr>
          <p:nvPr/>
        </p:nvSpPr>
        <p:spPr>
          <a:xfrm>
            <a:off x="457200" y="5779613"/>
            <a:ext cx="8686800" cy="576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MU Bright Roman"/>
                <a:cs typeface="CMU Bright Roman"/>
              </a:rPr>
              <a:t>Anything goes: skip connections across layers, across time, 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456959"/>
      </p:ext>
    </p:extLst>
  </p:cSld>
  <p:clrMapOvr>
    <a:masterClrMapping/>
  </p:clrMapOvr>
  <p:transition spd="med" advTm="1174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Bi-directional RNNs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10534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MU Bright Roman"/>
                <a:cs typeface="CMU Bright Roman"/>
              </a:rPr>
              <a:t>RNNs can process the input sequence in forward and in the reverse direction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2803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3" name="Straight Arrow Connector 32"/>
          <p:cNvCxnSpPr>
            <a:stCxn id="52" idx="0"/>
            <a:endCxn id="31" idx="2"/>
          </p:cNvCxnSpPr>
          <p:nvPr/>
        </p:nvCxnSpPr>
        <p:spPr>
          <a:xfrm flipV="1">
            <a:off x="2686165" y="5266434"/>
            <a:ext cx="222325" cy="299484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072665" y="5092671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74417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6" name="Straight Arrow Connector 35"/>
          <p:cNvCxnSpPr>
            <a:stCxn id="53" idx="0"/>
            <a:endCxn id="35" idx="2"/>
          </p:cNvCxnSpPr>
          <p:nvPr/>
        </p:nvCxnSpPr>
        <p:spPr>
          <a:xfrm flipV="1">
            <a:off x="3315821" y="5266434"/>
            <a:ext cx="224283" cy="299992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695643" y="5092671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997395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39" name="Straight Arrow Connector 38"/>
          <p:cNvCxnSpPr>
            <a:stCxn id="54" idx="0"/>
            <a:endCxn id="38" idx="2"/>
          </p:cNvCxnSpPr>
          <p:nvPr/>
        </p:nvCxnSpPr>
        <p:spPr>
          <a:xfrm flipV="1">
            <a:off x="3932446" y="5266434"/>
            <a:ext cx="230636" cy="299992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634294" y="4918908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4328769" y="5103244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265908" y="4929481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960383" y="5113817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900866" y="4929481"/>
            <a:ext cx="331374" cy="347526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595341" y="5113817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86440" y="5565918"/>
            <a:ext cx="399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113170" y="5566426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729795" y="5566426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3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373159" y="5565918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4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002814" y="5566426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5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5613027" y="5566426"/>
            <a:ext cx="41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x</a:t>
            </a:r>
            <a:r>
              <a:rPr lang="en-US" baseline="-25000" dirty="0">
                <a:latin typeface="CMU Bright Oblique"/>
                <a:cs typeface="CMU Bright Oblique"/>
              </a:rPr>
              <a:t>6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cxnSp>
        <p:nvCxnSpPr>
          <p:cNvPr id="118" name="Straight Arrow Connector 117"/>
          <p:cNvCxnSpPr>
            <a:stCxn id="115" idx="0"/>
            <a:endCxn id="40" idx="2"/>
          </p:cNvCxnSpPr>
          <p:nvPr/>
        </p:nvCxnSpPr>
        <p:spPr>
          <a:xfrm flipV="1">
            <a:off x="4575810" y="5266434"/>
            <a:ext cx="224171" cy="299484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6" idx="0"/>
            <a:endCxn id="43" idx="2"/>
          </p:cNvCxnSpPr>
          <p:nvPr/>
        </p:nvCxnSpPr>
        <p:spPr>
          <a:xfrm flipV="1">
            <a:off x="5205465" y="5277007"/>
            <a:ext cx="226130" cy="289419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117" idx="0"/>
            <a:endCxn id="46" idx="2"/>
          </p:cNvCxnSpPr>
          <p:nvPr/>
        </p:nvCxnSpPr>
        <p:spPr>
          <a:xfrm flipV="1">
            <a:off x="5822090" y="5277007"/>
            <a:ext cx="244463" cy="289419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494567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3126181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749159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4386058" y="2967305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 flipV="1">
            <a:off x="4551745" y="2667821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5017672" y="2977878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08" name="Straight Arrow Connector 107"/>
          <p:cNvCxnSpPr/>
          <p:nvPr/>
        </p:nvCxnSpPr>
        <p:spPr>
          <a:xfrm flipV="1">
            <a:off x="5183359" y="2678394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5652630" y="2977878"/>
            <a:ext cx="331374" cy="347526"/>
          </a:xfrm>
          <a:prstGeom prst="rect">
            <a:avLst/>
          </a:prstGeom>
          <a:solidFill>
            <a:schemeClr val="accent5">
              <a:lumMod val="60000"/>
              <a:lumOff val="40000"/>
              <a:alpha val="33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 flipV="1">
            <a:off x="5818317" y="2678394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V="1">
            <a:off x="2658741" y="2670479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flipV="1">
            <a:off x="3290355" y="2681052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V="1">
            <a:off x="3925313" y="2681052"/>
            <a:ext cx="0" cy="29948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482667" y="2311212"/>
            <a:ext cx="399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109397" y="2311720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726022" y="2311720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3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369386" y="2311212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4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999041" y="2311720"/>
            <a:ext cx="405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5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609254" y="2311720"/>
            <a:ext cx="418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y</a:t>
            </a:r>
            <a:r>
              <a:rPr lang="en-US" baseline="-25000" dirty="0">
                <a:latin typeface="CMU Bright Oblique"/>
                <a:cs typeface="CMU Bright Oblique"/>
              </a:rPr>
              <a:t>6</a:t>
            </a:r>
            <a:endParaRPr lang="en-US" baseline="-25000" dirty="0">
              <a:latin typeface="CMU Bright Roman"/>
              <a:cs typeface="CMU Bright Roman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380568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93" name="Straight Arrow Connector 92"/>
          <p:cNvCxnSpPr/>
          <p:nvPr/>
        </p:nvCxnSpPr>
        <p:spPr>
          <a:xfrm>
            <a:off x="2710430" y="4331424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3012182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3333408" y="4331424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635160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272059" y="4157661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3966534" y="4341997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V="1">
            <a:off x="4437746" y="3314831"/>
            <a:ext cx="113999" cy="842830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4903673" y="4168234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4598148" y="4352570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flipV="1">
            <a:off x="5069360" y="3325404"/>
            <a:ext cx="113999" cy="842830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/>
          <p:cNvSpPr/>
          <p:nvPr/>
        </p:nvSpPr>
        <p:spPr>
          <a:xfrm>
            <a:off x="5538631" y="4168234"/>
            <a:ext cx="331374" cy="347526"/>
          </a:xfrm>
          <a:prstGeom prst="rect">
            <a:avLst/>
          </a:prstGeom>
          <a:solidFill>
            <a:schemeClr val="accent2">
              <a:lumMod val="60000"/>
              <a:lumOff val="40000"/>
              <a:alpha val="33000"/>
            </a:schemeClr>
          </a:solidFill>
          <a:ln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29" name="Straight Arrow Connector 128"/>
          <p:cNvCxnSpPr/>
          <p:nvPr/>
        </p:nvCxnSpPr>
        <p:spPr>
          <a:xfrm>
            <a:off x="5233106" y="4352570"/>
            <a:ext cx="301752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V="1">
            <a:off x="5704318" y="3325404"/>
            <a:ext cx="113999" cy="842830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2544742" y="3314831"/>
            <a:ext cx="115512" cy="845488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flipV="1">
            <a:off x="3176356" y="3314831"/>
            <a:ext cx="115512" cy="856062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V="1">
            <a:off x="3811314" y="3314831"/>
            <a:ext cx="103532" cy="856062"/>
          </a:xfrm>
          <a:prstGeom prst="straightConnector1">
            <a:avLst/>
          </a:prstGeom>
          <a:ln w="19050" cmpd="sng">
            <a:solidFill>
              <a:srgbClr val="C0504D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2482667" y="4505187"/>
            <a:ext cx="186830" cy="1040805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>
            <a:off x="3129147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 134"/>
          <p:cNvSpPr/>
          <p:nvPr/>
        </p:nvSpPr>
        <p:spPr>
          <a:xfrm>
            <a:off x="3740845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 135"/>
          <p:cNvSpPr/>
          <p:nvPr/>
        </p:nvSpPr>
        <p:spPr>
          <a:xfrm>
            <a:off x="4392066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6"/>
          <p:cNvSpPr/>
          <p:nvPr/>
        </p:nvSpPr>
        <p:spPr>
          <a:xfrm>
            <a:off x="5011850" y="4505187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 137"/>
          <p:cNvSpPr/>
          <p:nvPr/>
        </p:nvSpPr>
        <p:spPr>
          <a:xfrm>
            <a:off x="5634573" y="4508836"/>
            <a:ext cx="206424" cy="1036638"/>
          </a:xfrm>
          <a:custGeom>
            <a:avLst/>
            <a:gdLst>
              <a:gd name="connsiteX0" fmla="*/ 425257 w 425257"/>
              <a:gd name="connsiteY0" fmla="*/ 932973 h 932973"/>
              <a:gd name="connsiteX1" fmla="*/ 10578 w 425257"/>
              <a:gd name="connsiteY1" fmla="*/ 401697 h 932973"/>
              <a:gd name="connsiteX2" fmla="*/ 114248 w 425257"/>
              <a:gd name="connsiteY2" fmla="*/ 0 h 932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57" h="932973">
                <a:moveTo>
                  <a:pt x="425257" y="932973"/>
                </a:moveTo>
                <a:cubicBezTo>
                  <a:pt x="243835" y="745082"/>
                  <a:pt x="62413" y="557192"/>
                  <a:pt x="10578" y="401697"/>
                </a:cubicBezTo>
                <a:cubicBezTo>
                  <a:pt x="-41257" y="246201"/>
                  <a:pt x="114248" y="0"/>
                  <a:pt x="114248" y="0"/>
                </a:cubicBezTo>
              </a:path>
            </a:pathLst>
          </a:custGeom>
          <a:ln>
            <a:solidFill>
              <a:schemeClr val="accent2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9" name="Straight Arrow Connector 138"/>
          <p:cNvCxnSpPr>
            <a:stCxn id="46" idx="0"/>
            <a:endCxn id="109" idx="2"/>
          </p:cNvCxnSpPr>
          <p:nvPr/>
        </p:nvCxnSpPr>
        <p:spPr>
          <a:xfrm flipH="1" flipV="1">
            <a:off x="5818317" y="3325404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43" idx="0"/>
            <a:endCxn id="106" idx="2"/>
          </p:cNvCxnSpPr>
          <p:nvPr/>
        </p:nvCxnSpPr>
        <p:spPr>
          <a:xfrm flipH="1" flipV="1">
            <a:off x="5183359" y="3325404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40" idx="0"/>
            <a:endCxn id="103" idx="2"/>
          </p:cNvCxnSpPr>
          <p:nvPr/>
        </p:nvCxnSpPr>
        <p:spPr>
          <a:xfrm flipH="1" flipV="1">
            <a:off x="4551745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38" idx="0"/>
            <a:endCxn id="102" idx="2"/>
          </p:cNvCxnSpPr>
          <p:nvPr/>
        </p:nvCxnSpPr>
        <p:spPr>
          <a:xfrm flipH="1" flipV="1">
            <a:off x="3914846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35" idx="0"/>
            <a:endCxn id="100" idx="2"/>
          </p:cNvCxnSpPr>
          <p:nvPr/>
        </p:nvCxnSpPr>
        <p:spPr>
          <a:xfrm flipH="1" flipV="1">
            <a:off x="3291868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31" idx="0"/>
            <a:endCxn id="98" idx="2"/>
          </p:cNvCxnSpPr>
          <p:nvPr/>
        </p:nvCxnSpPr>
        <p:spPr>
          <a:xfrm flipH="1" flipV="1">
            <a:off x="2660254" y="3314831"/>
            <a:ext cx="248236" cy="1604077"/>
          </a:xfrm>
          <a:prstGeom prst="straightConnector1">
            <a:avLst/>
          </a:prstGeom>
          <a:ln w="19050" cmpd="sng">
            <a:solidFill>
              <a:schemeClr val="accent3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Content Placeholder 2"/>
          <p:cNvSpPr txBox="1">
            <a:spLocks/>
          </p:cNvSpPr>
          <p:nvPr/>
        </p:nvSpPr>
        <p:spPr>
          <a:xfrm>
            <a:off x="374032" y="5976123"/>
            <a:ext cx="8686800" cy="688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MU Bright Roman"/>
                <a:cs typeface="CMU Bright Roman"/>
              </a:rPr>
              <a:t>Popular in speech recognition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025498"/>
      </p:ext>
    </p:extLst>
  </p:cSld>
  <p:clrMapOvr>
    <a:masterClrMapping/>
  </p:clrMapOvr>
  <p:transition spd="med" advTm="1265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0" grpId="0" animBg="1"/>
      <p:bldP spid="102" grpId="0" animBg="1"/>
      <p:bldP spid="103" grpId="0" animBg="1"/>
      <p:bldP spid="106" grpId="0" animBg="1"/>
      <p:bldP spid="109" grpId="0" animBg="1"/>
      <p:bldP spid="121" grpId="0"/>
      <p:bldP spid="122" grpId="0"/>
      <p:bldP spid="123" grpId="0"/>
      <p:bldP spid="124" grpId="0"/>
      <p:bldP spid="125" grpId="0"/>
      <p:bldP spid="126" grpId="0"/>
      <p:bldP spid="92" grpId="0" animBg="1"/>
      <p:bldP spid="92" grpId="1" animBg="1"/>
      <p:bldP spid="94" grpId="0" animBg="1"/>
      <p:bldP spid="94" grpId="1" animBg="1"/>
      <p:bldP spid="96" grpId="0" animBg="1"/>
      <p:bldP spid="96" grpId="1" animBg="1"/>
      <p:bldP spid="97" grpId="0" animBg="1"/>
      <p:bldP spid="97" grpId="1" animBg="1"/>
      <p:bldP spid="104" grpId="0" animBg="1"/>
      <p:bldP spid="104" grpId="1" animBg="1"/>
      <p:bldP spid="128" grpId="0" animBg="1"/>
      <p:bldP spid="128" grpId="1" animBg="1"/>
      <p:bldP spid="17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Use Cases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5F64F09-9A1D-3D4B-B61B-D7E3209C8755}"/>
              </a:ext>
            </a:extLst>
          </p:cNvPr>
          <p:cNvGrpSpPr/>
          <p:nvPr/>
        </p:nvGrpSpPr>
        <p:grpSpPr>
          <a:xfrm>
            <a:off x="210464" y="2858438"/>
            <a:ext cx="4379551" cy="946494"/>
            <a:chOff x="210464" y="2860348"/>
            <a:chExt cx="4379551" cy="946494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2CF52DE-3B41-9146-B446-5DDE96921764}"/>
                </a:ext>
              </a:extLst>
            </p:cNvPr>
            <p:cNvGrpSpPr/>
            <p:nvPr/>
          </p:nvGrpSpPr>
          <p:grpSpPr>
            <a:xfrm>
              <a:off x="2370923" y="2860348"/>
              <a:ext cx="2219092" cy="946494"/>
              <a:chOff x="2370923" y="2860348"/>
              <a:chExt cx="2219092" cy="94649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D844D9F-00FE-6748-B62C-7BE482530C71}"/>
                  </a:ext>
                </a:extLst>
              </p:cNvPr>
              <p:cNvSpPr/>
              <p:nvPr/>
            </p:nvSpPr>
            <p:spPr>
              <a:xfrm>
                <a:off x="2370923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523572A0-C529-384A-B8A9-2043F1317369}"/>
                  </a:ext>
                </a:extLst>
              </p:cNvPr>
              <p:cNvCxnSpPr>
                <a:endCxn id="100" idx="2"/>
              </p:cNvCxnSpPr>
              <p:nvPr/>
            </p:nvCxnSpPr>
            <p:spPr>
              <a:xfrm flipV="1">
                <a:off x="2536610" y="350735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E3A3D135-5CC8-1F4F-9850-CA6D9A9020E3}"/>
                  </a:ext>
                </a:extLst>
              </p:cNvPr>
              <p:cNvCxnSpPr>
                <a:stCxn id="100" idx="3"/>
              </p:cNvCxnSpPr>
              <p:nvPr/>
            </p:nvCxnSpPr>
            <p:spPr>
              <a:xfrm>
                <a:off x="2702297" y="3333595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F2343D0-BA11-D347-A9DA-7FFAD8C8C9EA}"/>
                  </a:ext>
                </a:extLst>
              </p:cNvPr>
              <p:cNvSpPr/>
              <p:nvPr/>
            </p:nvSpPr>
            <p:spPr>
              <a:xfrm>
                <a:off x="3004049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F26FD4F2-44DD-754E-AD70-C4D04E20F3E6}"/>
                  </a:ext>
                </a:extLst>
              </p:cNvPr>
              <p:cNvCxnSpPr/>
              <p:nvPr/>
            </p:nvCxnSpPr>
            <p:spPr>
              <a:xfrm flipV="1">
                <a:off x="3168223" y="286034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28A9FF47-D92D-A040-8EAA-B9D0A59E9EE9}"/>
                  </a:ext>
                </a:extLst>
              </p:cNvPr>
              <p:cNvCxnSpPr/>
              <p:nvPr/>
            </p:nvCxnSpPr>
            <p:spPr>
              <a:xfrm>
                <a:off x="3333911" y="3333595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5B6F205-796D-574F-9B7C-9277C614FFE5}"/>
                  </a:ext>
                </a:extLst>
              </p:cNvPr>
              <p:cNvSpPr/>
              <p:nvPr/>
            </p:nvSpPr>
            <p:spPr>
              <a:xfrm>
                <a:off x="3635663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B006C0B-2A00-0D4A-9FE5-A8BBA3098656}"/>
                  </a:ext>
                </a:extLst>
              </p:cNvPr>
              <p:cNvCxnSpPr/>
              <p:nvPr/>
            </p:nvCxnSpPr>
            <p:spPr>
              <a:xfrm flipV="1">
                <a:off x="3799837" y="286034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941607F1-3ACA-3149-A1D1-257335BC90AB}"/>
                  </a:ext>
                </a:extLst>
              </p:cNvPr>
              <p:cNvCxnSpPr/>
              <p:nvPr/>
            </p:nvCxnSpPr>
            <p:spPr>
              <a:xfrm>
                <a:off x="3956889" y="3333595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87F6721D-136A-5B4B-9945-54F2A1F79FD6}"/>
                  </a:ext>
                </a:extLst>
              </p:cNvPr>
              <p:cNvSpPr/>
              <p:nvPr/>
            </p:nvSpPr>
            <p:spPr>
              <a:xfrm>
                <a:off x="4258641" y="3159832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71031CDC-CE6E-7A41-8B82-10E3AF7A1F4A}"/>
                  </a:ext>
                </a:extLst>
              </p:cNvPr>
              <p:cNvCxnSpPr/>
              <p:nvPr/>
            </p:nvCxnSpPr>
            <p:spPr>
              <a:xfrm flipV="1">
                <a:off x="4422815" y="2860348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E0936ED-681F-9C47-BBEE-D32B17F10D3C}"/>
                </a:ext>
              </a:extLst>
            </p:cNvPr>
            <p:cNvSpPr txBox="1"/>
            <p:nvPr/>
          </p:nvSpPr>
          <p:spPr>
            <a:xfrm>
              <a:off x="210464" y="3138026"/>
              <a:ext cx="1825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MU Bright Roman"/>
                  <a:cs typeface="CMU Bright Roman"/>
                </a:rPr>
                <a:t>Single - Multiple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580197C-63DE-724C-9681-9E142B6023F3}"/>
              </a:ext>
            </a:extLst>
          </p:cNvPr>
          <p:cNvGrpSpPr/>
          <p:nvPr/>
        </p:nvGrpSpPr>
        <p:grpSpPr>
          <a:xfrm>
            <a:off x="210464" y="1727608"/>
            <a:ext cx="4378038" cy="946494"/>
            <a:chOff x="210464" y="3923354"/>
            <a:chExt cx="4378038" cy="946494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D7F1D029-6350-6145-9C14-99E8FC554AFE}"/>
                </a:ext>
              </a:extLst>
            </p:cNvPr>
            <p:cNvGrpSpPr/>
            <p:nvPr/>
          </p:nvGrpSpPr>
          <p:grpSpPr>
            <a:xfrm>
              <a:off x="2365637" y="3923354"/>
              <a:ext cx="2222865" cy="946494"/>
              <a:chOff x="2365637" y="3923354"/>
              <a:chExt cx="2222865" cy="946494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CD6A12F0-CDD9-0643-85C4-5EA6915C747F}"/>
                  </a:ext>
                </a:extLst>
              </p:cNvPr>
              <p:cNvSpPr/>
              <p:nvPr/>
            </p:nvSpPr>
            <p:spPr>
              <a:xfrm>
                <a:off x="2365637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946075F9-07EB-1840-9A48-A3A5235EC65B}"/>
                  </a:ext>
                </a:extLst>
              </p:cNvPr>
              <p:cNvCxnSpPr/>
              <p:nvPr/>
            </p:nvCxnSpPr>
            <p:spPr>
              <a:xfrm flipV="1">
                <a:off x="2536610" y="457036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D8195022-4589-EB47-8BF6-3038D9142DBF}"/>
                  </a:ext>
                </a:extLst>
              </p:cNvPr>
              <p:cNvCxnSpPr/>
              <p:nvPr/>
            </p:nvCxnSpPr>
            <p:spPr>
              <a:xfrm>
                <a:off x="2695499" y="4396601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A4616039-1EF1-B342-9F50-F1507210C15C}"/>
                  </a:ext>
                </a:extLst>
              </p:cNvPr>
              <p:cNvSpPr/>
              <p:nvPr/>
            </p:nvSpPr>
            <p:spPr>
              <a:xfrm>
                <a:off x="2997251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CB494EB3-B2FD-D042-8EC3-56F2CD12548A}"/>
                  </a:ext>
                </a:extLst>
              </p:cNvPr>
              <p:cNvCxnSpPr/>
              <p:nvPr/>
            </p:nvCxnSpPr>
            <p:spPr>
              <a:xfrm flipV="1">
                <a:off x="3161425" y="457036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666FB9BB-2119-A34A-8178-3E04AB96B92E}"/>
                  </a:ext>
                </a:extLst>
              </p:cNvPr>
              <p:cNvCxnSpPr/>
              <p:nvPr/>
            </p:nvCxnSpPr>
            <p:spPr>
              <a:xfrm>
                <a:off x="3318477" y="4396601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7E35B77D-391C-BB4D-AA47-D6DD96A2C6A4}"/>
                  </a:ext>
                </a:extLst>
              </p:cNvPr>
              <p:cNvSpPr/>
              <p:nvPr/>
            </p:nvSpPr>
            <p:spPr>
              <a:xfrm>
                <a:off x="3620229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25DBEDE2-3EE6-5846-B6BA-EEFC82F49D3C}"/>
                  </a:ext>
                </a:extLst>
              </p:cNvPr>
              <p:cNvCxnSpPr/>
              <p:nvPr/>
            </p:nvCxnSpPr>
            <p:spPr>
              <a:xfrm flipV="1">
                <a:off x="3784403" y="457036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C1519837-A60D-F543-BA24-8698F658EBF6}"/>
                  </a:ext>
                </a:extLst>
              </p:cNvPr>
              <p:cNvSpPr/>
              <p:nvPr/>
            </p:nvSpPr>
            <p:spPr>
              <a:xfrm>
                <a:off x="4257128" y="4222838"/>
                <a:ext cx="331374" cy="34752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3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  <a:latin typeface="CMU Bright Roman"/>
                  <a:cs typeface="CMU Bright Roman"/>
                </a:endParaRPr>
              </a:p>
            </p:txBody>
          </p: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EF02E1E5-FEED-8442-8618-87BA2B3D132B}"/>
                  </a:ext>
                </a:extLst>
              </p:cNvPr>
              <p:cNvCxnSpPr/>
              <p:nvPr/>
            </p:nvCxnSpPr>
            <p:spPr>
              <a:xfrm>
                <a:off x="3951603" y="4407174"/>
                <a:ext cx="30175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C3949A05-3A2A-7245-9DA9-A95DC54E0BC4}"/>
                  </a:ext>
                </a:extLst>
              </p:cNvPr>
              <p:cNvCxnSpPr/>
              <p:nvPr/>
            </p:nvCxnSpPr>
            <p:spPr>
              <a:xfrm flipV="1">
                <a:off x="4422815" y="3923354"/>
                <a:ext cx="0" cy="2994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EE41CA5-5EF1-254A-B91A-5A0ED54B2B9C}"/>
                </a:ext>
              </a:extLst>
            </p:cNvPr>
            <p:cNvSpPr txBox="1"/>
            <p:nvPr/>
          </p:nvSpPr>
          <p:spPr>
            <a:xfrm>
              <a:off x="210464" y="4045679"/>
              <a:ext cx="18250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MU Bright Roman"/>
                  <a:cs typeface="CMU Bright Roman"/>
                </a:rPr>
                <a:t>Multiple input – Single output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29FFDD0-6153-844B-B99D-CAF739385BBD}"/>
              </a:ext>
            </a:extLst>
          </p:cNvPr>
          <p:cNvGrpSpPr/>
          <p:nvPr/>
        </p:nvGrpSpPr>
        <p:grpSpPr>
          <a:xfrm>
            <a:off x="2364125" y="5034283"/>
            <a:ext cx="3489437" cy="946494"/>
            <a:chOff x="2364125" y="5034286"/>
            <a:chExt cx="3489437" cy="946494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FB2EB1D-6209-304D-9B64-7C9A168D62E8}"/>
                </a:ext>
              </a:extLst>
            </p:cNvPr>
            <p:cNvSpPr/>
            <p:nvPr/>
          </p:nvSpPr>
          <p:spPr>
            <a:xfrm>
              <a:off x="2364125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C51527E9-075C-1F48-BB9F-86E9A151BC0E}"/>
                </a:ext>
              </a:extLst>
            </p:cNvPr>
            <p:cNvCxnSpPr/>
            <p:nvPr/>
          </p:nvCxnSpPr>
          <p:spPr>
            <a:xfrm flipV="1">
              <a:off x="2536610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7BDFB957-86A8-FE48-AB8F-899C97C536DC}"/>
                </a:ext>
              </a:extLst>
            </p:cNvPr>
            <p:cNvCxnSpPr/>
            <p:nvPr/>
          </p:nvCxnSpPr>
          <p:spPr>
            <a:xfrm>
              <a:off x="2693987" y="550753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D726601-C752-544D-9ACA-4302A2633991}"/>
                </a:ext>
              </a:extLst>
            </p:cNvPr>
            <p:cNvSpPr/>
            <p:nvPr/>
          </p:nvSpPr>
          <p:spPr>
            <a:xfrm>
              <a:off x="2995739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50263A10-DEFD-A04D-BE2A-291EFE63815C}"/>
                </a:ext>
              </a:extLst>
            </p:cNvPr>
            <p:cNvCxnSpPr/>
            <p:nvPr/>
          </p:nvCxnSpPr>
          <p:spPr>
            <a:xfrm flipV="1">
              <a:off x="3159913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72ECC2A-6F09-AD41-B278-182AD899AFA2}"/>
                </a:ext>
              </a:extLst>
            </p:cNvPr>
            <p:cNvCxnSpPr/>
            <p:nvPr/>
          </p:nvCxnSpPr>
          <p:spPr>
            <a:xfrm>
              <a:off x="3316965" y="550753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A21763F-97B1-934C-AD85-1BF6510C38AB}"/>
                </a:ext>
              </a:extLst>
            </p:cNvPr>
            <p:cNvSpPr/>
            <p:nvPr/>
          </p:nvSpPr>
          <p:spPr>
            <a:xfrm>
              <a:off x="3618717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8E8505B2-2BEF-714D-B2F0-9DA71F57AEF1}"/>
                </a:ext>
              </a:extLst>
            </p:cNvPr>
            <p:cNvCxnSpPr/>
            <p:nvPr/>
          </p:nvCxnSpPr>
          <p:spPr>
            <a:xfrm flipV="1">
              <a:off x="3782891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E9B8FFC-4249-8042-977B-BB9421454C91}"/>
                </a:ext>
              </a:extLst>
            </p:cNvPr>
            <p:cNvSpPr/>
            <p:nvPr/>
          </p:nvSpPr>
          <p:spPr>
            <a:xfrm>
              <a:off x="4255616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45DBAF02-2D73-E548-A362-07DE5FA4DB48}"/>
                </a:ext>
              </a:extLst>
            </p:cNvPr>
            <p:cNvCxnSpPr/>
            <p:nvPr/>
          </p:nvCxnSpPr>
          <p:spPr>
            <a:xfrm>
              <a:off x="3950091" y="5518106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70EA0D00-D7B5-DC48-A7F9-314657546DBA}"/>
                </a:ext>
              </a:extLst>
            </p:cNvPr>
            <p:cNvCxnSpPr/>
            <p:nvPr/>
          </p:nvCxnSpPr>
          <p:spPr>
            <a:xfrm flipV="1">
              <a:off x="4421303" y="503428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042C5A62-DB88-6945-9135-2728B0F8BA73}"/>
                </a:ext>
              </a:extLst>
            </p:cNvPr>
            <p:cNvSpPr/>
            <p:nvPr/>
          </p:nvSpPr>
          <p:spPr>
            <a:xfrm>
              <a:off x="4887230" y="5344343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14A8D681-C94A-E246-BA15-07CB33492C86}"/>
                </a:ext>
              </a:extLst>
            </p:cNvPr>
            <p:cNvCxnSpPr/>
            <p:nvPr/>
          </p:nvCxnSpPr>
          <p:spPr>
            <a:xfrm>
              <a:off x="4581705" y="5528679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2E26591E-81BE-5E47-9743-D00AC1A2CAAA}"/>
                </a:ext>
              </a:extLst>
            </p:cNvPr>
            <p:cNvCxnSpPr/>
            <p:nvPr/>
          </p:nvCxnSpPr>
          <p:spPr>
            <a:xfrm flipV="1">
              <a:off x="5052917" y="5044859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EE9F4F0-F790-C24D-B0BE-4661A1076941}"/>
                </a:ext>
              </a:extLst>
            </p:cNvPr>
            <p:cNvSpPr/>
            <p:nvPr/>
          </p:nvSpPr>
          <p:spPr>
            <a:xfrm>
              <a:off x="5522188" y="5344343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D7B3F59-F49E-4942-8EC4-C1F28BA7FBEA}"/>
                </a:ext>
              </a:extLst>
            </p:cNvPr>
            <p:cNvCxnSpPr/>
            <p:nvPr/>
          </p:nvCxnSpPr>
          <p:spPr>
            <a:xfrm>
              <a:off x="5216663" y="5528679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028654D-587F-864D-BAD5-A9ABDA022135}"/>
                </a:ext>
              </a:extLst>
            </p:cNvPr>
            <p:cNvCxnSpPr/>
            <p:nvPr/>
          </p:nvCxnSpPr>
          <p:spPr>
            <a:xfrm flipV="1">
              <a:off x="5687875" y="5044859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5FC4B5C8-EBD4-CB40-AD7C-B45E400EEB1A}"/>
              </a:ext>
            </a:extLst>
          </p:cNvPr>
          <p:cNvSpPr txBox="1"/>
          <p:nvPr/>
        </p:nvSpPr>
        <p:spPr>
          <a:xfrm>
            <a:off x="210464" y="5235638"/>
            <a:ext cx="215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Multiple - Multiple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A76B86D-02AB-8540-8FEC-9A9407516177}"/>
              </a:ext>
            </a:extLst>
          </p:cNvPr>
          <p:cNvSpPr txBox="1"/>
          <p:nvPr/>
        </p:nvSpPr>
        <p:spPr>
          <a:xfrm>
            <a:off x="6162834" y="3136116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Image Captioning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D459CD7-24E3-0A47-82BA-5B02978FB297}"/>
              </a:ext>
            </a:extLst>
          </p:cNvPr>
          <p:cNvSpPr txBox="1"/>
          <p:nvPr/>
        </p:nvSpPr>
        <p:spPr>
          <a:xfrm>
            <a:off x="6162834" y="1981469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Sequence Classification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347D6AC-E000-B04E-9948-D58B69926EDF}"/>
              </a:ext>
            </a:extLst>
          </p:cNvPr>
          <p:cNvSpPr txBox="1"/>
          <p:nvPr/>
        </p:nvSpPr>
        <p:spPr>
          <a:xfrm>
            <a:off x="6162834" y="5235638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Translation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39D3769-6587-D74C-87E3-4C8FE164FFB0}"/>
              </a:ext>
            </a:extLst>
          </p:cNvPr>
          <p:cNvGrpSpPr/>
          <p:nvPr/>
        </p:nvGrpSpPr>
        <p:grpSpPr>
          <a:xfrm>
            <a:off x="2357772" y="3876235"/>
            <a:ext cx="2222865" cy="946494"/>
            <a:chOff x="2364125" y="5034286"/>
            <a:chExt cx="2222865" cy="946494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D22497F3-D0F1-F542-AB41-A07F686EDB57}"/>
                </a:ext>
              </a:extLst>
            </p:cNvPr>
            <p:cNvSpPr/>
            <p:nvPr/>
          </p:nvSpPr>
          <p:spPr>
            <a:xfrm>
              <a:off x="2364125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13EF420D-0B14-CA43-8659-5C932FAFD8C4}"/>
                </a:ext>
              </a:extLst>
            </p:cNvPr>
            <p:cNvCxnSpPr/>
            <p:nvPr/>
          </p:nvCxnSpPr>
          <p:spPr>
            <a:xfrm flipV="1">
              <a:off x="2536610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0EBA5417-D262-044A-B9F5-08A840A9EEF7}"/>
                </a:ext>
              </a:extLst>
            </p:cNvPr>
            <p:cNvCxnSpPr/>
            <p:nvPr/>
          </p:nvCxnSpPr>
          <p:spPr>
            <a:xfrm>
              <a:off x="2693987" y="550753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AAD5F4C4-3E9A-CC40-A5D1-32062154B080}"/>
                </a:ext>
              </a:extLst>
            </p:cNvPr>
            <p:cNvSpPr/>
            <p:nvPr/>
          </p:nvSpPr>
          <p:spPr>
            <a:xfrm>
              <a:off x="2995739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1AB690C5-65CF-7549-95EF-77FB6A841413}"/>
                </a:ext>
              </a:extLst>
            </p:cNvPr>
            <p:cNvCxnSpPr/>
            <p:nvPr/>
          </p:nvCxnSpPr>
          <p:spPr>
            <a:xfrm flipV="1">
              <a:off x="3159913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D7F21DCF-D80A-E249-B066-2FCD50B33243}"/>
                </a:ext>
              </a:extLst>
            </p:cNvPr>
            <p:cNvCxnSpPr/>
            <p:nvPr/>
          </p:nvCxnSpPr>
          <p:spPr>
            <a:xfrm>
              <a:off x="3316965" y="5507533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E9C0A8DF-96B5-5443-843D-D67B8E2579B3}"/>
                </a:ext>
              </a:extLst>
            </p:cNvPr>
            <p:cNvSpPr/>
            <p:nvPr/>
          </p:nvSpPr>
          <p:spPr>
            <a:xfrm>
              <a:off x="3618717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6B86C187-022F-B447-B563-7BCC15FB4170}"/>
                </a:ext>
              </a:extLst>
            </p:cNvPr>
            <p:cNvCxnSpPr/>
            <p:nvPr/>
          </p:nvCxnSpPr>
          <p:spPr>
            <a:xfrm flipV="1">
              <a:off x="3782891" y="568129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41DF4A69-D618-A94F-9E8C-B9E3F5C89C07}"/>
                </a:ext>
              </a:extLst>
            </p:cNvPr>
            <p:cNvSpPr/>
            <p:nvPr/>
          </p:nvSpPr>
          <p:spPr>
            <a:xfrm>
              <a:off x="4255616" y="5333770"/>
              <a:ext cx="331374" cy="34752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33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  <a:latin typeface="CMU Bright Roman"/>
                <a:cs typeface="CMU Bright Roman"/>
              </a:endParaRPr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D0B7B7DB-18D2-B24A-96AF-5D3A0FCEA172}"/>
                </a:ext>
              </a:extLst>
            </p:cNvPr>
            <p:cNvCxnSpPr/>
            <p:nvPr/>
          </p:nvCxnSpPr>
          <p:spPr>
            <a:xfrm>
              <a:off x="3950091" y="5518106"/>
              <a:ext cx="3017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2825B487-6100-A64E-93C7-5BC01F7A1106}"/>
                </a:ext>
              </a:extLst>
            </p:cNvPr>
            <p:cNvCxnSpPr/>
            <p:nvPr/>
          </p:nvCxnSpPr>
          <p:spPr>
            <a:xfrm flipV="1">
              <a:off x="3166266" y="503428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A0D8782A-0D2D-1B41-B725-7C27390CBDEF}"/>
                </a:ext>
              </a:extLst>
            </p:cNvPr>
            <p:cNvCxnSpPr/>
            <p:nvPr/>
          </p:nvCxnSpPr>
          <p:spPr>
            <a:xfrm flipV="1">
              <a:off x="3782891" y="503428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CC5D9481-F805-AB40-9DAE-08211AB02CC9}"/>
                </a:ext>
              </a:extLst>
            </p:cNvPr>
            <p:cNvCxnSpPr/>
            <p:nvPr/>
          </p:nvCxnSpPr>
          <p:spPr>
            <a:xfrm flipV="1">
              <a:off x="4427656" y="5034286"/>
              <a:ext cx="0" cy="2994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1918D953-F54C-3042-8F3F-1DDB5AF12564}"/>
              </a:ext>
            </a:extLst>
          </p:cNvPr>
          <p:cNvSpPr txBox="1"/>
          <p:nvPr/>
        </p:nvSpPr>
        <p:spPr>
          <a:xfrm>
            <a:off x="6162834" y="4153913"/>
            <a:ext cx="2981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Image Captioning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C79DF98-0F57-EA4E-882D-FC4FEFAB8DD8}"/>
              </a:ext>
            </a:extLst>
          </p:cNvPr>
          <p:cNvSpPr txBox="1"/>
          <p:nvPr/>
        </p:nvSpPr>
        <p:spPr>
          <a:xfrm>
            <a:off x="215153" y="4164816"/>
            <a:ext cx="2153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</a:rPr>
              <a:t>Multiple - Multiple</a:t>
            </a:r>
          </a:p>
        </p:txBody>
      </p:sp>
    </p:spTree>
    <p:extLst>
      <p:ext uri="{BB962C8B-B14F-4D97-AF65-F5344CB8AC3E}">
        <p14:creationId xmlns:p14="http://schemas.microsoft.com/office/powerpoint/2010/main" val="38772124"/>
      </p:ext>
    </p:extLst>
  </p:cSld>
  <p:clrMapOvr>
    <a:masterClrMapping/>
  </p:clrMapOvr>
  <p:transition spd="med" advTm="161777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332560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789840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5260113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332560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789840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5260113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56120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605174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55950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616995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332560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789840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5260113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56120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605174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55473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45391" y="3758341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1" y="129812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007970" y="2966389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33" name="Straight Arrow Connector 32"/>
          <p:cNvCxnSpPr>
            <a:stCxn id="23" idx="0"/>
            <a:endCxn id="32" idx="2"/>
          </p:cNvCxnSpPr>
          <p:nvPr/>
        </p:nvCxnSpPr>
        <p:spPr>
          <a:xfrm flipV="1">
            <a:off x="7757370" y="3565248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Sequence Classification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3627550" y="3565248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380588" y="3565248"/>
            <a:ext cx="1" cy="7673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877224" y="2950005"/>
            <a:ext cx="1498802" cy="598859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Ignore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188" y="2966389"/>
            <a:ext cx="1498802" cy="598859"/>
          </a:xfrm>
          <a:prstGeom prst="rect">
            <a:avLst/>
          </a:prstGeom>
          <a:solidFill>
            <a:schemeClr val="accent4">
              <a:lumMod val="75000"/>
              <a:alpha val="33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Ignore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7294" y="3771391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04871" y="3761761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179387" y="2325103"/>
            <a:ext cx="1158706" cy="535363"/>
            <a:chOff x="7179387" y="2004478"/>
            <a:chExt cx="1158706" cy="53536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9387" y="2007218"/>
              <a:ext cx="532623" cy="532623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730" y="2004478"/>
              <a:ext cx="535363" cy="535363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278963052"/>
      </p:ext>
    </p:extLst>
  </p:cSld>
  <p:clrMapOvr>
    <a:masterClrMapping/>
  </p:clrMapOvr>
  <p:transition spd="med" advTm="319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5" grpId="0"/>
      <p:bldP spid="10" grpId="0" animBg="1"/>
      <p:bldP spid="12" grpId="0"/>
      <p:bldP spid="18" grpId="0"/>
      <p:bldP spid="20" grpId="0"/>
      <p:bldP spid="23" grpId="0" animBg="1"/>
      <p:bldP spid="25" grpId="0"/>
      <p:bldP spid="27" grpId="0"/>
      <p:bldP spid="39" grpId="0"/>
      <p:bldP spid="32" grpId="0" animBg="1"/>
      <p:bldP spid="31" grpId="0" animBg="1"/>
      <p:bldP spid="34" grpId="0" animBg="1"/>
      <p:bldP spid="35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525700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525700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60206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5563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61389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525700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60206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55163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764882" y="2992264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h = Sum(…)</a:t>
            </a:r>
          </a:p>
        </p:txBody>
      </p:sp>
      <p:cxnSp>
        <p:nvCxnSpPr>
          <p:cNvPr id="30" name="Straight Arrow Connector 29"/>
          <p:cNvCxnSpPr>
            <a:stCxn id="98" idx="0"/>
            <a:endCxn id="29" idx="2"/>
          </p:cNvCxnSpPr>
          <p:nvPr/>
        </p:nvCxnSpPr>
        <p:spPr>
          <a:xfrm flipV="1">
            <a:off x="1380589" y="3449544"/>
            <a:ext cx="3133694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0"/>
            <a:endCxn id="29" idx="2"/>
          </p:cNvCxnSpPr>
          <p:nvPr/>
        </p:nvCxnSpPr>
        <p:spPr>
          <a:xfrm flipV="1">
            <a:off x="3627551" y="3449544"/>
            <a:ext cx="886732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9" idx="2"/>
          </p:cNvCxnSpPr>
          <p:nvPr/>
        </p:nvCxnSpPr>
        <p:spPr>
          <a:xfrm flipH="1" flipV="1">
            <a:off x="4514283" y="3449544"/>
            <a:ext cx="3243088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66596" y="3547116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70101" y="3806688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32069" y="35471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64882" y="1921171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41" name="Straight Arrow Connector 40"/>
          <p:cNvCxnSpPr>
            <a:stCxn id="29" idx="0"/>
            <a:endCxn id="40" idx="2"/>
          </p:cNvCxnSpPr>
          <p:nvPr/>
        </p:nvCxnSpPr>
        <p:spPr>
          <a:xfrm flipV="1">
            <a:off x="4514283" y="2520030"/>
            <a:ext cx="0" cy="47223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111" y="159189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Sequence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7906" y="6442620"/>
            <a:ext cx="438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Bright Roman"/>
                <a:cs typeface="CMU Bright Roman"/>
                <a:hlinkClick r:id="rId2"/>
              </a:rPr>
              <a:t>http://deeplearning.net/tutorial/lstm.html</a:t>
            </a:r>
            <a:r>
              <a:rPr lang="en-US" dirty="0">
                <a:latin typeface="CMU Bright Roman"/>
                <a:cs typeface="CMU Bright Roman"/>
              </a:rPr>
              <a:t> 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934930" y="1324211"/>
            <a:ext cx="1158706" cy="535363"/>
            <a:chOff x="7179387" y="2004478"/>
            <a:chExt cx="1158706" cy="535363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9387" y="2007218"/>
              <a:ext cx="532623" cy="532623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730" y="2004478"/>
              <a:ext cx="535363" cy="535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079725"/>
      </p:ext>
    </p:extLst>
  </p:cSld>
  <p:clrMapOvr>
    <a:masterClrMapping/>
  </p:clrMapOvr>
  <p:transition spd="med" advTm="28799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/>
          <p:cNvSpPr/>
          <p:nvPr/>
        </p:nvSpPr>
        <p:spPr>
          <a:xfrm>
            <a:off x="631188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Bi-RNN</a:t>
            </a:r>
          </a:p>
        </p:txBody>
      </p:sp>
      <p:cxnSp>
        <p:nvCxnSpPr>
          <p:cNvPr id="112" name="Straight Arrow Connector 111"/>
          <p:cNvCxnSpPr>
            <a:endCxn id="98" idx="2"/>
          </p:cNvCxnSpPr>
          <p:nvPr/>
        </p:nvCxnSpPr>
        <p:spPr>
          <a:xfrm flipV="1">
            <a:off x="1380589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58699" y="5257008"/>
            <a:ext cx="64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8150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Bi-RNN</a:t>
            </a:r>
          </a:p>
        </p:txBody>
      </p:sp>
      <p:cxnSp>
        <p:nvCxnSpPr>
          <p:cNvPr id="11" name="Straight Arrow Connector 10"/>
          <p:cNvCxnSpPr>
            <a:endCxn id="10" idx="2"/>
          </p:cNvCxnSpPr>
          <p:nvPr/>
        </p:nvCxnSpPr>
        <p:spPr>
          <a:xfrm flipV="1">
            <a:off x="3627551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5001" y="5257008"/>
            <a:ext cx="68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food</a:t>
            </a:r>
          </a:p>
        </p:txBody>
      </p:sp>
      <p:cxnSp>
        <p:nvCxnSpPr>
          <p:cNvPr id="13" name="Straight Arrow Connector 12"/>
          <p:cNvCxnSpPr>
            <a:stCxn id="98" idx="3"/>
            <a:endCxn id="10" idx="1"/>
          </p:cNvCxnSpPr>
          <p:nvPr/>
        </p:nvCxnSpPr>
        <p:spPr>
          <a:xfrm>
            <a:off x="2129990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73485" y="4602069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376952" y="45563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14283" y="4613890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07969" y="4329455"/>
            <a:ext cx="1498802" cy="457280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Bi-RNN</a:t>
            </a:r>
          </a:p>
        </p:txBody>
      </p:sp>
      <p:cxnSp>
        <p:nvCxnSpPr>
          <p:cNvPr id="24" name="Straight Arrow Connector 23"/>
          <p:cNvCxnSpPr>
            <a:endCxn id="23" idx="2"/>
          </p:cNvCxnSpPr>
          <p:nvPr/>
        </p:nvCxnSpPr>
        <p:spPr>
          <a:xfrm flipV="1">
            <a:off x="7757370" y="4786735"/>
            <a:ext cx="0" cy="43796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92199" y="5257008"/>
            <a:ext cx="7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good</a:t>
            </a:r>
          </a:p>
        </p:txBody>
      </p:sp>
      <p:cxnSp>
        <p:nvCxnSpPr>
          <p:cNvPr id="26" name="Straight Arrow Connector 25"/>
          <p:cNvCxnSpPr>
            <a:endCxn id="23" idx="1"/>
          </p:cNvCxnSpPr>
          <p:nvPr/>
        </p:nvCxnSpPr>
        <p:spPr>
          <a:xfrm>
            <a:off x="6259809" y="4558095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36595" y="4602069"/>
            <a:ext cx="57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n-1</a:t>
            </a:r>
            <a:endParaRPr lang="en-US" dirty="0">
              <a:latin typeface="CMU Bright Oblique"/>
              <a:cs typeface="CMU Bright Oblique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77512" y="4551630"/>
            <a:ext cx="7481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764882" y="2992264"/>
            <a:ext cx="1498802" cy="457280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h = Sum(…)</a:t>
            </a:r>
          </a:p>
        </p:txBody>
      </p:sp>
      <p:cxnSp>
        <p:nvCxnSpPr>
          <p:cNvPr id="30" name="Straight Arrow Connector 29"/>
          <p:cNvCxnSpPr>
            <a:stCxn id="98" idx="0"/>
            <a:endCxn id="29" idx="2"/>
          </p:cNvCxnSpPr>
          <p:nvPr/>
        </p:nvCxnSpPr>
        <p:spPr>
          <a:xfrm flipV="1">
            <a:off x="1380589" y="3449544"/>
            <a:ext cx="3133694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0"/>
            <a:endCxn id="29" idx="2"/>
          </p:cNvCxnSpPr>
          <p:nvPr/>
        </p:nvCxnSpPr>
        <p:spPr>
          <a:xfrm flipV="1">
            <a:off x="3627551" y="3449544"/>
            <a:ext cx="886732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9" idx="2"/>
          </p:cNvCxnSpPr>
          <p:nvPr/>
        </p:nvCxnSpPr>
        <p:spPr>
          <a:xfrm flipH="1" flipV="1">
            <a:off x="4514283" y="3449544"/>
            <a:ext cx="3243088" cy="8799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66596" y="3547116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1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70101" y="3806688"/>
            <a:ext cx="44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MU Bright Oblique"/>
                <a:cs typeface="CMU Bright Oblique"/>
              </a:rPr>
              <a:t>h</a:t>
            </a:r>
            <a:r>
              <a:rPr lang="en-US" baseline="-25000" dirty="0">
                <a:latin typeface="CMU Bright Oblique"/>
                <a:cs typeface="CMU Bright Oblique"/>
              </a:rPr>
              <a:t>2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32069" y="3547116"/>
            <a:ext cx="44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MU Bright Oblique"/>
                <a:cs typeface="CMU Bright Oblique"/>
              </a:rPr>
              <a:t>h</a:t>
            </a:r>
            <a:r>
              <a:rPr lang="en-US" baseline="-25000" dirty="0" err="1">
                <a:latin typeface="CMU Bright Oblique"/>
                <a:cs typeface="CMU Bright Oblique"/>
              </a:rPr>
              <a:t>n</a:t>
            </a:r>
            <a:endParaRPr lang="en-US" dirty="0">
              <a:latin typeface="CMU Bright Oblique"/>
              <a:cs typeface="CMU Bright Oblique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64882" y="1921171"/>
            <a:ext cx="1498802" cy="59885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MU Bright Roman"/>
                <a:cs typeface="CMU Bright Roman"/>
              </a:rPr>
              <a:t>Linear Classifier</a:t>
            </a:r>
          </a:p>
        </p:txBody>
      </p:sp>
      <p:cxnSp>
        <p:nvCxnSpPr>
          <p:cNvPr id="41" name="Straight Arrow Connector 40"/>
          <p:cNvCxnSpPr>
            <a:stCxn id="29" idx="0"/>
            <a:endCxn id="40" idx="2"/>
          </p:cNvCxnSpPr>
          <p:nvPr/>
        </p:nvCxnSpPr>
        <p:spPr>
          <a:xfrm flipV="1">
            <a:off x="4514283" y="2520030"/>
            <a:ext cx="0" cy="47223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94111" y="159189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Sequence Classification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934930" y="1324211"/>
            <a:ext cx="1158706" cy="535363"/>
            <a:chOff x="7179387" y="2004478"/>
            <a:chExt cx="1158706" cy="535363"/>
          </a:xfrm>
        </p:grpSpPr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9387" y="2007218"/>
              <a:ext cx="532623" cy="532623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2730" y="2004478"/>
              <a:ext cx="535363" cy="535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045161"/>
      </p:ext>
    </p:extLst>
  </p:cSld>
  <p:clrMapOvr>
    <a:masterClrMapping/>
  </p:clrMapOvr>
  <p:transition spd="med" advTm="1247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MU Bright SemiBold"/>
                <a:cs typeface="CMU Bright SemiBold"/>
              </a:rPr>
              <a:t>Image Caption Generation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287CE1-093A-D24F-8E61-9A798024910F}"/>
              </a:ext>
            </a:extLst>
          </p:cNvPr>
          <p:cNvSpPr/>
          <p:nvPr/>
        </p:nvSpPr>
        <p:spPr>
          <a:xfrm>
            <a:off x="156185" y="1274373"/>
            <a:ext cx="8183743" cy="44687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45E0B5-E184-044E-A89C-40DB851E5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11" y="4946968"/>
            <a:ext cx="994611" cy="99461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D6E91A-A67A-7A40-94BC-4EDA398F6BCB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H="1" flipV="1">
            <a:off x="889824" y="4555969"/>
            <a:ext cx="3693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A1191C0-BED4-3A4C-BBC2-2F1E0AA9BB55}"/>
              </a:ext>
            </a:extLst>
          </p:cNvPr>
          <p:cNvSpPr/>
          <p:nvPr/>
        </p:nvSpPr>
        <p:spPr>
          <a:xfrm>
            <a:off x="401528" y="4174895"/>
            <a:ext cx="976593" cy="381074"/>
          </a:xfrm>
          <a:prstGeom prst="rect">
            <a:avLst/>
          </a:prstGeom>
          <a:solidFill>
            <a:schemeClr val="accent6">
              <a:lumMod val="60000"/>
              <a:lumOff val="40000"/>
              <a:alpha val="33000"/>
            </a:schemeClr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MU Bright Roman"/>
                <a:cs typeface="CMU Bright Roman"/>
              </a:rPr>
              <a:t>CNN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6AA9A-5405-7D4A-B553-477EAFCC521B}"/>
              </a:ext>
            </a:extLst>
          </p:cNvPr>
          <p:cNvSpPr/>
          <p:nvPr/>
        </p:nvSpPr>
        <p:spPr>
          <a:xfrm>
            <a:off x="1865889" y="3410858"/>
            <a:ext cx="976593" cy="381074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86286D-B155-7641-BDE5-D227C57C04E5}"/>
              </a:ext>
            </a:extLst>
          </p:cNvPr>
          <p:cNvSpPr/>
          <p:nvPr/>
        </p:nvSpPr>
        <p:spPr>
          <a:xfrm>
            <a:off x="3329969" y="3410858"/>
            <a:ext cx="976593" cy="381074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CA5FC6-A1DB-894C-8167-5CDCC7277215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842482" y="3601395"/>
            <a:ext cx="48748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A40A26-C893-4E44-B83D-75F1EEE067B9}"/>
              </a:ext>
            </a:extLst>
          </p:cNvPr>
          <p:cNvSpPr txBox="1"/>
          <p:nvPr/>
        </p:nvSpPr>
        <p:spPr>
          <a:xfrm>
            <a:off x="2899415" y="3638041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1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B9B106-D1DB-DA4B-BE8D-603EA4E94B9F}"/>
              </a:ext>
            </a:extLst>
          </p:cNvPr>
          <p:cNvCxnSpPr/>
          <p:nvPr/>
        </p:nvCxnSpPr>
        <p:spPr>
          <a:xfrm>
            <a:off x="4306561" y="3599978"/>
            <a:ext cx="48748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43F73E-472B-FD45-BD46-489EACF7C2A8}"/>
              </a:ext>
            </a:extLst>
          </p:cNvPr>
          <p:cNvSpPr txBox="1"/>
          <p:nvPr/>
        </p:nvSpPr>
        <p:spPr>
          <a:xfrm>
            <a:off x="4359479" y="3647892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2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0B592-7AD2-544A-9217-A64810D59AE6}"/>
              </a:ext>
            </a:extLst>
          </p:cNvPr>
          <p:cNvSpPr txBox="1"/>
          <p:nvPr/>
        </p:nvSpPr>
        <p:spPr>
          <a:xfrm>
            <a:off x="1429674" y="3647892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0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02717E-5416-4342-82FF-DC024C0AE81A}"/>
              </a:ext>
            </a:extLst>
          </p:cNvPr>
          <p:cNvCxnSpPr/>
          <p:nvPr/>
        </p:nvCxnSpPr>
        <p:spPr>
          <a:xfrm flipV="1">
            <a:off x="2347400" y="3019860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D932A1-D3CB-3343-9B60-C168B467D414}"/>
              </a:ext>
            </a:extLst>
          </p:cNvPr>
          <p:cNvCxnSpPr/>
          <p:nvPr/>
        </p:nvCxnSpPr>
        <p:spPr>
          <a:xfrm flipV="1">
            <a:off x="3814963" y="3021460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086C217-FEB0-2D4D-BF18-427082CAC0BD}"/>
              </a:ext>
            </a:extLst>
          </p:cNvPr>
          <p:cNvSpPr txBox="1"/>
          <p:nvPr/>
        </p:nvSpPr>
        <p:spPr>
          <a:xfrm>
            <a:off x="2015740" y="1811910"/>
            <a:ext cx="676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“The”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B20BD2-15F5-724F-952A-4D40772FF27D}"/>
              </a:ext>
            </a:extLst>
          </p:cNvPr>
          <p:cNvSpPr txBox="1"/>
          <p:nvPr/>
        </p:nvSpPr>
        <p:spPr>
          <a:xfrm>
            <a:off x="3480256" y="1811910"/>
            <a:ext cx="669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“dog”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5A72FB-5C24-B34F-B87C-5ADCFA22550F}"/>
              </a:ext>
            </a:extLst>
          </p:cNvPr>
          <p:cNvSpPr txBox="1"/>
          <p:nvPr/>
        </p:nvSpPr>
        <p:spPr>
          <a:xfrm>
            <a:off x="2313219" y="3072881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1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FDC0E1-AA0C-8542-BD9D-0B898B2B1476}"/>
              </a:ext>
            </a:extLst>
          </p:cNvPr>
          <p:cNvSpPr txBox="1"/>
          <p:nvPr/>
        </p:nvSpPr>
        <p:spPr>
          <a:xfrm>
            <a:off x="3780781" y="3072881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2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2563B3-9980-AE4F-AA93-D2AA35F6842B}"/>
              </a:ext>
            </a:extLst>
          </p:cNvPr>
          <p:cNvSpPr/>
          <p:nvPr/>
        </p:nvSpPr>
        <p:spPr>
          <a:xfrm>
            <a:off x="1865889" y="2590550"/>
            <a:ext cx="976593" cy="42930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MU Bright Roman"/>
                <a:cs typeface="CMU Bright Roman"/>
              </a:rPr>
              <a:t>Classifier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9A7A40-DD5C-DE4D-BCD4-FCB77F94937E}"/>
              </a:ext>
            </a:extLst>
          </p:cNvPr>
          <p:cNvCxnSpPr>
            <a:cxnSpLocks/>
            <a:stCxn id="29" idx="0"/>
            <a:endCxn id="24" idx="2"/>
          </p:cNvCxnSpPr>
          <p:nvPr/>
        </p:nvCxnSpPr>
        <p:spPr>
          <a:xfrm flipH="1" flipV="1">
            <a:off x="2353878" y="2150464"/>
            <a:ext cx="308" cy="4400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5A1F003-59E9-CB47-B996-BD6220962CC4}"/>
              </a:ext>
            </a:extLst>
          </p:cNvPr>
          <p:cNvSpPr/>
          <p:nvPr/>
        </p:nvSpPr>
        <p:spPr>
          <a:xfrm>
            <a:off x="3326666" y="2590550"/>
            <a:ext cx="976593" cy="42930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MU Bright Roman"/>
                <a:cs typeface="CMU Bright Roman"/>
              </a:rPr>
              <a:t>Classifier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77D0B23-805C-1E40-8047-05B014943FBD}"/>
              </a:ext>
            </a:extLst>
          </p:cNvPr>
          <p:cNvCxnSpPr>
            <a:cxnSpLocks/>
            <a:stCxn id="31" idx="0"/>
            <a:endCxn id="25" idx="2"/>
          </p:cNvCxnSpPr>
          <p:nvPr/>
        </p:nvCxnSpPr>
        <p:spPr>
          <a:xfrm flipV="1">
            <a:off x="3814963" y="2150464"/>
            <a:ext cx="0" cy="4400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81A28F6-87B2-6F42-B08A-8C4D5A282F35}"/>
              </a:ext>
            </a:extLst>
          </p:cNvPr>
          <p:cNvSpPr/>
          <p:nvPr/>
        </p:nvSpPr>
        <p:spPr>
          <a:xfrm>
            <a:off x="7748190" y="3407870"/>
            <a:ext cx="976593" cy="381074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174392-1E54-1B42-804C-13FF8071600B}"/>
              </a:ext>
            </a:extLst>
          </p:cNvPr>
          <p:cNvSpPr txBox="1"/>
          <p:nvPr/>
        </p:nvSpPr>
        <p:spPr>
          <a:xfrm>
            <a:off x="7837500" y="1808922"/>
            <a:ext cx="791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“STOP”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082AA5-BA3F-2D42-B09C-D763F92EC6B4}"/>
              </a:ext>
            </a:extLst>
          </p:cNvPr>
          <p:cNvSpPr txBox="1"/>
          <p:nvPr/>
        </p:nvSpPr>
        <p:spPr>
          <a:xfrm>
            <a:off x="8199002" y="3069893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5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795EC1-3B59-414F-AF53-18E178804DB5}"/>
              </a:ext>
            </a:extLst>
          </p:cNvPr>
          <p:cNvSpPr/>
          <p:nvPr/>
        </p:nvSpPr>
        <p:spPr>
          <a:xfrm>
            <a:off x="7744888" y="2587562"/>
            <a:ext cx="976593" cy="42930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MU Bright Roman"/>
                <a:cs typeface="CMU Bright Roman"/>
              </a:rPr>
              <a:t>Classifier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3830CFD-C9B2-0B4C-B7B7-FF0AC97B5AA7}"/>
              </a:ext>
            </a:extLst>
          </p:cNvPr>
          <p:cNvCxnSpPr>
            <a:cxnSpLocks/>
            <a:stCxn id="42" idx="0"/>
            <a:endCxn id="40" idx="2"/>
          </p:cNvCxnSpPr>
          <p:nvPr/>
        </p:nvCxnSpPr>
        <p:spPr>
          <a:xfrm flipV="1">
            <a:off x="8233185" y="2147476"/>
            <a:ext cx="1" cy="4400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F49EAA-5D17-104B-B9FF-CCC1F2BABC0A}"/>
              </a:ext>
            </a:extLst>
          </p:cNvPr>
          <p:cNvCxnSpPr/>
          <p:nvPr/>
        </p:nvCxnSpPr>
        <p:spPr>
          <a:xfrm>
            <a:off x="7257400" y="3595208"/>
            <a:ext cx="48748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B9F8200-C04F-4045-8CAA-584CB1D638EB}"/>
              </a:ext>
            </a:extLst>
          </p:cNvPr>
          <p:cNvCxnSpPr/>
          <p:nvPr/>
        </p:nvCxnSpPr>
        <p:spPr>
          <a:xfrm flipV="1">
            <a:off x="8233184" y="3016871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67D29CF-CA06-1843-B1AC-F58C52D79641}"/>
              </a:ext>
            </a:extLst>
          </p:cNvPr>
          <p:cNvSpPr txBox="1"/>
          <p:nvPr/>
        </p:nvSpPr>
        <p:spPr>
          <a:xfrm>
            <a:off x="7335652" y="3638041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4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B089999-F65F-6845-8ED6-4F6FA393FA17}"/>
              </a:ext>
            </a:extLst>
          </p:cNvPr>
          <p:cNvCxnSpPr/>
          <p:nvPr/>
        </p:nvCxnSpPr>
        <p:spPr>
          <a:xfrm flipV="1">
            <a:off x="2353877" y="3783897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0AAFDD-363E-3F4C-81FF-34E2B96E6233}"/>
              </a:ext>
            </a:extLst>
          </p:cNvPr>
          <p:cNvCxnSpPr/>
          <p:nvPr/>
        </p:nvCxnSpPr>
        <p:spPr>
          <a:xfrm flipV="1">
            <a:off x="3821439" y="3785497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2F6EE2-E158-304A-BC83-ED1A0BFB7F30}"/>
              </a:ext>
            </a:extLst>
          </p:cNvPr>
          <p:cNvCxnSpPr/>
          <p:nvPr/>
        </p:nvCxnSpPr>
        <p:spPr>
          <a:xfrm flipV="1">
            <a:off x="8239661" y="3780908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A0059AB-CAAC-DD4D-B2A7-A37A86749DCC}"/>
              </a:ext>
            </a:extLst>
          </p:cNvPr>
          <p:cNvSpPr txBox="1"/>
          <p:nvPr/>
        </p:nvSpPr>
        <p:spPr>
          <a:xfrm>
            <a:off x="3483302" y="4166570"/>
            <a:ext cx="676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521B93"/>
                </a:solidFill>
                <a:latin typeface="CMU Bright Oblique"/>
                <a:cs typeface="CMU Bright Oblique"/>
              </a:rPr>
              <a:t>“The”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23D9F7-6C5A-C249-9F0A-9A39B263CA47}"/>
              </a:ext>
            </a:extLst>
          </p:cNvPr>
          <p:cNvSpPr txBox="1"/>
          <p:nvPr/>
        </p:nvSpPr>
        <p:spPr>
          <a:xfrm>
            <a:off x="7794443" y="4122120"/>
            <a:ext cx="877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521B93"/>
                </a:solidFill>
                <a:latin typeface="CMU Bright Oblique"/>
                <a:cs typeface="CMU Bright Oblique"/>
              </a:rPr>
              <a:t>“hiding”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98B8DA-80B8-0142-95E7-6D34831F8F0C}"/>
              </a:ext>
            </a:extLst>
          </p:cNvPr>
          <p:cNvSpPr/>
          <p:nvPr/>
        </p:nvSpPr>
        <p:spPr>
          <a:xfrm>
            <a:off x="4794008" y="3404671"/>
            <a:ext cx="976593" cy="381074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8224A2B-D05F-FE45-8654-9F2EF0EE4E6B}"/>
              </a:ext>
            </a:extLst>
          </p:cNvPr>
          <p:cNvCxnSpPr/>
          <p:nvPr/>
        </p:nvCxnSpPr>
        <p:spPr>
          <a:xfrm>
            <a:off x="5770600" y="3593791"/>
            <a:ext cx="48748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7FE0B76-57B8-5443-A071-B4BFBEC1358F}"/>
              </a:ext>
            </a:extLst>
          </p:cNvPr>
          <p:cNvSpPr txBox="1"/>
          <p:nvPr/>
        </p:nvSpPr>
        <p:spPr>
          <a:xfrm>
            <a:off x="5823518" y="3641705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3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4372BD1-2265-6C4A-B421-A00A08FC5F12}"/>
              </a:ext>
            </a:extLst>
          </p:cNvPr>
          <p:cNvCxnSpPr/>
          <p:nvPr/>
        </p:nvCxnSpPr>
        <p:spPr>
          <a:xfrm flipV="1">
            <a:off x="5279002" y="3015273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CC4A7E1-C692-5B4A-B239-CC82AEF29D86}"/>
              </a:ext>
            </a:extLst>
          </p:cNvPr>
          <p:cNvSpPr txBox="1"/>
          <p:nvPr/>
        </p:nvSpPr>
        <p:spPr>
          <a:xfrm>
            <a:off x="5036788" y="1805723"/>
            <a:ext cx="484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“is”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013A14B-CCF4-6349-B234-D1570A87A320}"/>
              </a:ext>
            </a:extLst>
          </p:cNvPr>
          <p:cNvSpPr txBox="1"/>
          <p:nvPr/>
        </p:nvSpPr>
        <p:spPr>
          <a:xfrm>
            <a:off x="5244820" y="3066694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3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85DE82-13A0-744D-8B39-C77B62207BB8}"/>
              </a:ext>
            </a:extLst>
          </p:cNvPr>
          <p:cNvSpPr/>
          <p:nvPr/>
        </p:nvSpPr>
        <p:spPr>
          <a:xfrm>
            <a:off x="4790705" y="2584363"/>
            <a:ext cx="976593" cy="42930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MU Bright Roman"/>
                <a:cs typeface="CMU Bright Roman"/>
              </a:rPr>
              <a:t>Classifier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A403E41-1F56-5648-BB57-821D2C01E352}"/>
              </a:ext>
            </a:extLst>
          </p:cNvPr>
          <p:cNvCxnSpPr>
            <a:cxnSpLocks/>
            <a:stCxn id="60" idx="0"/>
            <a:endCxn id="58" idx="2"/>
          </p:cNvCxnSpPr>
          <p:nvPr/>
        </p:nvCxnSpPr>
        <p:spPr>
          <a:xfrm flipV="1">
            <a:off x="5279002" y="2144277"/>
            <a:ext cx="0" cy="4400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37C9BE-D936-0C4A-8D10-F3C0F516E99C}"/>
              </a:ext>
            </a:extLst>
          </p:cNvPr>
          <p:cNvCxnSpPr/>
          <p:nvPr/>
        </p:nvCxnSpPr>
        <p:spPr>
          <a:xfrm flipV="1">
            <a:off x="5285478" y="3779310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89231EC-1E2D-8A4A-AB8F-4BE29AE6DCDE}"/>
              </a:ext>
            </a:extLst>
          </p:cNvPr>
          <p:cNvSpPr txBox="1"/>
          <p:nvPr/>
        </p:nvSpPr>
        <p:spPr>
          <a:xfrm>
            <a:off x="4950772" y="4160383"/>
            <a:ext cx="669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521B93"/>
                </a:solidFill>
                <a:latin typeface="CMU Bright Oblique"/>
                <a:cs typeface="CMU Bright Oblique"/>
              </a:rPr>
              <a:t>“dog”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034F6C-C697-C34E-8918-55316B391DA5}"/>
              </a:ext>
            </a:extLst>
          </p:cNvPr>
          <p:cNvSpPr/>
          <p:nvPr/>
        </p:nvSpPr>
        <p:spPr>
          <a:xfrm>
            <a:off x="6277892" y="3401490"/>
            <a:ext cx="976593" cy="381074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E8F3C9D-DA77-4D42-BBEF-9E1ADD36FE46}"/>
              </a:ext>
            </a:extLst>
          </p:cNvPr>
          <p:cNvCxnSpPr/>
          <p:nvPr/>
        </p:nvCxnSpPr>
        <p:spPr>
          <a:xfrm flipV="1">
            <a:off x="6762886" y="3012092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9F28585-CC4B-9644-9CAE-3AEE2F15ABB8}"/>
              </a:ext>
            </a:extLst>
          </p:cNvPr>
          <p:cNvSpPr txBox="1"/>
          <p:nvPr/>
        </p:nvSpPr>
        <p:spPr>
          <a:xfrm>
            <a:off x="6324145" y="1802542"/>
            <a:ext cx="877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“hiding”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B320EE-1893-464C-B108-CA72F600C3EB}"/>
              </a:ext>
            </a:extLst>
          </p:cNvPr>
          <p:cNvSpPr txBox="1"/>
          <p:nvPr/>
        </p:nvSpPr>
        <p:spPr>
          <a:xfrm>
            <a:off x="6728704" y="3063513"/>
            <a:ext cx="360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MU Bright Oblique"/>
                <a:cs typeface="CMU Bright Oblique"/>
              </a:rPr>
              <a:t>h</a:t>
            </a:r>
            <a:r>
              <a:rPr lang="en-US" sz="1600" baseline="-25000" dirty="0">
                <a:latin typeface="CMU Bright Oblique"/>
                <a:cs typeface="CMU Bright Oblique"/>
              </a:rPr>
              <a:t>4</a:t>
            </a:r>
            <a:endParaRPr lang="en-US" sz="1600" dirty="0">
              <a:latin typeface="CMU Bright Oblique"/>
              <a:cs typeface="CMU Bright Oblique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5A1E61D-56CD-054D-BEA6-2E5A8B222218}"/>
              </a:ext>
            </a:extLst>
          </p:cNvPr>
          <p:cNvSpPr/>
          <p:nvPr/>
        </p:nvSpPr>
        <p:spPr>
          <a:xfrm>
            <a:off x="6274589" y="2581182"/>
            <a:ext cx="976593" cy="42930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MU Bright Roman"/>
                <a:cs typeface="CMU Bright Roman"/>
              </a:rPr>
              <a:t>Classifier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660965-77CA-234A-A930-82A307AF3637}"/>
              </a:ext>
            </a:extLst>
          </p:cNvPr>
          <p:cNvCxnSpPr>
            <a:cxnSpLocks/>
            <a:stCxn id="70" idx="0"/>
            <a:endCxn id="68" idx="2"/>
          </p:cNvCxnSpPr>
          <p:nvPr/>
        </p:nvCxnSpPr>
        <p:spPr>
          <a:xfrm flipV="1">
            <a:off x="6762886" y="2141096"/>
            <a:ext cx="1" cy="44008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9F69376-B940-C143-BFEA-F0CCB44EF4D4}"/>
              </a:ext>
            </a:extLst>
          </p:cNvPr>
          <p:cNvCxnSpPr/>
          <p:nvPr/>
        </p:nvCxnSpPr>
        <p:spPr>
          <a:xfrm flipV="1">
            <a:off x="6769362" y="3776129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D2068EF-5023-C14B-87FA-20FCEB3DC5B9}"/>
              </a:ext>
            </a:extLst>
          </p:cNvPr>
          <p:cNvSpPr txBox="1"/>
          <p:nvPr/>
        </p:nvSpPr>
        <p:spPr>
          <a:xfrm>
            <a:off x="6527149" y="4157202"/>
            <a:ext cx="484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521B93"/>
                </a:solidFill>
                <a:latin typeface="CMU Bright Oblique"/>
                <a:cs typeface="CMU Bright Oblique"/>
              </a:rPr>
              <a:t>“is”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EB1212-96AB-E841-B7DF-8AF748908BBC}"/>
              </a:ext>
            </a:extLst>
          </p:cNvPr>
          <p:cNvSpPr txBox="1"/>
          <p:nvPr/>
        </p:nvSpPr>
        <p:spPr>
          <a:xfrm>
            <a:off x="1917729" y="4144968"/>
            <a:ext cx="867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521B93"/>
                </a:solidFill>
                <a:latin typeface="CMU Bright Oblique"/>
                <a:cs typeface="CMU Bright Oblique"/>
              </a:rPr>
              <a:t>“START”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BD1D2E-867C-0846-9FFE-C85E3E0C9937}"/>
              </a:ext>
            </a:extLst>
          </p:cNvPr>
          <p:cNvSpPr/>
          <p:nvPr/>
        </p:nvSpPr>
        <p:spPr>
          <a:xfrm>
            <a:off x="404174" y="3410858"/>
            <a:ext cx="976593" cy="381074"/>
          </a:xfrm>
          <a:prstGeom prst="rect">
            <a:avLst/>
          </a:prstGeom>
          <a:solidFill>
            <a:schemeClr val="accent3">
              <a:lumMod val="40000"/>
              <a:lumOff val="60000"/>
              <a:alpha val="33000"/>
            </a:schemeClr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  <a:latin typeface="CMU Bright Roman"/>
              <a:cs typeface="CMU Bright Roman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C567D63-414C-9540-8430-4A8EFB1C8EE6}"/>
              </a:ext>
            </a:extLst>
          </p:cNvPr>
          <p:cNvCxnSpPr>
            <a:stCxn id="65" idx="3"/>
          </p:cNvCxnSpPr>
          <p:nvPr/>
        </p:nvCxnSpPr>
        <p:spPr>
          <a:xfrm>
            <a:off x="1380767" y="3601395"/>
            <a:ext cx="487488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FB72E6F-F059-6749-A520-DBA48EE458DE}"/>
              </a:ext>
            </a:extLst>
          </p:cNvPr>
          <p:cNvCxnSpPr/>
          <p:nvPr/>
        </p:nvCxnSpPr>
        <p:spPr>
          <a:xfrm flipV="1">
            <a:off x="892162" y="3783897"/>
            <a:ext cx="0" cy="3909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67117073"/>
      </p:ext>
    </p:extLst>
  </p:cSld>
  <p:clrMapOvr>
    <a:masterClrMapping/>
  </p:clrMapOvr>
  <p:transition spd="med" advTm="1188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/>
      <p:bldP spid="19" grpId="0"/>
      <p:bldP spid="21" grpId="0"/>
      <p:bldP spid="24" grpId="0"/>
      <p:bldP spid="25" grpId="0"/>
      <p:bldP spid="27" grpId="0"/>
      <p:bldP spid="28" grpId="0"/>
      <p:bldP spid="29" grpId="0" animBg="1"/>
      <p:bldP spid="31" grpId="0" animBg="1"/>
      <p:bldP spid="38" grpId="0" animBg="1"/>
      <p:bldP spid="40" grpId="0"/>
      <p:bldP spid="41" grpId="0"/>
      <p:bldP spid="42" grpId="0" animBg="1"/>
      <p:bldP spid="47" grpId="0"/>
      <p:bldP spid="51" grpId="0"/>
      <p:bldP spid="52" grpId="0"/>
      <p:bldP spid="54" grpId="0" animBg="1"/>
      <p:bldP spid="56" grpId="0"/>
      <p:bldP spid="58" grpId="0"/>
      <p:bldP spid="59" grpId="0"/>
      <p:bldP spid="60" grpId="0" animBg="1"/>
      <p:bldP spid="63" grpId="0"/>
      <p:bldP spid="64" grpId="0" animBg="1"/>
      <p:bldP spid="68" grpId="0"/>
      <p:bldP spid="69" grpId="0"/>
      <p:bldP spid="70" grpId="0" animBg="1"/>
      <p:bldP spid="73" grpId="0"/>
      <p:bldP spid="74" grpId="0"/>
      <p:bldP spid="6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899" indent="-342899">
              <a:defRPr sz="2900"/>
            </a:pPr>
            <a:r>
              <a:rPr dirty="0"/>
              <a:t>There exist countless variations of LSTMs, with different researchers proposing different arrangements of the LSTM units</a:t>
            </a:r>
          </a:p>
          <a:p>
            <a:pPr marL="342899" indent="-342899">
              <a:defRPr sz="2900"/>
            </a:pPr>
            <a:r>
              <a:rPr dirty="0"/>
              <a:t>So, which one is better?</a:t>
            </a:r>
          </a:p>
          <a:p>
            <a:pPr marL="342899" indent="-342899">
              <a:defRPr sz="2900"/>
            </a:pPr>
            <a:r>
              <a:rPr dirty="0">
                <a:solidFill>
                  <a:schemeClr val="accent2"/>
                </a:solidFill>
              </a:rPr>
              <a:t>None:</a:t>
            </a:r>
            <a:r>
              <a:rPr dirty="0"/>
              <a:t>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https://arxiv.org/pdf/1503.04069.pdf</a:t>
            </a:r>
          </a:p>
          <a:p>
            <a:pPr marL="342899" indent="-342899">
              <a:defRPr sz="2900"/>
            </a:pPr>
            <a:r>
              <a:rPr dirty="0"/>
              <a:t>Also, </a:t>
            </a:r>
            <a:r>
              <a:rPr dirty="0">
                <a:solidFill>
                  <a:schemeClr val="accent2"/>
                </a:solidFill>
              </a:rPr>
              <a:t>RNNs can outperform both LSTMs and GRUs:</a:t>
            </a:r>
            <a:br>
              <a:rPr dirty="0"/>
            </a:b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http://proceedings.mlr.press/v37/jozefowicz15.pdf</a:t>
            </a:r>
          </a:p>
        </p:txBody>
      </p:sp>
      <p:sp>
        <p:nvSpPr>
          <p:cNvPr id="517" name="Shape 5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It’s raining LSTMs</a:t>
            </a:r>
          </a:p>
        </p:txBody>
      </p:sp>
      <p:sp>
        <p:nvSpPr>
          <p:cNvPr id="518" name="Shape 51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 advTm="5864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899" indent="-342899">
              <a:defRPr sz="2900"/>
            </a:pPr>
            <a:r>
              <a:rPr lang="en-US" dirty="0"/>
              <a:t>If you are interested in the details for the following </a:t>
            </a:r>
            <a:r>
              <a:rPr dirty="0"/>
              <a:t>topics</a:t>
            </a:r>
            <a:r>
              <a:rPr lang="en-US" dirty="0"/>
              <a:t>:</a:t>
            </a:r>
            <a:endParaRPr dirty="0"/>
          </a:p>
          <a:p>
            <a:pPr marL="800100" lvl="1" indent="-342900">
              <a:buChar char="•"/>
              <a:defRPr sz="2900"/>
            </a:pPr>
            <a:r>
              <a:rPr dirty="0"/>
              <a:t>Bidirectional RNNs (Sec. 10.3 book)</a:t>
            </a:r>
          </a:p>
          <a:p>
            <a:pPr marL="800100" lvl="1" indent="-342900">
              <a:buChar char="•"/>
              <a:defRPr sz="2900"/>
            </a:pPr>
            <a:r>
              <a:rPr dirty="0"/>
              <a:t>Teacher forcing (Fig. 10.6 book)</a:t>
            </a:r>
          </a:p>
          <a:p>
            <a:pPr marL="800100" lvl="1" indent="-342900">
              <a:buChar char="•"/>
              <a:defRPr sz="2900"/>
            </a:pPr>
            <a:r>
              <a:rPr dirty="0"/>
              <a:t>Image captioning RNNs (Fig. 10.9 book)</a:t>
            </a:r>
          </a:p>
          <a:p>
            <a:pPr marL="800100" lvl="1" indent="-342900">
              <a:buChar char="•"/>
              <a:defRPr sz="2900"/>
            </a:pPr>
            <a:r>
              <a:rPr dirty="0"/>
              <a:t>Encoder-decoder architectures (Sec. 10.4 book)</a:t>
            </a:r>
          </a:p>
          <a:p>
            <a:pPr marL="800100" lvl="1" indent="-342900">
              <a:buChar char="•"/>
              <a:defRPr sz="2900"/>
            </a:pPr>
            <a:r>
              <a:rPr dirty="0"/>
              <a:t>…</a:t>
            </a:r>
          </a:p>
        </p:txBody>
      </p:sp>
      <p:sp>
        <p:nvSpPr>
          <p:cNvPr id="521" name="Shape 5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Zoo of RNNs</a:t>
            </a:r>
          </a:p>
        </p:txBody>
      </p:sp>
      <p:sp>
        <p:nvSpPr>
          <p:cNvPr id="522" name="Shape 52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 advTm="39606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5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t>Music composition: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http://www.hexahedria.com/2015/08/03/composing-music-with-recurrent-neural-networks/</a:t>
            </a:r>
          </a:p>
          <a:p>
            <a:r>
              <a:t>Characters prediction: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https://cs.stanford.edu/people/karpathy/recurrentjs/</a:t>
            </a:r>
          </a:p>
          <a:p>
            <a:r>
              <a:t>Transformer networks: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https://ai.googleblog.com/2017/08/transformer-novel-neural-network.html</a:t>
            </a:r>
          </a:p>
          <a:p>
            <a:r>
              <a:t>RNN-Ts on your phone: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https://ai.googleblog.com/2019/03/an-all-neural-on-device-speech.html</a:t>
            </a:r>
          </a:p>
        </p:txBody>
      </p:sp>
      <p:sp>
        <p:nvSpPr>
          <p:cNvPr id="525" name="Shape 5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Online resources</a:t>
            </a:r>
          </a:p>
        </p:txBody>
      </p:sp>
      <p:sp>
        <p:nvSpPr>
          <p:cNvPr id="526" name="Shape 52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 advTm="20694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AE1CC1-11FD-47AA-979E-8B297C1CF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170789"/>
          </a:xfrm>
        </p:spPr>
        <p:txBody>
          <a:bodyPr/>
          <a:lstStyle/>
          <a:p>
            <a:r>
              <a:rPr lang="en-US" dirty="0"/>
              <a:t>Sequential data and temporal </a:t>
            </a:r>
            <a:r>
              <a:rPr lang="en-US" dirty="0" err="1"/>
              <a:t>dependances</a:t>
            </a:r>
            <a:endParaRPr lang="en-US" dirty="0"/>
          </a:p>
          <a:p>
            <a:r>
              <a:rPr lang="en-US" dirty="0"/>
              <a:t>Recurrent Neural Network and BPTT</a:t>
            </a:r>
          </a:p>
          <a:p>
            <a:r>
              <a:rPr lang="en-US" dirty="0"/>
              <a:t>Long Short-Term Memory</a:t>
            </a:r>
          </a:p>
          <a:p>
            <a:r>
              <a:rPr lang="en-US" dirty="0"/>
              <a:t>Gated Recurrent Unit</a:t>
            </a:r>
          </a:p>
          <a:p>
            <a:r>
              <a:rPr lang="en-US" dirty="0"/>
              <a:t>Different application cases of RNN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6978FB-C010-4681-9333-47F7EFE7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269097934"/>
      </p:ext>
    </p:extLst>
  </p:cSld>
  <p:clrMapOvr>
    <a:masterClrMapping/>
  </p:clrMapOvr>
  <p:transition spd="med" advTm="16009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124.4|5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6|6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2|15.1|10.9|2.2|5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7.1|29.3|26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2.6|5|7.2|39.9|12.7|2.8|1.4"/>
</p:tagLst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724</Words>
  <Application>Microsoft Office PowerPoint</Application>
  <PresentationFormat>On-screen Show (4:3)</PresentationFormat>
  <Paragraphs>239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Chalkboard</vt:lpstr>
      <vt:lpstr>CMU Bright Oblique</vt:lpstr>
      <vt:lpstr>CMU Bright Roman</vt:lpstr>
      <vt:lpstr>CMU Bright SemiBold</vt:lpstr>
      <vt:lpstr>CMU Bright SemiBold Oblique</vt:lpstr>
      <vt:lpstr>Helvetica Light</vt:lpstr>
      <vt:lpstr>Helvetica Neue</vt:lpstr>
      <vt:lpstr>Arial</vt:lpstr>
      <vt:lpstr>Calibri</vt:lpstr>
      <vt:lpstr>Cambria Math</vt:lpstr>
      <vt:lpstr>Helvetica</vt:lpstr>
      <vt:lpstr>Times New Roman</vt:lpstr>
      <vt:lpstr>Default</vt:lpstr>
      <vt:lpstr>Deep Learning (CS324)  6. Recurrent Neural Networks* (Continued)</vt:lpstr>
      <vt:lpstr>RNN</vt:lpstr>
      <vt:lpstr>LSTM Forward Pass Summary</vt:lpstr>
      <vt:lpstr>LSTM Backward Pass</vt:lpstr>
      <vt:lpstr>Gated Recurrent Unit (GRU)</vt:lpstr>
      <vt:lpstr>Gated Recurrent Unit (GRU)</vt:lpstr>
      <vt:lpstr>Gated Recurrent Unit (GRU)</vt:lpstr>
      <vt:lpstr>Gated Recurrent Unit (GRU)</vt:lpstr>
      <vt:lpstr>Gated Recurrent Unit (GRU)</vt:lpstr>
      <vt:lpstr>Multi-layer RNNs</vt:lpstr>
      <vt:lpstr>Bi-directional RNNs</vt:lpstr>
      <vt:lpstr>Use Cases</vt:lpstr>
      <vt:lpstr>Sequence Classification</vt:lpstr>
      <vt:lpstr>Sequence Classification</vt:lpstr>
      <vt:lpstr>Sequence Classification</vt:lpstr>
      <vt:lpstr>Image Caption Generation</vt:lpstr>
      <vt:lpstr>It’s raining LSTMs</vt:lpstr>
      <vt:lpstr>A Zoo of RNNs</vt:lpstr>
      <vt:lpstr>Online resources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(CS324)  6. Recurrent Neural Networks*</dc:title>
  <dc:creator>zjg</dc:creator>
  <cp:lastModifiedBy>Jianguo Zhang (Staff)</cp:lastModifiedBy>
  <cp:revision>62</cp:revision>
  <dcterms:modified xsi:type="dcterms:W3CDTF">2020-04-14T06:49:13Z</dcterms:modified>
</cp:coreProperties>
</file>