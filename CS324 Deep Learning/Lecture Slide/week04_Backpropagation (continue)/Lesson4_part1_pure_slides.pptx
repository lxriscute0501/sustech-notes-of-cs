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316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32" r:id="rId19"/>
    <p:sldId id="333" r:id="rId20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1"/>
          </a:solidFill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1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3"/>
          </a:solidFill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3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6"/>
          </a:solidFill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6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0000"/>
          </a:solidFill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0000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4505" autoAdjust="0"/>
  </p:normalViewPr>
  <p:slideViewPr>
    <p:cSldViewPr snapToGrid="0">
      <p:cViewPr varScale="1">
        <p:scale>
          <a:sx n="58" d="100"/>
          <a:sy n="58" d="100"/>
        </p:scale>
        <p:origin x="1740" y="39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7" name="Shape 10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208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502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685800" y="1844675"/>
            <a:ext cx="7772400" cy="20415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Shape 12"/>
          <p:cNvSpPr txBox="1">
            <a:spLocks noGrp="1"/>
          </p:cNvSpPr>
          <p:nvPr>
            <p:ph type="body" sz="half" idx="1"/>
          </p:nvPr>
        </p:nvSpPr>
        <p:spPr>
          <a:xfrm>
            <a:off x="1371600" y="3886200"/>
            <a:ext cx="6400800" cy="29718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3200"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 sz="3200"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 sz="3200"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 sz="3200"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 sz="32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Shape 22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30" name="Shape 30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hape 3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>
            <a:off x="457200" y="256810"/>
            <a:ext cx="8229600" cy="1178656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hape 48"/>
          <p:cNvSpPr txBox="1">
            <a:spLocks noGrp="1"/>
          </p:cNvSpPr>
          <p:nvPr>
            <p:ph type="body" sz="quarter" idx="1"/>
          </p:nvPr>
        </p:nvSpPr>
        <p:spPr>
          <a:xfrm>
            <a:off x="457200" y="1435465"/>
            <a:ext cx="4040188" cy="73941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hape 49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Shape 57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658495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3008314" cy="143510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73" name="Shape 73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>
            <a:spLocks noGrp="1"/>
          </p:cNvSpPr>
          <p:nvPr>
            <p:ph type="title"/>
          </p:nvPr>
        </p:nvSpPr>
        <p:spPr>
          <a:xfrm>
            <a:off x="1346200" y="4800600"/>
            <a:ext cx="63627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81" name="Shape 81"/>
          <p:cNvSpPr txBox="1">
            <a:spLocks noGrp="1"/>
          </p:cNvSpPr>
          <p:nvPr>
            <p:ph type="body" sz="quarter" idx="1"/>
          </p:nvPr>
        </p:nvSpPr>
        <p:spPr>
          <a:xfrm>
            <a:off x="1346200" y="5367337"/>
            <a:ext cx="6362700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Shape 82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Shape 9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1" name="Shape 9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title"/>
          </p:nvPr>
        </p:nvSpPr>
        <p:spPr>
          <a:xfrm>
            <a:off x="6629400" y="0"/>
            <a:ext cx="2057400" cy="640080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457200" y="274638"/>
            <a:ext cx="6019800" cy="65833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hape 100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Shape 3"/>
          <p:cNvSpPr txBox="1">
            <a:spLocks noGrp="1"/>
          </p:cNvSpPr>
          <p:nvPr>
            <p:ph type="title"/>
          </p:nvPr>
        </p:nvSpPr>
        <p:spPr>
          <a:xfrm>
            <a:off x="457200" y="92076"/>
            <a:ext cx="8229600" cy="1508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hape 4"/>
          <p:cNvSpPr txBox="1">
            <a:spLocks noGrp="1"/>
          </p:cNvSpPr>
          <p:nvPr>
            <p:ph type="sldNum" sz="quarter" idx="2"/>
          </p:nvPr>
        </p:nvSpPr>
        <p:spPr>
          <a:xfrm>
            <a:off x="6553200" y="6414760"/>
            <a:ext cx="2133600" cy="24830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21468" marR="0" indent="-321468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1pPr>
      <a:lvl2pPr marL="763360" marR="0" indent="-3061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2pPr>
      <a:lvl3pPr marL="1200150" marR="0" indent="-28575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3pPr>
      <a:lvl4pPr marL="17145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4pPr>
      <a:lvl5pPr marL="21717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5pPr>
      <a:lvl6pPr marL="2628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6pPr>
      <a:lvl7pPr marL="30861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7pPr>
      <a:lvl8pPr marL="35433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8pPr>
      <a:lvl9pPr marL="40005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eplearningbook.or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oogle-developers.appspot.com/machine-learning/crash-course/backprop-scroll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oogle-developers.appspot.com/machine-learning/crash-course/backprop-scroll/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mattmazur.com/2015/03/17/a-step-by-step-backpropagation-example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zhang_yang/how-pytorch-tensors-backward-accumulates-gradient-8d1bf675579b" TargetMode="External"/><Relationship Id="rId2" Type="http://schemas.openxmlformats.org/officeDocument/2006/relationships/hyperlink" Target="https://discuss.pytorch.org/t/what-does-the-backward-function-do/994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uvadlc/uvadlc_practicals_2018/blob/master/pytorch/blitz/neural_networks_tutorial.ipyn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</a:t>
            </a:fld>
            <a:endParaRPr/>
          </a:p>
        </p:txBody>
      </p:sp>
      <p:sp>
        <p:nvSpPr>
          <p:cNvPr id="110" name="Shape 110"/>
          <p:cNvSpPr txBox="1">
            <a:spLocks noGrp="1"/>
          </p:cNvSpPr>
          <p:nvPr>
            <p:ph type="ctrTitle"/>
          </p:nvPr>
        </p:nvSpPr>
        <p:spPr>
          <a:xfrm>
            <a:off x="685800" y="371475"/>
            <a:ext cx="7772400" cy="3425230"/>
          </a:xfrm>
          <a:prstGeom prst="rect">
            <a:avLst/>
          </a:prstGeom>
        </p:spPr>
        <p:txBody>
          <a:bodyPr/>
          <a:lstStyle/>
          <a:p>
            <a:pPr>
              <a:defRPr sz="3400"/>
            </a:pPr>
            <a:r>
              <a:rPr dirty="0"/>
              <a:t>Deep Learning (CS324)</a:t>
            </a:r>
          </a:p>
          <a:p>
            <a:pPr>
              <a:defRPr sz="3400"/>
            </a:pPr>
            <a:endParaRPr dirty="0"/>
          </a:p>
          <a:p>
            <a:pPr>
              <a:defRPr sz="3400">
                <a:solidFill>
                  <a:schemeClr val="accent2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dirty="0"/>
              <a:t>3. Deep networks &amp; backpropagation</a:t>
            </a:r>
            <a:r>
              <a:rPr sz="3000" baseline="31999" dirty="0"/>
              <a:t>*</a:t>
            </a:r>
            <a:br>
              <a:rPr lang="en-US" sz="3000" baseline="31999" dirty="0"/>
            </a:br>
            <a:r>
              <a:rPr lang="en-US" sz="3400" dirty="0">
                <a:solidFill>
                  <a:schemeClr val="accent2"/>
                </a:solidFill>
                <a:latin typeface="Chalkboard"/>
              </a:rPr>
              <a:t>Continued </a:t>
            </a:r>
            <a:endParaRPr sz="3400" dirty="0">
              <a:solidFill>
                <a:schemeClr val="accent2"/>
              </a:solidFill>
              <a:latin typeface="Chalkboard"/>
            </a:endParaRPr>
          </a:p>
        </p:txBody>
      </p:sp>
      <p:sp>
        <p:nvSpPr>
          <p:cNvPr id="111" name="Shape 111"/>
          <p:cNvSpPr txBox="1">
            <a:spLocks noGrp="1"/>
          </p:cNvSpPr>
          <p:nvPr>
            <p:ph type="subTitle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800"/>
            </a:pPr>
            <a:r>
              <a:rPr lang="en-US" dirty="0"/>
              <a:t>Prof. Jianguo Zhang</a:t>
            </a:r>
            <a:endParaRPr dirty="0"/>
          </a:p>
          <a:p>
            <a:pPr>
              <a:defRPr sz="2800"/>
            </a:pPr>
            <a:r>
              <a:rPr dirty="0" err="1"/>
              <a:t>SUSTech</a:t>
            </a:r>
            <a:endParaRPr dirty="0"/>
          </a:p>
        </p:txBody>
      </p:sp>
      <p:sp>
        <p:nvSpPr>
          <p:cNvPr id="112" name="Shape 112"/>
          <p:cNvSpPr txBox="1"/>
          <p:nvPr/>
        </p:nvSpPr>
        <p:spPr>
          <a:xfrm>
            <a:off x="2582150" y="6404292"/>
            <a:ext cx="397970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200"/>
            </a:pPr>
            <a:r>
              <a:rPr>
                <a:solidFill>
                  <a:schemeClr val="accent2"/>
                </a:solidFill>
              </a:rPr>
              <a:t>*</a:t>
            </a:r>
            <a:r>
              <a:t>Based on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http://www.deeplearningbook.org</a:t>
            </a:r>
            <a:r>
              <a:t> chapters 5 and 6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Shape 47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Backpropagation</a:t>
            </a:r>
          </a:p>
        </p:txBody>
      </p:sp>
      <p:sp>
        <p:nvSpPr>
          <p:cNvPr id="478" name="Shape 478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479" name="Shape 47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Goal: computing the gradient of the loss with respect to the parameters so we can descend the gradient according to</a:t>
            </a:r>
          </a:p>
        </p:txBody>
      </p:sp>
      <p:pic>
        <p:nvPicPr>
          <p:cNvPr id="480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750" y="3242712"/>
            <a:ext cx="3370500" cy="3725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Backpropagation</a:t>
            </a:r>
          </a:p>
        </p:txBody>
      </p:sp>
      <p:sp>
        <p:nvSpPr>
          <p:cNvPr id="483" name="Shape 483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  <p:sp>
        <p:nvSpPr>
          <p:cNvPr id="484" name="Shape 48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Goal: computing the gradient of the loss with respect to the parameters so we can descend the gradient according to</a:t>
            </a:r>
          </a:p>
        </p:txBody>
      </p:sp>
      <p:pic>
        <p:nvPicPr>
          <p:cNvPr id="485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750" y="3242712"/>
            <a:ext cx="3370500" cy="372576"/>
          </a:xfrm>
          <a:prstGeom prst="rect">
            <a:avLst/>
          </a:prstGeom>
          <a:ln w="12700">
            <a:miter lim="400000"/>
          </a:ln>
        </p:spPr>
      </p:pic>
      <p:sp>
        <p:nvSpPr>
          <p:cNvPr id="486" name="Shape 486"/>
          <p:cNvSpPr/>
          <p:nvPr/>
        </p:nvSpPr>
        <p:spPr>
          <a:xfrm>
            <a:off x="5300917" y="2940822"/>
            <a:ext cx="1000853" cy="976356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  <a:bevel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7" name="Shape 487"/>
          <p:cNvSpPr txBox="1"/>
          <p:nvPr/>
        </p:nvSpPr>
        <p:spPr>
          <a:xfrm>
            <a:off x="4548008" y="3931001"/>
            <a:ext cx="3044576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t>Gradient of loss wrt parameters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Shape 48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Backpropagation</a:t>
            </a:r>
          </a:p>
        </p:txBody>
      </p:sp>
      <p:sp>
        <p:nvSpPr>
          <p:cNvPr id="490" name="Shape 490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sp>
        <p:nvSpPr>
          <p:cNvPr id="491" name="Shape 49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Goal: computing the gradient of the loss with respect to the parameters so we can descend the gradient according to</a:t>
            </a:r>
          </a:p>
          <a:p>
            <a:endParaRPr/>
          </a:p>
          <a:p>
            <a:r>
              <a:t>How to compute it?</a:t>
            </a:r>
          </a:p>
        </p:txBody>
      </p:sp>
      <p:pic>
        <p:nvPicPr>
          <p:cNvPr id="492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750" y="3242712"/>
            <a:ext cx="3370500" cy="3725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Shape 49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Backpropagation</a:t>
            </a:r>
          </a:p>
        </p:txBody>
      </p:sp>
      <p:sp>
        <p:nvSpPr>
          <p:cNvPr id="495" name="Shape 495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sp>
        <p:nvSpPr>
          <p:cNvPr id="496" name="Shape 49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Goal: computing the gradient of the loss with respect to the parameters so we can descend the gradient according to</a:t>
            </a:r>
          </a:p>
          <a:p>
            <a:endParaRPr/>
          </a:p>
          <a:p>
            <a:r>
              <a:t>How to compute it? For the </a:t>
            </a:r>
            <a:r>
              <a:rPr i="1">
                <a:latin typeface="+mn-lt"/>
                <a:ea typeface="+mn-ea"/>
                <a:cs typeface="+mn-cs"/>
                <a:sym typeface="Helvetica"/>
              </a:rPr>
              <a:t>l</a:t>
            </a:r>
            <a:r>
              <a:t>-th layer,</a:t>
            </a:r>
          </a:p>
        </p:txBody>
      </p:sp>
      <p:pic>
        <p:nvPicPr>
          <p:cNvPr id="497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750" y="3242712"/>
            <a:ext cx="3370500" cy="3725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98" name="pasted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104" y="4517882"/>
            <a:ext cx="4385792" cy="693847"/>
          </a:xfrm>
          <a:prstGeom prst="rect">
            <a:avLst/>
          </a:prstGeom>
          <a:ln w="12700">
            <a:miter lim="400000"/>
          </a:ln>
        </p:spPr>
      </p:pic>
      <p:sp>
        <p:nvSpPr>
          <p:cNvPr id="499" name="Shape 499"/>
          <p:cNvSpPr txBox="1"/>
          <p:nvPr/>
        </p:nvSpPr>
        <p:spPr>
          <a:xfrm>
            <a:off x="2676228" y="5409605"/>
            <a:ext cx="3791544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t>where l &lt; l + 1 &lt; l +2 &lt; … &lt; L -2 &lt; L - 1 &lt; L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Backpropagation</a:t>
            </a:r>
          </a:p>
        </p:txBody>
      </p:sp>
      <p:sp>
        <p:nvSpPr>
          <p:cNvPr id="502" name="Shape 502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  <p:sp>
        <p:nvSpPr>
          <p:cNvPr id="503" name="Shape 50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Goal: computing the gradient of the loss with respect to the parameters so we can descend the gradient according to</a:t>
            </a:r>
          </a:p>
          <a:p>
            <a:endParaRPr/>
          </a:p>
          <a:p>
            <a:r>
              <a:t>How to compute it? For the </a:t>
            </a:r>
            <a:r>
              <a:rPr i="1">
                <a:latin typeface="+mn-lt"/>
                <a:ea typeface="+mn-ea"/>
                <a:cs typeface="+mn-cs"/>
                <a:sym typeface="Helvetica"/>
              </a:rPr>
              <a:t>l</a:t>
            </a:r>
            <a:r>
              <a:t>-th layer,</a:t>
            </a:r>
          </a:p>
        </p:txBody>
      </p:sp>
      <p:pic>
        <p:nvPicPr>
          <p:cNvPr id="504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750" y="3242712"/>
            <a:ext cx="3370500" cy="372576"/>
          </a:xfrm>
          <a:prstGeom prst="rect">
            <a:avLst/>
          </a:prstGeom>
          <a:ln w="12700">
            <a:miter lim="400000"/>
          </a:ln>
        </p:spPr>
      </p:pic>
      <p:pic>
        <p:nvPicPr>
          <p:cNvPr id="505" name="pasted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634" y="4517882"/>
            <a:ext cx="2569800" cy="6938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Shape 50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Backpropagation</a:t>
            </a:r>
          </a:p>
        </p:txBody>
      </p:sp>
      <p:sp>
        <p:nvSpPr>
          <p:cNvPr id="508" name="Shape 508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sp>
        <p:nvSpPr>
          <p:cNvPr id="509" name="Shape 50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Goal: computing the gradient of the loss with respect to the parameters so we can descend the gradient according to</a:t>
            </a:r>
          </a:p>
          <a:p>
            <a:endParaRPr/>
          </a:p>
          <a:p>
            <a:r>
              <a:t>How to compute it? For the </a:t>
            </a:r>
            <a:r>
              <a:rPr i="1">
                <a:latin typeface="+mn-lt"/>
                <a:ea typeface="+mn-ea"/>
                <a:cs typeface="+mn-cs"/>
                <a:sym typeface="Helvetica"/>
              </a:rPr>
              <a:t>l</a:t>
            </a:r>
            <a:r>
              <a:t>-th layer,</a:t>
            </a:r>
          </a:p>
        </p:txBody>
      </p:sp>
      <p:pic>
        <p:nvPicPr>
          <p:cNvPr id="510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750" y="3242712"/>
            <a:ext cx="3370500" cy="372576"/>
          </a:xfrm>
          <a:prstGeom prst="rect">
            <a:avLst/>
          </a:prstGeom>
          <a:ln w="12700">
            <a:miter lim="400000"/>
          </a:ln>
        </p:spPr>
      </p:pic>
      <p:sp>
        <p:nvSpPr>
          <p:cNvPr id="511" name="Shape 511"/>
          <p:cNvSpPr/>
          <p:nvPr/>
        </p:nvSpPr>
        <p:spPr>
          <a:xfrm>
            <a:off x="3225683" y="4378559"/>
            <a:ext cx="1109339" cy="1082187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  <a:bevel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2" name="Shape 512"/>
          <p:cNvSpPr txBox="1"/>
          <p:nvPr/>
        </p:nvSpPr>
        <p:spPr>
          <a:xfrm>
            <a:off x="2578950" y="5669009"/>
            <a:ext cx="398610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chemeClr val="accent2"/>
                </a:solidFill>
              </a:defRPr>
            </a:pPr>
            <a:r>
              <a:t>Gradient of output layer </a:t>
            </a:r>
            <a:r>
              <a:rPr i="1">
                <a:latin typeface="+mn-lt"/>
                <a:ea typeface="+mn-ea"/>
                <a:cs typeface="+mn-cs"/>
                <a:sym typeface="Helvetica"/>
              </a:rPr>
              <a:t>l</a:t>
            </a:r>
            <a:r>
              <a:t> wrt parameters </a:t>
            </a:r>
          </a:p>
        </p:txBody>
      </p:sp>
      <p:pic>
        <p:nvPicPr>
          <p:cNvPr id="513" name="pasted-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634" y="4517882"/>
            <a:ext cx="2569800" cy="6938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Shape 5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Backpropagation</a:t>
            </a:r>
          </a:p>
        </p:txBody>
      </p:sp>
      <p:sp>
        <p:nvSpPr>
          <p:cNvPr id="516" name="Shape 516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sp>
        <p:nvSpPr>
          <p:cNvPr id="517" name="Shape 5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Goal: computing the gradient of the loss with respect to the parameters so we can descend the gradient according to</a:t>
            </a:r>
          </a:p>
          <a:p>
            <a:endParaRPr/>
          </a:p>
          <a:p>
            <a:r>
              <a:t>How to compute it? For the </a:t>
            </a:r>
            <a:r>
              <a:rPr i="1">
                <a:latin typeface="+mn-lt"/>
                <a:ea typeface="+mn-ea"/>
                <a:cs typeface="+mn-cs"/>
                <a:sym typeface="Helvetica"/>
              </a:rPr>
              <a:t>l</a:t>
            </a:r>
            <a:r>
              <a:t>-th layer,</a:t>
            </a:r>
          </a:p>
        </p:txBody>
      </p:sp>
      <p:pic>
        <p:nvPicPr>
          <p:cNvPr id="518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750" y="3242712"/>
            <a:ext cx="3370500" cy="372576"/>
          </a:xfrm>
          <a:prstGeom prst="rect">
            <a:avLst/>
          </a:prstGeom>
          <a:ln w="12700">
            <a:miter lim="400000"/>
          </a:ln>
        </p:spPr>
      </p:pic>
      <p:sp>
        <p:nvSpPr>
          <p:cNvPr id="519" name="Shape 519"/>
          <p:cNvSpPr/>
          <p:nvPr/>
        </p:nvSpPr>
        <p:spPr>
          <a:xfrm>
            <a:off x="3225683" y="4378559"/>
            <a:ext cx="1109339" cy="1082187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  <a:bevel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20" name="Shape 520"/>
          <p:cNvSpPr txBox="1"/>
          <p:nvPr/>
        </p:nvSpPr>
        <p:spPr>
          <a:xfrm>
            <a:off x="2324950" y="5669009"/>
            <a:ext cx="4997275" cy="625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>
                <a:solidFill>
                  <a:schemeClr val="accent2"/>
                </a:solidFill>
              </a:defRPr>
            </a:pPr>
            <a:r>
              <a:t>Can be computed locally: we only need the Jacobian</a:t>
            </a:r>
          </a:p>
          <a:p>
            <a:pPr algn="ctr">
              <a:defRPr>
                <a:solidFill>
                  <a:schemeClr val="accent2"/>
                </a:solidFill>
              </a:defRPr>
            </a:pPr>
            <a:r>
              <a:t>of the </a:t>
            </a:r>
            <a:r>
              <a:rPr i="1">
                <a:latin typeface="+mn-lt"/>
                <a:ea typeface="+mn-ea"/>
                <a:cs typeface="+mn-cs"/>
                <a:sym typeface="Helvetica"/>
              </a:rPr>
              <a:t>l</a:t>
            </a:r>
            <a:r>
              <a:t>-th layer output wrt to its parameters</a:t>
            </a:r>
          </a:p>
        </p:txBody>
      </p:sp>
      <p:pic>
        <p:nvPicPr>
          <p:cNvPr id="521" name="pasted-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634" y="4517882"/>
            <a:ext cx="2569800" cy="6938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Shape 5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Backpropagation</a:t>
            </a:r>
          </a:p>
        </p:txBody>
      </p:sp>
      <p:sp>
        <p:nvSpPr>
          <p:cNvPr id="524" name="Shape 524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  <p:sp>
        <p:nvSpPr>
          <p:cNvPr id="525" name="Shape 5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Goal: computing the gradient of the loss with respect to the parameters so we can descend the gradient according to</a:t>
            </a:r>
          </a:p>
          <a:p>
            <a:endParaRPr/>
          </a:p>
          <a:p>
            <a:r>
              <a:t>How to compute it? For the </a:t>
            </a:r>
            <a:r>
              <a:rPr i="1">
                <a:latin typeface="+mn-lt"/>
                <a:ea typeface="+mn-ea"/>
                <a:cs typeface="+mn-cs"/>
                <a:sym typeface="Helvetica"/>
              </a:rPr>
              <a:t>l</a:t>
            </a:r>
            <a:r>
              <a:t>-th layer,</a:t>
            </a:r>
          </a:p>
        </p:txBody>
      </p:sp>
      <p:pic>
        <p:nvPicPr>
          <p:cNvPr id="526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750" y="3242712"/>
            <a:ext cx="3370500" cy="372576"/>
          </a:xfrm>
          <a:prstGeom prst="rect">
            <a:avLst/>
          </a:prstGeom>
          <a:ln w="12700">
            <a:miter lim="400000"/>
          </a:ln>
        </p:spPr>
      </p:pic>
      <p:sp>
        <p:nvSpPr>
          <p:cNvPr id="527" name="Shape 527"/>
          <p:cNvSpPr txBox="1"/>
          <p:nvPr/>
        </p:nvSpPr>
        <p:spPr>
          <a:xfrm>
            <a:off x="2578950" y="5669009"/>
            <a:ext cx="3712516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chemeClr val="accent2"/>
                </a:solidFill>
              </a:defRPr>
            </a:pPr>
            <a:r>
              <a:t>Gradient of loss wrt to output of layer </a:t>
            </a:r>
            <a:r>
              <a:rPr i="1">
                <a:latin typeface="+mn-lt"/>
                <a:ea typeface="+mn-ea"/>
                <a:cs typeface="+mn-cs"/>
                <a:sym typeface="Helvetica"/>
              </a:rPr>
              <a:t>l</a:t>
            </a:r>
          </a:p>
        </p:txBody>
      </p:sp>
      <p:sp>
        <p:nvSpPr>
          <p:cNvPr id="528" name="Shape 528"/>
          <p:cNvSpPr/>
          <p:nvPr/>
        </p:nvSpPr>
        <p:spPr>
          <a:xfrm>
            <a:off x="4234658" y="4378559"/>
            <a:ext cx="1109339" cy="1082187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  <a:bevel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29" name="pasted-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634" y="4517882"/>
            <a:ext cx="2569800" cy="6938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Shape 5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Backpropagation</a:t>
            </a:r>
          </a:p>
        </p:txBody>
      </p:sp>
      <p:sp>
        <p:nvSpPr>
          <p:cNvPr id="532" name="Shape 532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  <p:sp>
        <p:nvSpPr>
          <p:cNvPr id="533" name="Shape 53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Goal: computing the gradient of the loss with respect to the parameters so we can descend the gradient according to</a:t>
            </a:r>
          </a:p>
          <a:p>
            <a:endParaRPr/>
          </a:p>
          <a:p>
            <a:r>
              <a:t>How to compute it? For the </a:t>
            </a:r>
            <a:r>
              <a:rPr i="1">
                <a:latin typeface="+mn-lt"/>
                <a:ea typeface="+mn-ea"/>
                <a:cs typeface="+mn-cs"/>
                <a:sym typeface="Helvetica"/>
              </a:rPr>
              <a:t>l</a:t>
            </a:r>
            <a:r>
              <a:t>-th layer,</a:t>
            </a:r>
          </a:p>
        </p:txBody>
      </p:sp>
      <p:pic>
        <p:nvPicPr>
          <p:cNvPr id="534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750" y="3242712"/>
            <a:ext cx="3370500" cy="372576"/>
          </a:xfrm>
          <a:prstGeom prst="rect">
            <a:avLst/>
          </a:prstGeom>
          <a:ln w="12700">
            <a:miter lim="400000"/>
          </a:ln>
        </p:spPr>
      </p:pic>
      <p:sp>
        <p:nvSpPr>
          <p:cNvPr id="535" name="Shape 535"/>
          <p:cNvSpPr txBox="1"/>
          <p:nvPr/>
        </p:nvSpPr>
        <p:spPr>
          <a:xfrm>
            <a:off x="2578950" y="5669009"/>
            <a:ext cx="424506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chemeClr val="accent2"/>
                </a:solidFill>
              </a:defRPr>
            </a:pPr>
            <a:r>
              <a:t>This instead depends on gradient at layer </a:t>
            </a:r>
            <a:r>
              <a:rPr i="1">
                <a:latin typeface="+mn-lt"/>
                <a:ea typeface="+mn-ea"/>
                <a:cs typeface="+mn-cs"/>
                <a:sym typeface="Helvetica"/>
              </a:rPr>
              <a:t>l+1</a:t>
            </a:r>
          </a:p>
        </p:txBody>
      </p:sp>
      <p:sp>
        <p:nvSpPr>
          <p:cNvPr id="536" name="Shape 536"/>
          <p:cNvSpPr/>
          <p:nvPr/>
        </p:nvSpPr>
        <p:spPr>
          <a:xfrm>
            <a:off x="4234658" y="4378559"/>
            <a:ext cx="1109339" cy="1082187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  <a:bevel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37" name="pasted-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634" y="4517882"/>
            <a:ext cx="2569800" cy="6938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Shape 5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Backpropagation</a:t>
            </a:r>
          </a:p>
        </p:txBody>
      </p:sp>
      <p:sp>
        <p:nvSpPr>
          <p:cNvPr id="540" name="Shape 540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  <p:sp>
        <p:nvSpPr>
          <p:cNvPr id="541" name="Shape 54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Goal: computing the gradient of the loss with respect to the parameters so we can descend the gradient according to</a:t>
            </a:r>
          </a:p>
          <a:p>
            <a:endParaRPr/>
          </a:p>
          <a:p>
            <a:r>
              <a:t>How to compute it? For the </a:t>
            </a:r>
            <a:r>
              <a:rPr i="1">
                <a:latin typeface="+mn-lt"/>
                <a:ea typeface="+mn-ea"/>
                <a:cs typeface="+mn-cs"/>
                <a:sym typeface="Helvetica"/>
              </a:rPr>
              <a:t>l</a:t>
            </a:r>
            <a:r>
              <a:t>-th layer,</a:t>
            </a:r>
          </a:p>
        </p:txBody>
      </p:sp>
      <p:pic>
        <p:nvPicPr>
          <p:cNvPr id="542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750" y="3242712"/>
            <a:ext cx="3370500" cy="372576"/>
          </a:xfrm>
          <a:prstGeom prst="rect">
            <a:avLst/>
          </a:prstGeom>
          <a:ln w="12700">
            <a:miter lim="400000"/>
          </a:ln>
        </p:spPr>
      </p:pic>
      <p:sp>
        <p:nvSpPr>
          <p:cNvPr id="543" name="Shape 543"/>
          <p:cNvSpPr txBox="1"/>
          <p:nvPr/>
        </p:nvSpPr>
        <p:spPr>
          <a:xfrm>
            <a:off x="2578950" y="5669009"/>
            <a:ext cx="424506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chemeClr val="accent2"/>
                </a:solidFill>
              </a:defRPr>
            </a:pPr>
            <a:r>
              <a:t>This instead depends on gradient at layer </a:t>
            </a:r>
            <a:r>
              <a:rPr i="1">
                <a:latin typeface="+mn-lt"/>
                <a:ea typeface="+mn-ea"/>
                <a:cs typeface="+mn-cs"/>
                <a:sym typeface="Helvetica"/>
              </a:rPr>
              <a:t>l+1</a:t>
            </a:r>
          </a:p>
        </p:txBody>
      </p:sp>
      <p:sp>
        <p:nvSpPr>
          <p:cNvPr id="544" name="Shape 544"/>
          <p:cNvSpPr/>
          <p:nvPr/>
        </p:nvSpPr>
        <p:spPr>
          <a:xfrm>
            <a:off x="4234658" y="4378559"/>
            <a:ext cx="1109339" cy="1082187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  <a:bevel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45" name="pasted-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634" y="4517882"/>
            <a:ext cx="2569800" cy="693847"/>
          </a:xfrm>
          <a:prstGeom prst="rect">
            <a:avLst/>
          </a:prstGeom>
          <a:ln w="12700">
            <a:miter lim="400000"/>
          </a:ln>
        </p:spPr>
      </p:pic>
      <p:pic>
        <p:nvPicPr>
          <p:cNvPr id="546" name="pasted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8369" y="6114324"/>
            <a:ext cx="2441916" cy="5540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5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Backpropagation</a:t>
            </a:r>
          </a:p>
        </p:txBody>
      </p:sp>
      <p:sp>
        <p:nvSpPr>
          <p:cNvPr id="549" name="Shape 549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  <p:sp>
        <p:nvSpPr>
          <p:cNvPr id="550" name="Shape 55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Goal: computing the gradient of the loss with respect to the parameters so we can descend the gradient according to</a:t>
            </a:r>
          </a:p>
          <a:p>
            <a:endParaRPr/>
          </a:p>
          <a:p>
            <a:r>
              <a:t>How to compute it? For the </a:t>
            </a:r>
            <a:r>
              <a:rPr i="1">
                <a:latin typeface="+mn-lt"/>
                <a:ea typeface="+mn-ea"/>
                <a:cs typeface="+mn-cs"/>
                <a:sym typeface="Helvetica"/>
              </a:rPr>
              <a:t>l</a:t>
            </a:r>
            <a:r>
              <a:t>-th layer,</a:t>
            </a:r>
          </a:p>
        </p:txBody>
      </p:sp>
      <p:pic>
        <p:nvPicPr>
          <p:cNvPr id="551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750" y="3242712"/>
            <a:ext cx="3370500" cy="372576"/>
          </a:xfrm>
          <a:prstGeom prst="rect">
            <a:avLst/>
          </a:prstGeom>
          <a:ln w="12700">
            <a:miter lim="400000"/>
          </a:ln>
        </p:spPr>
      </p:pic>
      <p:sp>
        <p:nvSpPr>
          <p:cNvPr id="552" name="Shape 552"/>
          <p:cNvSpPr txBox="1"/>
          <p:nvPr/>
        </p:nvSpPr>
        <p:spPr>
          <a:xfrm>
            <a:off x="2578950" y="5669009"/>
            <a:ext cx="424506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chemeClr val="accent2"/>
                </a:solidFill>
              </a:defRPr>
            </a:pPr>
            <a:r>
              <a:t>This instead depends on gradient at layer </a:t>
            </a:r>
            <a:r>
              <a:rPr i="1">
                <a:latin typeface="+mn-lt"/>
                <a:ea typeface="+mn-ea"/>
                <a:cs typeface="+mn-cs"/>
                <a:sym typeface="Helvetica"/>
              </a:rPr>
              <a:t>l+1</a:t>
            </a:r>
          </a:p>
        </p:txBody>
      </p:sp>
      <p:sp>
        <p:nvSpPr>
          <p:cNvPr id="553" name="Shape 553"/>
          <p:cNvSpPr/>
          <p:nvPr/>
        </p:nvSpPr>
        <p:spPr>
          <a:xfrm>
            <a:off x="4234658" y="4378559"/>
            <a:ext cx="1109339" cy="1082187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  <a:bevel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54" name="pasted-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634" y="4517882"/>
            <a:ext cx="2569800" cy="693847"/>
          </a:xfrm>
          <a:prstGeom prst="rect">
            <a:avLst/>
          </a:prstGeom>
          <a:ln w="12700">
            <a:miter lim="400000"/>
          </a:ln>
        </p:spPr>
      </p:pic>
      <p:pic>
        <p:nvPicPr>
          <p:cNvPr id="555" name="pasted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1529" y="6114324"/>
            <a:ext cx="2455596" cy="5540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Shape 5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Forward &amp; Back algorithm</a:t>
            </a:r>
          </a:p>
        </p:txBody>
      </p:sp>
      <p:sp>
        <p:nvSpPr>
          <p:cNvPr id="558" name="Shape 558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pic>
        <p:nvPicPr>
          <p:cNvPr id="559" name="Screen Shot 2019-03-06 at 18.26.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57765"/>
            <a:ext cx="9144001" cy="35424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Shape 5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Forward propagation in MLPs</a:t>
            </a:r>
          </a:p>
        </p:txBody>
      </p:sp>
      <p:sp>
        <p:nvSpPr>
          <p:cNvPr id="562" name="Shape 562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  <p:pic>
        <p:nvPicPr>
          <p:cNvPr id="563" name="Screen Shot 2019-03-07 at 07.59.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419" y="1661567"/>
            <a:ext cx="6465162" cy="46813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Shape 5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Backpropagation in MLPs</a:t>
            </a:r>
          </a:p>
        </p:txBody>
      </p:sp>
      <p:sp>
        <p:nvSpPr>
          <p:cNvPr id="566" name="Shape 566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  <p:pic>
        <p:nvPicPr>
          <p:cNvPr id="567" name="Screen Shot 2019-03-07 at 07.59.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419" y="1407998"/>
            <a:ext cx="6465162" cy="53242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Shape 56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Backpropagation demo</a:t>
            </a:r>
          </a:p>
        </p:txBody>
      </p:sp>
      <p:sp>
        <p:nvSpPr>
          <p:cNvPr id="570" name="Shape 570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16</a:t>
            </a:fld>
            <a:endParaRPr/>
          </a:p>
        </p:txBody>
      </p:sp>
      <p:sp>
        <p:nvSpPr>
          <p:cNvPr id="571" name="Shape 571"/>
          <p:cNvSpPr txBox="1"/>
          <p:nvPr/>
        </p:nvSpPr>
        <p:spPr>
          <a:xfrm>
            <a:off x="149770" y="5353003"/>
            <a:ext cx="8844460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>
                <a:solidFill>
                  <a:schemeClr val="accent2"/>
                </a:solidFill>
              </a:defRPr>
            </a:pPr>
            <a:r>
              <a:t>Nice visualisation &amp; explanation of forward prop and back-prop in neural nets</a:t>
            </a:r>
            <a:br/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https://google-developers.appspot.com/machine-learning/crash-course/backprop-scroll/</a:t>
            </a:r>
          </a:p>
        </p:txBody>
      </p:sp>
      <p:pic>
        <p:nvPicPr>
          <p:cNvPr id="572" name="Screen Shot 2019-03-13 at 10.00.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663153" y="-313491"/>
            <a:ext cx="3817824" cy="72638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Shape 57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Backpropagation demo</a:t>
            </a:r>
          </a:p>
        </p:txBody>
      </p:sp>
      <p:sp>
        <p:nvSpPr>
          <p:cNvPr id="575" name="Shape 575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  <p:sp>
        <p:nvSpPr>
          <p:cNvPr id="576" name="Shape 576"/>
          <p:cNvSpPr txBox="1"/>
          <p:nvPr/>
        </p:nvSpPr>
        <p:spPr>
          <a:xfrm>
            <a:off x="149770" y="5353003"/>
            <a:ext cx="8844460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>
                <a:solidFill>
                  <a:schemeClr val="accent2"/>
                </a:solidFill>
              </a:defRPr>
            </a:pPr>
            <a:r>
              <a:t>Nice visualisation &amp; explanation of forward prop and back-prop in neural nets</a:t>
            </a:r>
            <a:br/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https://google-developers.appspot.com/machine-learning/crash-course/backprop-scroll/</a:t>
            </a:r>
          </a:p>
        </p:txBody>
      </p:sp>
      <p:pic>
        <p:nvPicPr>
          <p:cNvPr id="577" name="Screen Shot 2019-03-13 at 10.00.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663153" y="-313491"/>
            <a:ext cx="3817824" cy="7263874"/>
          </a:xfrm>
          <a:prstGeom prst="rect">
            <a:avLst/>
          </a:prstGeom>
          <a:ln w="12700">
            <a:miter lim="400000"/>
          </a:ln>
        </p:spPr>
      </p:pic>
      <p:sp>
        <p:nvSpPr>
          <p:cNvPr id="578" name="Shape 578"/>
          <p:cNvSpPr txBox="1"/>
          <p:nvPr/>
        </p:nvSpPr>
        <p:spPr>
          <a:xfrm>
            <a:off x="730804" y="6054278"/>
            <a:ext cx="7494685" cy="917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>
                <a:solidFill>
                  <a:schemeClr val="accent2"/>
                </a:solidFill>
              </a:defRPr>
            </a:pPr>
            <a:r>
              <a:t>…and another step-by-step example</a:t>
            </a:r>
            <a:br/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https://mattmazur.com/2015/03/17/a-step-by-step-backpropagation-example/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Shape 5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Units and layers</a:t>
            </a:r>
          </a:p>
        </p:txBody>
      </p:sp>
      <p:sp>
        <p:nvSpPr>
          <p:cNvPr id="581" name="Shape 58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  <p:pic>
        <p:nvPicPr>
          <p:cNvPr id="582" name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10" y="1560951"/>
            <a:ext cx="6921380" cy="48691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Shape 58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See </a:t>
            </a:r>
            <a:r>
              <a:rPr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https://discuss.pytorch.org/t/what-does-the-backward-function-do/9944</a:t>
            </a:r>
            <a:r>
              <a:rPr dirty="0"/>
              <a:t> and </a:t>
            </a:r>
            <a:r>
              <a:rPr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https://medium.com/@zhang_yang/how-pytorch-tensors-backward-accumulates-gradient-8d1bf675579b</a:t>
            </a:r>
            <a:r>
              <a:rPr dirty="0"/>
              <a:t> to understand what backward() does</a:t>
            </a:r>
          </a:p>
          <a:p>
            <a:r>
              <a:rPr dirty="0"/>
              <a:t>And check the blitz tutorial to see how it’s used </a:t>
            </a:r>
            <a:r>
              <a:rPr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https://github.com/uvadlc/uvadlc_practicals_2018/blob/master/pytorch/blitz/neural_networks_tutorial.ipynb</a:t>
            </a:r>
          </a:p>
        </p:txBody>
      </p:sp>
      <p:sp>
        <p:nvSpPr>
          <p:cNvPr id="585" name="Shape 58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Backpropagation in PyTorch</a:t>
            </a:r>
          </a:p>
        </p:txBody>
      </p:sp>
      <p:sp>
        <p:nvSpPr>
          <p:cNvPr id="586" name="Shape 586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19</a:t>
            </a:fld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2928</TotalTime>
  <Words>590</Words>
  <Application>Microsoft Office PowerPoint</Application>
  <PresentationFormat>On-screen Show (4:3)</PresentationFormat>
  <Paragraphs>86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Chalkboard</vt:lpstr>
      <vt:lpstr>Helvetica Neue</vt:lpstr>
      <vt:lpstr>Arial</vt:lpstr>
      <vt:lpstr>Calibri</vt:lpstr>
      <vt:lpstr>Helvetica</vt:lpstr>
      <vt:lpstr>Default</vt:lpstr>
      <vt:lpstr>Deep Learning (CS324)  3. Deep networks &amp; backpropagation* Continued 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Forward &amp; Back algorithm</vt:lpstr>
      <vt:lpstr>Forward propagation in MLPs</vt:lpstr>
      <vt:lpstr>Backpropagation in MLPs</vt:lpstr>
      <vt:lpstr>Backpropagation demo</vt:lpstr>
      <vt:lpstr>Backpropagation demo</vt:lpstr>
      <vt:lpstr>Units and layers</vt:lpstr>
      <vt:lpstr>Backpropagation in PyTorch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(CS324)  3. Deep networks &amp; backpropagation*</dc:title>
  <cp:lastModifiedBy>Jianguo Zhang (Staff)</cp:lastModifiedBy>
  <cp:revision>49</cp:revision>
  <dcterms:modified xsi:type="dcterms:W3CDTF">2020-03-08T11:27:30Z</dcterms:modified>
</cp:coreProperties>
</file>