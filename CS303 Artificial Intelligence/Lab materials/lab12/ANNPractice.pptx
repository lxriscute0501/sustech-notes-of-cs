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tiff" ContentType="image/tiff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56" r:id="rId3"/>
    <p:sldId id="303" r:id="rId4"/>
    <p:sldId id="304" r:id="rId6"/>
    <p:sldId id="305" r:id="rId7"/>
    <p:sldId id="306" r:id="rId8"/>
    <p:sldId id="266" r:id="rId9"/>
    <p:sldId id="307" r:id="rId10"/>
    <p:sldId id="308" r:id="rId11"/>
    <p:sldId id="264" r:id="rId12"/>
    <p:sldId id="265" r:id="rId13"/>
    <p:sldId id="315" r:id="rId14"/>
    <p:sldId id="319" r:id="rId15"/>
    <p:sldId id="287" r:id="rId16"/>
    <p:sldId id="309" r:id="rId17"/>
    <p:sldId id="310" r:id="rId18"/>
    <p:sldId id="311" r:id="rId19"/>
    <p:sldId id="281" r:id="rId20"/>
    <p:sldId id="312" r:id="rId21"/>
    <p:sldId id="320" r:id="rId22"/>
    <p:sldId id="286" r:id="rId23"/>
    <p:sldId id="291" r:id="rId24"/>
    <p:sldId id="322" r:id="rId25"/>
    <p:sldId id="280" r:id="rId26"/>
    <p:sldId id="316" r:id="rId27"/>
    <p:sldId id="297" r:id="rId28"/>
    <p:sldId id="318" r:id="rId29"/>
    <p:sldId id="314" r:id="rId30"/>
    <p:sldId id="279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09"/>
    <p:restoredTop sz="95794" autoAdjust="0"/>
  </p:normalViewPr>
  <p:slideViewPr>
    <p:cSldViewPr snapToGrid="0" snapToObjects="1">
      <p:cViewPr varScale="1">
        <p:scale>
          <a:sx n="109" d="100"/>
          <a:sy n="109" d="100"/>
        </p:scale>
        <p:origin x="6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2AF510-E65D-674D-B4B6-2B048A5CB58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6A8E31-3519-4945-9AC8-58C3931EB09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在生物神经系统中，每个神经元与其他神经元相连，当它“兴奋”时，就会向相连的神经元发送化学物质，从而改变这些神经元内的电位；</a:t>
            </a:r>
            <a:endParaRPr kumimoji="1" lang="en-US" altLang="zh-CN" dirty="0"/>
          </a:p>
          <a:p>
            <a:r>
              <a:rPr kumimoji="1" lang="zh-CN" altLang="en-US" dirty="0"/>
              <a:t>如果某神经元的电位超过一个“阈值”（</a:t>
            </a:r>
            <a:r>
              <a:rPr kumimoji="1" lang="en-US" altLang="zh-CN" dirty="0"/>
              <a:t>threshold</a:t>
            </a:r>
            <a:r>
              <a:rPr kumimoji="1" lang="zh-CN" altLang="en-US" dirty="0"/>
              <a:t>），那么它就会被激活，即“兴奋”起来，向其它神经元发送化学物质。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0CBCD5-E172-2D46-8EB9-EF16672EFA8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在生物神经系统中，每个神经元与其他神经元相连，当它“兴奋”时，就会向相连的神经元发送化学物质，从而改变这些神经元内的电位；</a:t>
            </a:r>
            <a:endParaRPr kumimoji="1" lang="en-US" altLang="zh-CN" dirty="0"/>
          </a:p>
          <a:p>
            <a:r>
              <a:rPr kumimoji="1" lang="zh-CN" altLang="en-US" dirty="0"/>
              <a:t>如果某神经元的电位超过一个“阈值”（</a:t>
            </a:r>
            <a:r>
              <a:rPr kumimoji="1" lang="en-US" altLang="zh-CN" dirty="0"/>
              <a:t>threshold</a:t>
            </a:r>
            <a:r>
              <a:rPr kumimoji="1" lang="zh-CN" altLang="en-US" dirty="0"/>
              <a:t>），那么它就会被激活，即“兴奋”起来，向其它神经元发送化学物质。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0CBCD5-E172-2D46-8EB9-EF16672EFA8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0CBCD5-E172-2D46-8EB9-EF16672EFA8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ECEF49-B87C-EE41-A9A4-43F3DF1ADA9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ECEF49-B87C-EE41-A9A4-43F3DF1ADA9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ECEF49-B87C-EE41-A9A4-43F3DF1ADA9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B38348-5EF2-2E47-AE87-EAA3729B104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B38348-5EF2-2E47-AE87-EAA3729B104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B38348-5EF2-2E47-AE87-EAA3729B104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ECEF49-B87C-EE41-A9A4-43F3DF1ADA9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“</a:t>
            </a:r>
            <a:endParaRPr lang="en-US" sz="9600" b="0" i="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”</a:t>
            </a:r>
            <a:endParaRPr lang="en-US" sz="9600" b="0" i="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8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tiff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tiff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9.tiff"/><Relationship Id="rId7" Type="http://schemas.openxmlformats.org/officeDocument/2006/relationships/image" Target="../media/image18.png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0" Type="http://schemas.openxmlformats.org/officeDocument/2006/relationships/notesSlide" Target="../notesSlides/notesSlide4.xml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1.tiff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hyperlink" Target="http://yann.lecun.com/exdb/lenet/" TargetMode="External"/><Relationship Id="rId2" Type="http://schemas.openxmlformats.org/officeDocument/2006/relationships/image" Target="../media/image23.tiff"/><Relationship Id="rId1" Type="http://schemas.openxmlformats.org/officeDocument/2006/relationships/image" Target="../media/image22.GI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9.tiff"/><Relationship Id="rId5" Type="http://schemas.openxmlformats.org/officeDocument/2006/relationships/image" Target="../media/image28.tiff"/><Relationship Id="rId4" Type="http://schemas.openxmlformats.org/officeDocument/2006/relationships/image" Target="../media/image27.tiff"/><Relationship Id="rId3" Type="http://schemas.openxmlformats.org/officeDocument/2006/relationships/image" Target="../media/image26.tiff"/><Relationship Id="rId2" Type="http://schemas.openxmlformats.org/officeDocument/2006/relationships/image" Target="../media/image25.tiff"/><Relationship Id="rId1" Type="http://schemas.openxmlformats.org/officeDocument/2006/relationships/image" Target="../media/image24.tif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1" Type="http://schemas.openxmlformats.org/officeDocument/2006/relationships/image" Target="../media/image30.tif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9.tiff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3.png"/><Relationship Id="rId2" Type="http://schemas.openxmlformats.org/officeDocument/2006/relationships/image" Target="../media/image19.tiff"/><Relationship Id="rId1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5.png"/><Relationship Id="rId2" Type="http://schemas.openxmlformats.org/officeDocument/2006/relationships/image" Target="../media/image19.tiff"/><Relationship Id="rId1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7.png"/><Relationship Id="rId2" Type="http://schemas.openxmlformats.org/officeDocument/2006/relationships/image" Target="../media/image19.tiff"/><Relationship Id="rId1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30.tif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9.tiff"/><Relationship Id="rId7" Type="http://schemas.openxmlformats.org/officeDocument/2006/relationships/image" Target="../media/image18.png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0" Type="http://schemas.openxmlformats.org/officeDocument/2006/relationships/notesSlide" Target="../notesSlides/notesSlide10.xml"/><Relationship Id="rId1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png"/><Relationship Id="rId8" Type="http://schemas.openxmlformats.org/officeDocument/2006/relationships/image" Target="../media/image16.png"/><Relationship Id="rId7" Type="http://schemas.openxmlformats.org/officeDocument/2006/relationships/image" Target="../media/image15.png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9.tiff"/><Relationship Id="rId2" Type="http://schemas.openxmlformats.org/officeDocument/2006/relationships/image" Target="../media/image46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8.png"/><Relationship Id="rId1" Type="http://schemas.openxmlformats.org/officeDocument/2006/relationships/image" Target="../media/image45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png"/><Relationship Id="rId8" Type="http://schemas.openxmlformats.org/officeDocument/2006/relationships/image" Target="../media/image16.png"/><Relationship Id="rId7" Type="http://schemas.openxmlformats.org/officeDocument/2006/relationships/image" Target="../media/image15.png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8.png"/><Relationship Id="rId1" Type="http://schemas.openxmlformats.org/officeDocument/2006/relationships/image" Target="../media/image45.pn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png"/><Relationship Id="rId8" Type="http://schemas.openxmlformats.org/officeDocument/2006/relationships/image" Target="../media/image16.png"/><Relationship Id="rId7" Type="http://schemas.openxmlformats.org/officeDocument/2006/relationships/image" Target="../media/image15.png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9.tiff"/><Relationship Id="rId2" Type="http://schemas.openxmlformats.org/officeDocument/2006/relationships/image" Target="../media/image49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8.png"/><Relationship Id="rId1" Type="http://schemas.openxmlformats.org/officeDocument/2006/relationships/image" Target="../media/image48.pn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png"/><Relationship Id="rId8" Type="http://schemas.openxmlformats.org/officeDocument/2006/relationships/image" Target="../media/image16.png"/><Relationship Id="rId7" Type="http://schemas.openxmlformats.org/officeDocument/2006/relationships/image" Target="../media/image15.png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8.png"/><Relationship Id="rId1" Type="http://schemas.openxmlformats.org/officeDocument/2006/relationships/image" Target="../media/image48.pn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png"/><Relationship Id="rId8" Type="http://schemas.openxmlformats.org/officeDocument/2006/relationships/image" Target="../media/image16.png"/><Relationship Id="rId7" Type="http://schemas.openxmlformats.org/officeDocument/2006/relationships/image" Target="../media/image15.png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9.tiff"/><Relationship Id="rId2" Type="http://schemas.openxmlformats.org/officeDocument/2006/relationships/image" Target="../media/image52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8.png"/><Relationship Id="rId1" Type="http://schemas.openxmlformats.org/officeDocument/2006/relationships/image" Target="../media/image5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00725" y="1390050"/>
            <a:ext cx="9790549" cy="2677648"/>
          </a:xfrm>
        </p:spPr>
        <p:txBody>
          <a:bodyPr/>
          <a:lstStyle/>
          <a:p>
            <a:r>
              <a:rPr kumimoji="1" lang="en-US" altLang="zh-CN" sz="4000" dirty="0"/>
              <a:t>ANN</a:t>
            </a:r>
            <a:r>
              <a:rPr kumimoji="1" lang="zh-CN" altLang="en-US" sz="4000" dirty="0"/>
              <a:t> </a:t>
            </a:r>
            <a:r>
              <a:rPr kumimoji="1" lang="en-US" altLang="zh-CN" sz="4000" dirty="0"/>
              <a:t>and</a:t>
            </a:r>
            <a:r>
              <a:rPr kumimoji="1" lang="zh-CN" altLang="en-US" sz="4000" dirty="0"/>
              <a:t> </a:t>
            </a:r>
            <a:r>
              <a:rPr kumimoji="1" lang="en-US" altLang="zh-CN" sz="4000" dirty="0"/>
              <a:t>H</a:t>
            </a:r>
            <a:r>
              <a:rPr kumimoji="1" lang="en-US" sz="4000" dirty="0"/>
              <a:t>andwritten Character Recognition</a:t>
            </a:r>
            <a:endParaRPr kumimoji="1" lang="zh-CN" altLang="en-US" sz="40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en-US" altLang="zh-CN" dirty="0"/>
          </a:p>
          <a:p>
            <a:endParaRPr kumimoji="1"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200" dirty="0">
                <a:solidFill>
                  <a:schemeClr val="bg1"/>
                </a:solidFill>
              </a:rPr>
              <a:t>ANN</a:t>
            </a:r>
            <a:endParaRPr kumimoji="1"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75954" y="2307316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en-US" altLang="en-US" sz="2000" dirty="0"/>
              <a:t>The study of artificial neural networks was inspired by attempts to simulate biological neural systems</a:t>
            </a:r>
            <a:r>
              <a:rPr lang="zh-CN" altLang="en-US" sz="2000" dirty="0"/>
              <a:t> </a:t>
            </a:r>
            <a:r>
              <a:rPr lang="en-US" altLang="zh-CN" sz="2000" dirty="0"/>
              <a:t>(e. g.</a:t>
            </a:r>
            <a:r>
              <a:rPr lang="zh-CN" altLang="en-US" sz="2000" dirty="0"/>
              <a:t> </a:t>
            </a:r>
            <a:r>
              <a:rPr lang="en-US" altLang="zh-CN" sz="2000" dirty="0"/>
              <a:t>human</a:t>
            </a:r>
            <a:r>
              <a:rPr lang="zh-CN" altLang="en-US" sz="2000" dirty="0"/>
              <a:t> </a:t>
            </a:r>
            <a:r>
              <a:rPr lang="en-US" altLang="zh-CN" sz="2000" dirty="0"/>
              <a:t>brain)</a:t>
            </a:r>
            <a:r>
              <a:rPr lang="en-US" altLang="en-US" sz="2000" dirty="0"/>
              <a:t>.</a:t>
            </a:r>
            <a:endParaRPr lang="en-US" altLang="en-US" sz="2000" dirty="0"/>
          </a:p>
          <a:p>
            <a:pPr algn="just"/>
            <a:r>
              <a:rPr lang="en-US" altLang="zh-CN" sz="2000" dirty="0"/>
              <a:t>Basic</a:t>
            </a:r>
            <a:r>
              <a:rPr lang="zh-CN" altLang="en-US" sz="2000" dirty="0"/>
              <a:t> </a:t>
            </a:r>
            <a:r>
              <a:rPr lang="en-US" altLang="zh-CN" sz="2000" dirty="0"/>
              <a:t>structural</a:t>
            </a:r>
            <a:r>
              <a:rPr lang="zh-CN" altLang="en-US" sz="2000" dirty="0"/>
              <a:t> </a:t>
            </a:r>
            <a:r>
              <a:rPr lang="en-US" altLang="zh-CN" sz="2000" dirty="0"/>
              <a:t>and</a:t>
            </a:r>
            <a:r>
              <a:rPr lang="zh-CN" altLang="en-US" sz="2000" dirty="0"/>
              <a:t> </a:t>
            </a:r>
            <a:r>
              <a:rPr lang="en-US" altLang="zh-CN" sz="2000" dirty="0"/>
              <a:t>functional</a:t>
            </a:r>
            <a:r>
              <a:rPr lang="zh-CN" altLang="en-US" sz="2000" dirty="0"/>
              <a:t> </a:t>
            </a:r>
            <a:r>
              <a:rPr lang="en-US" altLang="zh-CN" sz="2000" dirty="0"/>
              <a:t>unit:</a:t>
            </a:r>
            <a:r>
              <a:rPr lang="zh-CN" altLang="en-US" sz="2000" dirty="0"/>
              <a:t> </a:t>
            </a:r>
            <a:r>
              <a:rPr lang="en-US" altLang="zh-CN" sz="2000" dirty="0">
                <a:solidFill>
                  <a:srgbClr val="0432FF"/>
                </a:solidFill>
              </a:rPr>
              <a:t>nerve</a:t>
            </a:r>
            <a:r>
              <a:rPr lang="zh-CN" altLang="en-US" sz="2000" dirty="0">
                <a:solidFill>
                  <a:srgbClr val="0432FF"/>
                </a:solidFill>
              </a:rPr>
              <a:t> </a:t>
            </a:r>
            <a:r>
              <a:rPr lang="en-US" altLang="zh-CN" sz="2000" dirty="0">
                <a:solidFill>
                  <a:srgbClr val="0432FF"/>
                </a:solidFill>
              </a:rPr>
              <a:t>cells</a:t>
            </a:r>
            <a:r>
              <a:rPr lang="zh-CN" altLang="en-US" sz="2000" dirty="0">
                <a:solidFill>
                  <a:srgbClr val="0432FF"/>
                </a:solidFill>
              </a:rPr>
              <a:t> </a:t>
            </a:r>
            <a:r>
              <a:rPr lang="en-US" altLang="zh-CN" sz="2000" dirty="0">
                <a:solidFill>
                  <a:srgbClr val="0432FF"/>
                </a:solidFill>
              </a:rPr>
              <a:t>called</a:t>
            </a:r>
            <a:r>
              <a:rPr lang="zh-CN" altLang="en-US" sz="2000" dirty="0">
                <a:solidFill>
                  <a:srgbClr val="0432FF"/>
                </a:solidFill>
              </a:rPr>
              <a:t> </a:t>
            </a:r>
            <a:r>
              <a:rPr lang="en-US" altLang="zh-CN" sz="2000" dirty="0">
                <a:solidFill>
                  <a:srgbClr val="0432FF"/>
                </a:solidFill>
              </a:rPr>
              <a:t>neurons</a:t>
            </a:r>
            <a:endParaRPr lang="en-US" altLang="zh-CN" sz="2000" dirty="0">
              <a:solidFill>
                <a:srgbClr val="0432FF"/>
              </a:solidFill>
            </a:endParaRPr>
          </a:p>
          <a:p>
            <a:pPr algn="just"/>
            <a:r>
              <a:rPr lang="en-US" altLang="zh-CN" sz="2000" dirty="0"/>
              <a:t>Work</a:t>
            </a:r>
            <a:r>
              <a:rPr lang="zh-CN" altLang="en-US" sz="2000" dirty="0"/>
              <a:t> </a:t>
            </a:r>
            <a:r>
              <a:rPr lang="en-US" altLang="zh-CN" sz="2000" dirty="0"/>
              <a:t>Mechanism</a:t>
            </a:r>
            <a:endParaRPr lang="en-US" altLang="zh-CN" sz="2000" dirty="0"/>
          </a:p>
          <a:p>
            <a:pPr lvl="1" algn="just"/>
            <a:r>
              <a:rPr lang="en-US" altLang="zh-CN" sz="1800" dirty="0"/>
              <a:t>Different</a:t>
            </a:r>
            <a:r>
              <a:rPr lang="zh-CN" altLang="en-US" sz="1800" dirty="0"/>
              <a:t> </a:t>
            </a:r>
            <a:r>
              <a:rPr lang="en-US" altLang="zh-CN" sz="1800" dirty="0"/>
              <a:t>neurons</a:t>
            </a:r>
            <a:r>
              <a:rPr lang="zh-CN" altLang="en-US" sz="1800" dirty="0"/>
              <a:t> </a:t>
            </a:r>
            <a:r>
              <a:rPr lang="en-US" altLang="zh-CN" sz="1800" dirty="0"/>
              <a:t>are</a:t>
            </a:r>
            <a:r>
              <a:rPr lang="zh-CN" altLang="en-US" sz="1800" dirty="0"/>
              <a:t> </a:t>
            </a:r>
            <a:r>
              <a:rPr lang="en-US" altLang="zh-CN" sz="1800" dirty="0"/>
              <a:t>linked</a:t>
            </a:r>
            <a:r>
              <a:rPr lang="zh-CN" altLang="en-US" sz="1800" dirty="0"/>
              <a:t> </a:t>
            </a:r>
            <a:r>
              <a:rPr lang="en-US" altLang="zh-CN" sz="1800" dirty="0"/>
              <a:t>together</a:t>
            </a:r>
            <a:r>
              <a:rPr lang="zh-CN" altLang="en-US" sz="1800" dirty="0"/>
              <a:t> </a:t>
            </a:r>
            <a:r>
              <a:rPr lang="en-US" altLang="zh-CN" sz="1800" dirty="0"/>
              <a:t>via</a:t>
            </a:r>
            <a:r>
              <a:rPr lang="zh-CN" altLang="en-US" sz="1800" dirty="0"/>
              <a:t> </a:t>
            </a:r>
            <a:r>
              <a:rPr lang="en-US" altLang="zh-CN" sz="1800" dirty="0"/>
              <a:t>axons</a:t>
            </a:r>
            <a:r>
              <a:rPr lang="zh-CN" altLang="en-US" sz="1800" dirty="0"/>
              <a:t> </a:t>
            </a:r>
            <a:r>
              <a:rPr lang="en-US" altLang="zh-CN" sz="1800" dirty="0"/>
              <a:t>(</a:t>
            </a:r>
            <a:r>
              <a:rPr lang="zh-CN" altLang="en-US" sz="1800" dirty="0"/>
              <a:t>轴突</a:t>
            </a:r>
            <a:r>
              <a:rPr lang="en-US" altLang="zh-CN" sz="1800" dirty="0"/>
              <a:t>)</a:t>
            </a:r>
            <a:r>
              <a:rPr lang="zh-CN" altLang="en-US" sz="1800" dirty="0"/>
              <a:t> </a:t>
            </a:r>
            <a:r>
              <a:rPr lang="en-US" altLang="zh-CN" sz="1800" dirty="0"/>
              <a:t>and</a:t>
            </a:r>
            <a:r>
              <a:rPr lang="zh-CN" altLang="en-US" sz="1800" dirty="0"/>
              <a:t> </a:t>
            </a:r>
            <a:r>
              <a:rPr lang="en-US" altLang="en-US" sz="1800" dirty="0"/>
              <a:t>dendrite</a:t>
            </a:r>
            <a:r>
              <a:rPr lang="zh-CN" altLang="en-US" sz="1800" dirty="0"/>
              <a:t> </a:t>
            </a:r>
            <a:r>
              <a:rPr lang="en-US" altLang="zh-CN" sz="1800" dirty="0"/>
              <a:t>(</a:t>
            </a:r>
            <a:r>
              <a:rPr lang="zh-CN" altLang="en-US" sz="1800" dirty="0"/>
              <a:t>树突</a:t>
            </a:r>
            <a:r>
              <a:rPr lang="en-US" altLang="zh-CN" sz="1800" dirty="0"/>
              <a:t>)</a:t>
            </a:r>
            <a:endParaRPr lang="en-US" altLang="zh-CN" sz="1800" dirty="0"/>
          </a:p>
          <a:p>
            <a:pPr lvl="1" algn="just"/>
            <a:r>
              <a:rPr lang="en-US" altLang="zh-CN" sz="1800" dirty="0"/>
              <a:t>When</a:t>
            </a:r>
            <a:r>
              <a:rPr lang="zh-CN" altLang="en-US" sz="1800" dirty="0"/>
              <a:t> </a:t>
            </a:r>
            <a:r>
              <a:rPr lang="en-US" altLang="zh-CN" sz="1800" dirty="0"/>
              <a:t>one</a:t>
            </a:r>
            <a:r>
              <a:rPr lang="zh-CN" altLang="en-US" sz="1800" dirty="0"/>
              <a:t> </a:t>
            </a:r>
            <a:r>
              <a:rPr lang="en-US" altLang="zh-CN" sz="1800" dirty="0"/>
              <a:t>neuron</a:t>
            </a:r>
            <a:r>
              <a:rPr lang="zh-CN" altLang="en-US" sz="1800" dirty="0"/>
              <a:t> </a:t>
            </a:r>
            <a:r>
              <a:rPr lang="en-US" altLang="zh-CN" sz="1800" dirty="0"/>
              <a:t>is</a:t>
            </a:r>
            <a:r>
              <a:rPr lang="zh-CN" altLang="en-US" sz="1800" dirty="0"/>
              <a:t> </a:t>
            </a:r>
            <a:r>
              <a:rPr lang="en-US" altLang="zh-CN" sz="1800" dirty="0"/>
              <a:t>excited</a:t>
            </a:r>
            <a:r>
              <a:rPr lang="zh-CN" altLang="en-US" sz="1800" dirty="0"/>
              <a:t> </a:t>
            </a:r>
            <a:r>
              <a:rPr lang="en-US" altLang="zh-CN" sz="1800" dirty="0"/>
              <a:t>after</a:t>
            </a:r>
            <a:r>
              <a:rPr lang="zh-CN" altLang="en-US" sz="1800" dirty="0"/>
              <a:t> </a:t>
            </a:r>
            <a:r>
              <a:rPr lang="en-US" altLang="zh-CN" sz="1800" dirty="0"/>
              <a:t>stimulation,</a:t>
            </a:r>
            <a:r>
              <a:rPr lang="zh-CN" altLang="en-US" sz="1800" dirty="0"/>
              <a:t> </a:t>
            </a:r>
            <a:r>
              <a:rPr lang="en-US" altLang="zh-CN" sz="1800" dirty="0"/>
              <a:t>it</a:t>
            </a:r>
            <a:r>
              <a:rPr lang="zh-CN" altLang="en-US" sz="1800" dirty="0"/>
              <a:t> </a:t>
            </a:r>
            <a:r>
              <a:rPr lang="en-US" altLang="zh-CN" sz="1800" dirty="0"/>
              <a:t>sends</a:t>
            </a:r>
            <a:r>
              <a:rPr lang="zh-CN" altLang="en-US" sz="1800" dirty="0"/>
              <a:t> </a:t>
            </a:r>
            <a:r>
              <a:rPr lang="en-US" altLang="zh-CN" sz="1800" dirty="0"/>
              <a:t>chemicals to the connected neurons, thereby changing the potential</a:t>
            </a:r>
            <a:r>
              <a:rPr lang="zh-CN" altLang="en-US" sz="1800" dirty="0"/>
              <a:t> </a:t>
            </a:r>
            <a:r>
              <a:rPr lang="en-US" altLang="zh-CN" sz="1800" dirty="0"/>
              <a:t>(</a:t>
            </a:r>
            <a:r>
              <a:rPr lang="zh-CN" altLang="en-US" sz="1800" dirty="0"/>
              <a:t>电位</a:t>
            </a:r>
            <a:r>
              <a:rPr lang="en-US" altLang="zh-CN" sz="1800" dirty="0"/>
              <a:t>) within these neurons.</a:t>
            </a:r>
            <a:endParaRPr lang="en-US" altLang="zh-CN" sz="1800" dirty="0"/>
          </a:p>
          <a:p>
            <a:pPr lvl="1" algn="just"/>
            <a:r>
              <a:rPr lang="en-US" altLang="zh-CN" sz="1800" dirty="0"/>
              <a:t>If the potential (</a:t>
            </a:r>
            <a:r>
              <a:rPr lang="zh-CN" altLang="en-US" sz="1800" dirty="0"/>
              <a:t>电位</a:t>
            </a:r>
            <a:r>
              <a:rPr lang="en-US" altLang="zh-CN" sz="1800" dirty="0"/>
              <a:t>) of a neuron exceeds </a:t>
            </a:r>
            <a:r>
              <a:rPr lang="zh-CN" altLang="en-US" sz="1800" dirty="0"/>
              <a:t> </a:t>
            </a:r>
            <a:r>
              <a:rPr lang="en-US" altLang="zh-CN" sz="1800" dirty="0"/>
              <a:t>a</a:t>
            </a:r>
            <a:r>
              <a:rPr lang="zh-CN" altLang="en-US" sz="1800" dirty="0"/>
              <a:t> </a:t>
            </a:r>
            <a:r>
              <a:rPr lang="en-US" altLang="zh-CN" sz="1800" dirty="0"/>
              <a:t>“threshold”,</a:t>
            </a:r>
            <a:r>
              <a:rPr lang="zh-CN" altLang="en-US" sz="1800" dirty="0"/>
              <a:t> </a:t>
            </a:r>
            <a:r>
              <a:rPr lang="en-US" altLang="zh-CN" sz="1800" dirty="0"/>
              <a:t>then it is activated</a:t>
            </a:r>
            <a:r>
              <a:rPr lang="zh-CN" altLang="en-US" sz="1800" dirty="0"/>
              <a:t> </a:t>
            </a:r>
            <a:r>
              <a:rPr lang="en-US" altLang="zh-CN" sz="1800" dirty="0"/>
              <a:t>and</a:t>
            </a:r>
            <a:r>
              <a:rPr lang="zh-CN" altLang="en-US" sz="1800" dirty="0"/>
              <a:t> </a:t>
            </a:r>
            <a:r>
              <a:rPr lang="en-US" altLang="zh-CN" sz="1800" dirty="0"/>
              <a:t>send</a:t>
            </a:r>
            <a:r>
              <a:rPr lang="zh-CN" altLang="en-US" sz="1800" dirty="0"/>
              <a:t> </a:t>
            </a:r>
            <a:r>
              <a:rPr lang="en-US" altLang="zh-CN" sz="1800" dirty="0"/>
              <a:t>chemicals</a:t>
            </a:r>
            <a:r>
              <a:rPr lang="zh-CN" altLang="en-US" sz="1800" dirty="0"/>
              <a:t> </a:t>
            </a:r>
            <a:r>
              <a:rPr lang="en-US" altLang="zh-CN" sz="1800" dirty="0"/>
              <a:t>to</a:t>
            </a:r>
            <a:r>
              <a:rPr lang="zh-CN" altLang="en-US" sz="1800" dirty="0"/>
              <a:t> </a:t>
            </a:r>
            <a:r>
              <a:rPr lang="en-US" altLang="zh-CN" sz="1800" dirty="0"/>
              <a:t>other</a:t>
            </a:r>
            <a:r>
              <a:rPr lang="zh-CN" altLang="en-US" sz="1800" dirty="0"/>
              <a:t> </a:t>
            </a:r>
            <a:r>
              <a:rPr lang="en-US" altLang="zh-CN" sz="1800" dirty="0"/>
              <a:t>neurons.</a:t>
            </a:r>
            <a:r>
              <a:rPr lang="zh-CN" altLang="en-US" sz="1800" dirty="0"/>
              <a:t> </a:t>
            </a:r>
            <a:endParaRPr lang="en-US" altLang="en-US" sz="2000" dirty="0"/>
          </a:p>
          <a:p>
            <a:pPr algn="just"/>
            <a:endParaRPr lang="en-GB" altLang="zh-CN" sz="20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26971" y="5347168"/>
            <a:ext cx="2363635" cy="1510832"/>
          </a:xfrm>
          <a:prstGeom prst="rect">
            <a:avLst/>
          </a:prstGeom>
        </p:spPr>
      </p:pic>
      <p:pic>
        <p:nvPicPr>
          <p:cNvPr id="8" name="Picture 2" descr="“neurons”的图片搜索结果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2521" y="5401485"/>
            <a:ext cx="2258864" cy="1456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200" dirty="0">
                <a:solidFill>
                  <a:schemeClr val="bg1"/>
                </a:solidFill>
              </a:rPr>
              <a:t>ANN</a:t>
            </a:r>
            <a:endParaRPr kumimoji="1"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2236164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en-US" sz="2000" dirty="0"/>
              <a:t>A neuron is connected to the axons</a:t>
            </a:r>
            <a:r>
              <a:rPr lang="zh-CN" altLang="en-US" sz="2000" dirty="0"/>
              <a:t> </a:t>
            </a:r>
            <a:r>
              <a:rPr lang="en-US" altLang="zh-CN" sz="2000" dirty="0"/>
              <a:t>(</a:t>
            </a:r>
            <a:r>
              <a:rPr lang="zh-CN" altLang="en-US" sz="2000" dirty="0"/>
              <a:t>轴突</a:t>
            </a:r>
            <a:r>
              <a:rPr lang="en-US" altLang="zh-CN" sz="2000" dirty="0"/>
              <a:t>)</a:t>
            </a:r>
            <a:r>
              <a:rPr lang="en-US" altLang="en-US" sz="2000" dirty="0"/>
              <a:t> of other neurons via dendrites</a:t>
            </a:r>
            <a:r>
              <a:rPr lang="zh-CN" altLang="en-US" sz="2000" dirty="0"/>
              <a:t> </a:t>
            </a:r>
            <a:r>
              <a:rPr lang="en-US" altLang="zh-CN" sz="2000" dirty="0"/>
              <a:t>(</a:t>
            </a:r>
            <a:r>
              <a:rPr lang="zh-CN" altLang="en-US" sz="2000" dirty="0"/>
              <a:t>树突</a:t>
            </a:r>
            <a:r>
              <a:rPr lang="en-US" altLang="zh-CN" sz="2000" dirty="0"/>
              <a:t>)</a:t>
            </a:r>
            <a:r>
              <a:rPr lang="en-US" altLang="en-US" sz="2000" dirty="0"/>
              <a:t>, which are extensions from the cell body of the neuron.</a:t>
            </a:r>
            <a:endParaRPr lang="en-US" altLang="en-US" sz="2000" dirty="0"/>
          </a:p>
          <a:p>
            <a:r>
              <a:rPr lang="en-US" altLang="en-US" sz="2000" dirty="0"/>
              <a:t>The contact point between a dendrite</a:t>
            </a:r>
            <a:r>
              <a:rPr lang="zh-CN" altLang="en-US" sz="2000" dirty="0"/>
              <a:t> </a:t>
            </a:r>
            <a:r>
              <a:rPr lang="en-US" altLang="zh-CN" sz="2000" dirty="0"/>
              <a:t>(</a:t>
            </a:r>
            <a:r>
              <a:rPr lang="zh-CN" altLang="en-US" sz="2000" dirty="0"/>
              <a:t>树突</a:t>
            </a:r>
            <a:r>
              <a:rPr lang="en-US" altLang="zh-CN" sz="2000" dirty="0"/>
              <a:t>)</a:t>
            </a:r>
            <a:r>
              <a:rPr lang="en-US" altLang="en-US" sz="2000" dirty="0"/>
              <a:t> and an axon</a:t>
            </a:r>
            <a:r>
              <a:rPr lang="zh-CN" altLang="en-US" sz="2000" dirty="0"/>
              <a:t> </a:t>
            </a:r>
            <a:r>
              <a:rPr lang="en-US" altLang="zh-CN" sz="2000" dirty="0"/>
              <a:t>(</a:t>
            </a:r>
            <a:r>
              <a:rPr lang="zh-CN" altLang="en-US" sz="2000" dirty="0"/>
              <a:t>轴突</a:t>
            </a:r>
            <a:r>
              <a:rPr lang="en-US" altLang="zh-CN" sz="2000" dirty="0"/>
              <a:t>)</a:t>
            </a:r>
            <a:r>
              <a:rPr lang="en-US" altLang="en-US" sz="2000" dirty="0"/>
              <a:t> is called a synapse</a:t>
            </a:r>
            <a:r>
              <a:rPr lang="zh-CN" altLang="en-US" sz="2000" dirty="0"/>
              <a:t> </a:t>
            </a:r>
            <a:r>
              <a:rPr lang="en-US" altLang="zh-CN" sz="2000" dirty="0"/>
              <a:t>(</a:t>
            </a:r>
            <a:r>
              <a:rPr lang="zh-CN" altLang="en-US" sz="2000" dirty="0"/>
              <a:t>突触</a:t>
            </a:r>
            <a:r>
              <a:rPr lang="en-US" altLang="zh-CN" sz="2000" dirty="0"/>
              <a:t>)</a:t>
            </a:r>
            <a:r>
              <a:rPr lang="en-US" altLang="en-US" sz="2000" dirty="0"/>
              <a:t>.</a:t>
            </a:r>
            <a:endParaRPr lang="en-US" altLang="en-US" sz="2000" dirty="0"/>
          </a:p>
          <a:p>
            <a:r>
              <a:rPr lang="en-US" altLang="en-US" sz="2000" dirty="0"/>
              <a:t>The human brain learns by changing the strength of the synaptic connection between neurons upon repeated stimulation by the same impulse.</a:t>
            </a:r>
            <a:endParaRPr lang="en-US" altLang="en-US" sz="2000" dirty="0"/>
          </a:p>
          <a:p>
            <a:pPr algn="just"/>
            <a:endParaRPr lang="en-GB" altLang="zh-CN" sz="2000" dirty="0"/>
          </a:p>
        </p:txBody>
      </p:sp>
      <p:pic>
        <p:nvPicPr>
          <p:cNvPr id="4" name="Picture 2" descr="“neurons”的图片搜索结果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7915" y="4411833"/>
            <a:ext cx="3367887" cy="2171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663" y="4411833"/>
            <a:ext cx="3080507" cy="19690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200" dirty="0">
                <a:solidFill>
                  <a:schemeClr val="bg1"/>
                </a:solidFill>
              </a:rPr>
              <a:t>Artificial</a:t>
            </a:r>
            <a:r>
              <a:rPr kumimoji="1" lang="zh-CN" altLang="en-US" sz="3200" dirty="0">
                <a:solidFill>
                  <a:schemeClr val="bg1"/>
                </a:solidFill>
              </a:rPr>
              <a:t> </a:t>
            </a:r>
            <a:r>
              <a:rPr kumimoji="1" lang="en-US" altLang="zh-CN" sz="3200" dirty="0">
                <a:solidFill>
                  <a:schemeClr val="bg1"/>
                </a:solidFill>
              </a:rPr>
              <a:t>Neuron</a:t>
            </a:r>
            <a:r>
              <a:rPr kumimoji="1" lang="zh-CN" altLang="en-US" sz="3200" dirty="0">
                <a:solidFill>
                  <a:schemeClr val="bg1"/>
                </a:solidFill>
              </a:rPr>
              <a:t> </a:t>
            </a:r>
            <a:r>
              <a:rPr kumimoji="1" lang="en-US" altLang="zh-CN" sz="3200" dirty="0">
                <a:solidFill>
                  <a:schemeClr val="bg1"/>
                </a:solidFill>
              </a:rPr>
              <a:t>Mathematical</a:t>
            </a:r>
            <a:r>
              <a:rPr kumimoji="1" lang="zh-CN" altLang="en-US" sz="3200" dirty="0">
                <a:solidFill>
                  <a:schemeClr val="bg1"/>
                </a:solidFill>
              </a:rPr>
              <a:t> </a:t>
            </a:r>
            <a:r>
              <a:rPr kumimoji="1" lang="en-US" altLang="zh-CN" sz="3200" dirty="0">
                <a:solidFill>
                  <a:schemeClr val="bg1"/>
                </a:solidFill>
              </a:rPr>
              <a:t>Model</a:t>
            </a:r>
            <a:endParaRPr kumimoji="1" lang="zh-CN" altLang="en-US" sz="32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endParaRPr lang="en-US" altLang="zh-CN" sz="2000" dirty="0"/>
              </a:p>
              <a:p>
                <a:pPr algn="just"/>
                <a:r>
                  <a:rPr lang="en-US" altLang="zh-CN" sz="2400" dirty="0"/>
                  <a:t>Input:</a:t>
                </a:r>
                <a:r>
                  <a:rPr lang="zh-CN" alt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400" dirty="0"/>
                  <a:t> </a:t>
                </a:r>
                <a:r>
                  <a:rPr lang="en-US" altLang="zh-CN" sz="2400" dirty="0"/>
                  <a:t>from</a:t>
                </a:r>
                <a:r>
                  <a:rPr lang="zh-CN" altLang="en-US" sz="2400" dirty="0"/>
                  <a:t> </a:t>
                </a:r>
                <a:r>
                  <a:rPr lang="en-US" altLang="zh-CN" sz="2400" dirty="0"/>
                  <a:t>the</a:t>
                </a:r>
                <a:r>
                  <a:rPr lang="zh-CN" altLang="en-US" sz="2400" dirty="0"/>
                  <a:t> </a:t>
                </a:r>
                <a:r>
                  <a:rPr lang="en-US" altLang="zh-CN" sz="2400" dirty="0" err="1"/>
                  <a:t>i-th</a:t>
                </a:r>
                <a:r>
                  <a:rPr lang="zh-CN" altLang="en-US" sz="2400" dirty="0"/>
                  <a:t> </a:t>
                </a:r>
                <a:r>
                  <a:rPr lang="en-US" altLang="zh-CN" sz="2400" dirty="0"/>
                  <a:t>neuron</a:t>
                </a:r>
                <a:endParaRPr lang="en-US" altLang="zh-CN" sz="2400" dirty="0"/>
              </a:p>
              <a:p>
                <a:pPr algn="just"/>
                <a:endParaRPr lang="en-US" altLang="zh-CN" sz="2400" dirty="0"/>
              </a:p>
              <a:p>
                <a:pPr algn="just"/>
                <a:r>
                  <a:rPr lang="en-US" altLang="zh-CN" sz="2400" dirty="0"/>
                  <a:t>Weights:</a:t>
                </a:r>
                <a:r>
                  <a:rPr lang="zh-CN" altLang="en-US" sz="2400" dirty="0"/>
                  <a:t> </a:t>
                </a:r>
                <a:r>
                  <a:rPr lang="en-US" altLang="zh-CN" sz="2400" dirty="0"/>
                  <a:t>connection</a:t>
                </a:r>
                <a:r>
                  <a:rPr lang="zh-CN" altLang="en-US" sz="2400" dirty="0"/>
                  <a:t> </a:t>
                </a:r>
                <a:r>
                  <a:rPr lang="en-US" altLang="zh-CN" sz="2400" dirty="0"/>
                  <a:t>weights</a:t>
                </a:r>
                <a:r>
                  <a:rPr lang="zh-CN" altLang="en-US" sz="2400" dirty="0"/>
                  <a:t> </a:t>
                </a:r>
                <a:r>
                  <a:rPr lang="en-US" altLang="zh-CN" sz="2400" dirty="0"/>
                  <a:t>(synapse)</a:t>
                </a:r>
                <a:endParaRPr lang="en-US" altLang="zh-CN" sz="2400" dirty="0"/>
              </a:p>
              <a:p>
                <a:pPr algn="just"/>
                <a:endParaRPr lang="en-US" altLang="zh-CN" sz="2400" dirty="0"/>
              </a:p>
              <a:p>
                <a:pPr algn="just"/>
                <a:r>
                  <a:rPr lang="en-US" altLang="zh-CN" sz="2400" dirty="0"/>
                  <a:t>Output:</a:t>
                </a:r>
                <a:r>
                  <a:rPr lang="zh-CN" alt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GB" altLang="zh-CN" sz="2400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l="-6" r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6828" y="3289110"/>
            <a:ext cx="4116779" cy="1948609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0532740" y="4900246"/>
            <a:ext cx="254369" cy="1616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10523892" y="4879916"/>
                <a:ext cx="171201" cy="1995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zh-CN" sz="1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kumimoji="1" lang="zh-CN" altLang="en-US" sz="1200" dirty="0"/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3892" y="4879916"/>
                <a:ext cx="171201" cy="199542"/>
              </a:xfrm>
              <a:prstGeom prst="rect">
                <a:avLst/>
              </a:prstGeom>
              <a:blipFill rotWithShape="1">
                <a:blip r:embed="rId3"/>
                <a:stretch>
                  <a:fillRect l="-22" t="-289" r="-35360" b="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200" dirty="0">
                <a:solidFill>
                  <a:schemeClr val="bg1"/>
                </a:solidFill>
              </a:rPr>
              <a:t>Artificial</a:t>
            </a:r>
            <a:r>
              <a:rPr kumimoji="1" lang="zh-CN" altLang="en-US" sz="3200" dirty="0">
                <a:solidFill>
                  <a:schemeClr val="bg1"/>
                </a:solidFill>
              </a:rPr>
              <a:t> </a:t>
            </a:r>
            <a:r>
              <a:rPr kumimoji="1" lang="en-US" altLang="zh-CN" sz="3200" dirty="0">
                <a:solidFill>
                  <a:schemeClr val="bg1"/>
                </a:solidFill>
              </a:rPr>
              <a:t>Neuron</a:t>
            </a:r>
            <a:r>
              <a:rPr kumimoji="1" lang="zh-CN" altLang="en-US" sz="3200" dirty="0">
                <a:solidFill>
                  <a:schemeClr val="bg1"/>
                </a:solidFill>
              </a:rPr>
              <a:t> </a:t>
            </a:r>
            <a:r>
              <a:rPr kumimoji="1" lang="en-US" altLang="zh-CN" sz="3200" dirty="0">
                <a:solidFill>
                  <a:schemeClr val="bg1"/>
                </a:solidFill>
              </a:rPr>
              <a:t>Model</a:t>
            </a:r>
            <a:endParaRPr kumimoji="1" lang="zh-CN" altLang="en-US" sz="32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2299648"/>
                <a:ext cx="10515600" cy="3952870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altLang="zh-CN" sz="2000" dirty="0"/>
                  <a:t>Output:</a:t>
                </a:r>
                <a:r>
                  <a:rPr lang="zh-CN" alt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GB" altLang="zh-CN" sz="2000" dirty="0"/>
              </a:p>
              <a:p>
                <a:pPr algn="just"/>
                <a:r>
                  <a:rPr lang="en-US" altLang="zh-CN" sz="2000" dirty="0"/>
                  <a:t>Ideal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activation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function: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step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function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but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inapplicable</a:t>
                </a:r>
                <a:endParaRPr lang="en-GB" altLang="zh-CN" sz="2000" dirty="0"/>
              </a:p>
              <a:p>
                <a:pPr algn="just"/>
                <a:r>
                  <a:rPr lang="en-US" altLang="zh-CN" sz="2000" dirty="0"/>
                  <a:t>Common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activation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function</a:t>
                </a:r>
                <a:r>
                  <a:rPr lang="zh-CN" altLang="en-US" sz="2000" dirty="0"/>
                  <a:t>：</a:t>
                </a:r>
                <a:r>
                  <a:rPr lang="en-US" altLang="zh-CN" sz="2000" dirty="0"/>
                  <a:t>sigmoid</a:t>
                </a:r>
                <a:r>
                  <a:rPr lang="zh-CN" altLang="en-US" sz="2000" dirty="0"/>
                  <a:t>，</a:t>
                </a:r>
                <a:r>
                  <a:rPr lang="en-US" altLang="zh-CN" sz="2000" dirty="0"/>
                  <a:t>tanh</a:t>
                </a:r>
                <a:r>
                  <a:rPr lang="zh-CN" altLang="en-US" sz="2000" dirty="0"/>
                  <a:t>，</a:t>
                </a:r>
                <a:r>
                  <a:rPr lang="en-US" altLang="zh-CN" sz="2000" dirty="0" err="1"/>
                  <a:t>ReLU</a:t>
                </a:r>
                <a:endParaRPr lang="en-GB" altLang="zh-CN" sz="2000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299648"/>
                <a:ext cx="10515600" cy="3952870"/>
              </a:xfrm>
              <a:blipFill rotWithShape="1">
                <a:blip r:embed="rId1"/>
                <a:stretch>
                  <a:fillRect t="-8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764" y="3562825"/>
            <a:ext cx="2906766" cy="313191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1756" y="3722868"/>
            <a:ext cx="2619651" cy="3068232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28" y="3609470"/>
            <a:ext cx="2906766" cy="3038629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1106268" y="4560277"/>
            <a:ext cx="254369" cy="1616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200" dirty="0">
                <a:solidFill>
                  <a:schemeClr val="bg1"/>
                </a:solidFill>
              </a:rPr>
              <a:t>Artificial</a:t>
            </a:r>
            <a:r>
              <a:rPr kumimoji="1" lang="zh-CN" altLang="en-US" sz="3200" dirty="0">
                <a:solidFill>
                  <a:schemeClr val="bg1"/>
                </a:solidFill>
              </a:rPr>
              <a:t> </a:t>
            </a:r>
            <a:r>
              <a:rPr kumimoji="1" lang="en-US" altLang="zh-CN" sz="3200" dirty="0">
                <a:solidFill>
                  <a:schemeClr val="bg1"/>
                </a:solidFill>
              </a:rPr>
              <a:t>Neural</a:t>
            </a:r>
            <a:r>
              <a:rPr kumimoji="1" lang="zh-CN" altLang="en-US" sz="3200" dirty="0">
                <a:solidFill>
                  <a:schemeClr val="bg1"/>
                </a:solidFill>
              </a:rPr>
              <a:t> </a:t>
            </a:r>
            <a:r>
              <a:rPr kumimoji="1" lang="en-US" altLang="zh-CN" sz="3200" dirty="0">
                <a:solidFill>
                  <a:schemeClr val="bg1"/>
                </a:solidFill>
              </a:rPr>
              <a:t>Networks</a:t>
            </a:r>
            <a:endParaRPr kumimoji="1"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90433" y="2528484"/>
            <a:ext cx="5154827" cy="3877809"/>
          </a:xfrm>
        </p:spPr>
        <p:txBody>
          <a:bodyPr>
            <a:normAutofit/>
          </a:bodyPr>
          <a:lstStyle/>
          <a:p>
            <a:pPr algn="just"/>
            <a:r>
              <a:rPr lang="en-US" altLang="zh-CN" sz="2000" dirty="0"/>
              <a:t>Consist</a:t>
            </a:r>
            <a:r>
              <a:rPr lang="zh-CN" altLang="en-US" sz="2000" dirty="0"/>
              <a:t> </a:t>
            </a:r>
            <a:r>
              <a:rPr lang="en-US" altLang="zh-CN" sz="2000" dirty="0"/>
              <a:t>of</a:t>
            </a:r>
            <a:r>
              <a:rPr lang="zh-CN" altLang="en-US" sz="2000" dirty="0"/>
              <a:t> </a:t>
            </a:r>
            <a:r>
              <a:rPr lang="en-US" altLang="zh-CN" sz="2000" dirty="0"/>
              <a:t>multiple</a:t>
            </a:r>
            <a:r>
              <a:rPr lang="zh-CN" altLang="en-US" sz="2000" dirty="0"/>
              <a:t> </a:t>
            </a:r>
            <a:r>
              <a:rPr lang="en-US" altLang="zh-CN" sz="2000" dirty="0"/>
              <a:t>artificial</a:t>
            </a:r>
            <a:r>
              <a:rPr lang="zh-CN" altLang="en-US" sz="2000" dirty="0"/>
              <a:t> </a:t>
            </a:r>
            <a:r>
              <a:rPr lang="en-US" altLang="zh-CN" sz="2000" dirty="0"/>
              <a:t>neurons</a:t>
            </a:r>
            <a:endParaRPr lang="en-US" altLang="zh-CN" sz="2000" dirty="0"/>
          </a:p>
          <a:p>
            <a:pPr algn="just"/>
            <a:endParaRPr lang="en-US" altLang="zh-CN" sz="2000" dirty="0"/>
          </a:p>
          <a:p>
            <a:pPr algn="just"/>
            <a:r>
              <a:rPr lang="en-US" altLang="zh-CN" sz="2000" dirty="0">
                <a:solidFill>
                  <a:srgbClr val="0432FF"/>
                </a:solidFill>
              </a:rPr>
              <a:t>Usually</a:t>
            </a:r>
            <a:r>
              <a:rPr lang="zh-CN" altLang="en-US" sz="2000" dirty="0">
                <a:solidFill>
                  <a:srgbClr val="0432FF"/>
                </a:solidFill>
              </a:rPr>
              <a:t> </a:t>
            </a:r>
            <a:r>
              <a:rPr lang="en-US" altLang="zh-CN" sz="2000" dirty="0">
                <a:solidFill>
                  <a:srgbClr val="0432FF"/>
                </a:solidFill>
              </a:rPr>
              <a:t>have</a:t>
            </a:r>
            <a:r>
              <a:rPr lang="zh-CN" altLang="en-US" sz="2000" dirty="0">
                <a:solidFill>
                  <a:srgbClr val="0432FF"/>
                </a:solidFill>
              </a:rPr>
              <a:t> </a:t>
            </a:r>
            <a:r>
              <a:rPr lang="en-US" altLang="zh-CN" sz="2000" dirty="0">
                <a:solidFill>
                  <a:srgbClr val="0432FF"/>
                </a:solidFill>
              </a:rPr>
              <a:t>the</a:t>
            </a:r>
            <a:r>
              <a:rPr lang="zh-CN" altLang="en-US" sz="2000" dirty="0">
                <a:solidFill>
                  <a:srgbClr val="0432FF"/>
                </a:solidFill>
              </a:rPr>
              <a:t> </a:t>
            </a:r>
            <a:r>
              <a:rPr lang="en-US" altLang="zh-CN" sz="2000" dirty="0">
                <a:solidFill>
                  <a:srgbClr val="0432FF"/>
                </a:solidFill>
              </a:rPr>
              <a:t>structure</a:t>
            </a:r>
            <a:r>
              <a:rPr lang="zh-CN" altLang="en-US" sz="2000" dirty="0">
                <a:solidFill>
                  <a:srgbClr val="0432FF"/>
                </a:solidFill>
              </a:rPr>
              <a:t> </a:t>
            </a:r>
            <a:r>
              <a:rPr lang="en-US" altLang="zh-CN" sz="2000" dirty="0">
                <a:solidFill>
                  <a:srgbClr val="0432FF"/>
                </a:solidFill>
              </a:rPr>
              <a:t>of</a:t>
            </a:r>
            <a:r>
              <a:rPr lang="zh-CN" altLang="en-US" sz="2000" dirty="0">
                <a:solidFill>
                  <a:srgbClr val="0432FF"/>
                </a:solidFill>
              </a:rPr>
              <a:t> </a:t>
            </a:r>
            <a:r>
              <a:rPr lang="en-US" altLang="zh-CN" sz="2000" dirty="0">
                <a:solidFill>
                  <a:srgbClr val="0432FF"/>
                </a:solidFill>
              </a:rPr>
              <a:t>an</a:t>
            </a:r>
            <a:r>
              <a:rPr lang="zh-CN" altLang="en-US" sz="2000" dirty="0">
                <a:solidFill>
                  <a:srgbClr val="0432FF"/>
                </a:solidFill>
              </a:rPr>
              <a:t> </a:t>
            </a:r>
            <a:r>
              <a:rPr lang="en-US" altLang="zh-CN" sz="2000" dirty="0">
                <a:solidFill>
                  <a:srgbClr val="0432FF"/>
                </a:solidFill>
              </a:rPr>
              <a:t>input</a:t>
            </a:r>
            <a:r>
              <a:rPr lang="zh-CN" altLang="en-US" sz="2000" dirty="0">
                <a:solidFill>
                  <a:srgbClr val="0432FF"/>
                </a:solidFill>
              </a:rPr>
              <a:t> </a:t>
            </a:r>
            <a:r>
              <a:rPr lang="en-US" altLang="zh-CN" sz="2000" dirty="0">
                <a:solidFill>
                  <a:srgbClr val="0432FF"/>
                </a:solidFill>
              </a:rPr>
              <a:t>layer,</a:t>
            </a:r>
            <a:r>
              <a:rPr lang="zh-CN" altLang="en-US" sz="2000" dirty="0">
                <a:solidFill>
                  <a:srgbClr val="0432FF"/>
                </a:solidFill>
              </a:rPr>
              <a:t> </a:t>
            </a:r>
            <a:r>
              <a:rPr lang="en-US" altLang="zh-CN" sz="2000" dirty="0">
                <a:solidFill>
                  <a:srgbClr val="0432FF"/>
                </a:solidFill>
              </a:rPr>
              <a:t>multiple</a:t>
            </a:r>
            <a:r>
              <a:rPr lang="zh-CN" altLang="en-US" sz="2000" dirty="0">
                <a:solidFill>
                  <a:srgbClr val="0432FF"/>
                </a:solidFill>
              </a:rPr>
              <a:t> </a:t>
            </a:r>
            <a:r>
              <a:rPr lang="en-US" altLang="zh-CN" sz="2000" dirty="0">
                <a:solidFill>
                  <a:srgbClr val="0432FF"/>
                </a:solidFill>
              </a:rPr>
              <a:t>hidden</a:t>
            </a:r>
            <a:r>
              <a:rPr lang="zh-CN" altLang="en-US" sz="2000" dirty="0">
                <a:solidFill>
                  <a:srgbClr val="0432FF"/>
                </a:solidFill>
              </a:rPr>
              <a:t> </a:t>
            </a:r>
            <a:r>
              <a:rPr lang="en-US" altLang="zh-CN" sz="2000" dirty="0">
                <a:solidFill>
                  <a:srgbClr val="0432FF"/>
                </a:solidFill>
              </a:rPr>
              <a:t>layers,</a:t>
            </a:r>
            <a:r>
              <a:rPr lang="zh-CN" altLang="en-US" sz="2000" dirty="0">
                <a:solidFill>
                  <a:srgbClr val="0432FF"/>
                </a:solidFill>
              </a:rPr>
              <a:t> </a:t>
            </a:r>
            <a:r>
              <a:rPr lang="en-US" altLang="zh-CN" sz="2000" dirty="0">
                <a:solidFill>
                  <a:srgbClr val="0432FF"/>
                </a:solidFill>
              </a:rPr>
              <a:t>an</a:t>
            </a:r>
            <a:r>
              <a:rPr lang="zh-CN" altLang="en-US" sz="2000" dirty="0">
                <a:solidFill>
                  <a:srgbClr val="0432FF"/>
                </a:solidFill>
              </a:rPr>
              <a:t> </a:t>
            </a:r>
            <a:r>
              <a:rPr lang="en-US" altLang="zh-CN" sz="2000" dirty="0">
                <a:solidFill>
                  <a:srgbClr val="0432FF"/>
                </a:solidFill>
              </a:rPr>
              <a:t>output</a:t>
            </a:r>
            <a:r>
              <a:rPr lang="zh-CN" altLang="en-US" sz="2000" dirty="0">
                <a:solidFill>
                  <a:srgbClr val="0432FF"/>
                </a:solidFill>
              </a:rPr>
              <a:t> </a:t>
            </a:r>
            <a:r>
              <a:rPr lang="en-US" altLang="zh-CN" sz="2000" dirty="0">
                <a:solidFill>
                  <a:srgbClr val="0432FF"/>
                </a:solidFill>
              </a:rPr>
              <a:t>layer</a:t>
            </a:r>
            <a:endParaRPr lang="en-US" altLang="zh-CN" sz="2000" dirty="0">
              <a:solidFill>
                <a:srgbClr val="0432FF"/>
              </a:solidFill>
            </a:endParaRPr>
          </a:p>
          <a:p>
            <a:pPr algn="just"/>
            <a:endParaRPr lang="en-US" altLang="zh-CN" sz="2000" dirty="0">
              <a:solidFill>
                <a:srgbClr val="0432FF"/>
              </a:solidFill>
            </a:endParaRPr>
          </a:p>
          <a:p>
            <a:pPr algn="just"/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design</a:t>
            </a:r>
            <a:r>
              <a:rPr lang="zh-CN" altLang="en-US" sz="2000" dirty="0"/>
              <a:t> </a:t>
            </a:r>
            <a:r>
              <a:rPr lang="en-US" altLang="zh-CN" sz="2000" dirty="0"/>
              <a:t>of</a:t>
            </a:r>
            <a:r>
              <a:rPr lang="zh-CN" altLang="en-US" sz="2000" dirty="0"/>
              <a:t> </a:t>
            </a:r>
            <a:r>
              <a:rPr lang="en-US" altLang="zh-CN" sz="2000" dirty="0"/>
              <a:t>an</a:t>
            </a:r>
            <a:r>
              <a:rPr lang="zh-CN" altLang="en-US" sz="2000" dirty="0"/>
              <a:t> </a:t>
            </a:r>
            <a:r>
              <a:rPr lang="en-US" altLang="zh-CN" sz="2000" dirty="0"/>
              <a:t>NN</a:t>
            </a:r>
            <a:r>
              <a:rPr lang="zh-CN" altLang="en-US" sz="2000" dirty="0"/>
              <a:t> </a:t>
            </a:r>
            <a:r>
              <a:rPr lang="en-US" altLang="zh-CN" sz="2000" dirty="0"/>
              <a:t>or</a:t>
            </a:r>
            <a:r>
              <a:rPr lang="zh-CN" altLang="en-US" sz="2000" dirty="0"/>
              <a:t> </a:t>
            </a:r>
            <a:r>
              <a:rPr lang="en-US" altLang="zh-CN" sz="2000" dirty="0" err="1"/>
              <a:t>AutoML</a:t>
            </a:r>
            <a:r>
              <a:rPr lang="zh-CN" altLang="en-US" sz="2000" dirty="0"/>
              <a:t> </a:t>
            </a:r>
            <a:r>
              <a:rPr lang="en-US" altLang="zh-CN" sz="2000" dirty="0"/>
              <a:t>aims</a:t>
            </a:r>
            <a:r>
              <a:rPr lang="zh-CN" altLang="en-US" sz="2000" dirty="0"/>
              <a:t> </a:t>
            </a:r>
            <a:r>
              <a:rPr lang="en-US" altLang="zh-CN" sz="2000" dirty="0"/>
              <a:t>to</a:t>
            </a:r>
            <a:r>
              <a:rPr lang="zh-CN" altLang="en-US" sz="2000" dirty="0"/>
              <a:t> </a:t>
            </a:r>
            <a:r>
              <a:rPr lang="en-US" altLang="zh-CN" sz="2000" dirty="0"/>
              <a:t>design</a:t>
            </a:r>
            <a:r>
              <a:rPr lang="zh-CN" altLang="en-US" sz="2000" dirty="0"/>
              <a:t> </a:t>
            </a:r>
            <a:r>
              <a:rPr lang="en-US" altLang="zh-CN" sz="2000" dirty="0"/>
              <a:t>appropriate</a:t>
            </a:r>
            <a:r>
              <a:rPr lang="zh-CN" altLang="en-US" sz="2000" dirty="0"/>
              <a:t> </a:t>
            </a:r>
            <a:r>
              <a:rPr lang="en-US" altLang="zh-CN" sz="2000" dirty="0"/>
              <a:t>hidden</a:t>
            </a:r>
            <a:r>
              <a:rPr lang="zh-CN" altLang="en-US" sz="2000" dirty="0"/>
              <a:t> </a:t>
            </a:r>
            <a:r>
              <a:rPr lang="en-US" altLang="zh-CN" sz="2000" dirty="0"/>
              <a:t>layers</a:t>
            </a:r>
            <a:r>
              <a:rPr lang="zh-CN" altLang="en-US" sz="2000" dirty="0"/>
              <a:t> </a:t>
            </a:r>
            <a:r>
              <a:rPr lang="en-US" altLang="zh-CN" sz="2000" dirty="0"/>
              <a:t>and</a:t>
            </a:r>
            <a:r>
              <a:rPr lang="zh-CN" altLang="en-US" sz="2000" dirty="0"/>
              <a:t> </a:t>
            </a:r>
            <a:r>
              <a:rPr lang="en-US" altLang="zh-CN" sz="2000" dirty="0"/>
              <a:t>connection</a:t>
            </a:r>
            <a:r>
              <a:rPr lang="zh-CN" altLang="en-US" sz="2000" dirty="0"/>
              <a:t> </a:t>
            </a:r>
            <a:r>
              <a:rPr lang="en-US" altLang="zh-CN" sz="2000" dirty="0"/>
              <a:t>weights.</a:t>
            </a:r>
            <a:r>
              <a:rPr lang="zh-CN" altLang="en-US" sz="2000" dirty="0"/>
              <a:t> </a:t>
            </a:r>
            <a:endParaRPr lang="en-US" altLang="zh-CN" sz="20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8508" y="2690028"/>
            <a:ext cx="4572000" cy="2641426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882713" y="5461108"/>
            <a:ext cx="4287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3-layer</a:t>
            </a:r>
            <a:r>
              <a:rPr kumimoji="1" lang="zh-CN" altLang="en-US" dirty="0"/>
              <a:t> </a:t>
            </a:r>
            <a:r>
              <a:rPr kumimoji="1" lang="en-US" altLang="zh-CN" dirty="0"/>
              <a:t>Feedforward</a:t>
            </a:r>
            <a:r>
              <a:rPr kumimoji="1" lang="zh-CN" altLang="en-US" dirty="0"/>
              <a:t> </a:t>
            </a:r>
            <a:r>
              <a:rPr kumimoji="1" lang="en-US" altLang="zh-CN" dirty="0"/>
              <a:t>neural</a:t>
            </a:r>
            <a:r>
              <a:rPr kumimoji="1" lang="zh-CN" altLang="en-US" dirty="0"/>
              <a:t> </a:t>
            </a:r>
            <a:r>
              <a:rPr kumimoji="1" lang="en-US" altLang="zh-CN" dirty="0"/>
              <a:t>networks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3778" y="872898"/>
            <a:ext cx="8942590" cy="706964"/>
          </a:xfrm>
        </p:spPr>
        <p:txBody>
          <a:bodyPr/>
          <a:lstStyle/>
          <a:p>
            <a:r>
              <a:rPr kumimoji="1" lang="en-US" altLang="zh-CN" sz="3200" dirty="0">
                <a:solidFill>
                  <a:schemeClr val="bg1"/>
                </a:solidFill>
              </a:rPr>
              <a:t>One</a:t>
            </a:r>
            <a:r>
              <a:rPr kumimoji="1" lang="zh-CN" altLang="en-US" sz="3200" dirty="0">
                <a:solidFill>
                  <a:schemeClr val="bg1"/>
                </a:solidFill>
              </a:rPr>
              <a:t> </a:t>
            </a:r>
            <a:r>
              <a:rPr kumimoji="1" lang="en-US" altLang="zh-CN" sz="3200" dirty="0">
                <a:solidFill>
                  <a:schemeClr val="bg1"/>
                </a:solidFill>
              </a:rPr>
              <a:t>Inference</a:t>
            </a:r>
            <a:r>
              <a:rPr kumimoji="1" lang="zh-CN" altLang="en-US" sz="3200" dirty="0">
                <a:solidFill>
                  <a:schemeClr val="bg1"/>
                </a:solidFill>
              </a:rPr>
              <a:t> </a:t>
            </a:r>
            <a:r>
              <a:rPr kumimoji="1" lang="en-US" altLang="zh-CN" sz="3200" dirty="0">
                <a:solidFill>
                  <a:schemeClr val="bg1"/>
                </a:solidFill>
              </a:rPr>
              <a:t>Process</a:t>
            </a:r>
            <a:endParaRPr kumimoji="1" lang="zh-CN" altLang="en-US" sz="32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-87967" y="2896744"/>
                <a:ext cx="5669565" cy="3808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kumimoji="1" lang="en-US" altLang="zh-CN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kumimoji="1" lang="en-US" altLang="zh-CN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kumimoji="1" lang="zh-CN" altLang="en-US" dirty="0"/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7967" y="2896744"/>
                <a:ext cx="5669565" cy="380810"/>
              </a:xfrm>
              <a:prstGeom prst="rect">
                <a:avLst/>
              </a:prstGeom>
              <a:blipFill rotWithShape="1">
                <a:blip r:embed="rId1"/>
                <a:stretch>
                  <a:fillRect l="6" t="-134" r="10" b="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/>
              <p:cNvSpPr/>
              <p:nvPr/>
            </p:nvSpPr>
            <p:spPr>
              <a:xfrm>
                <a:off x="35625" y="3571015"/>
                <a:ext cx="2728503" cy="871264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is-I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  <m:e>
                          <m:sSubSup>
                            <m:sSubSup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𝑗𝑖</m:t>
                              </m:r>
                            </m:sub>
                            <m:sup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kumimoji="1"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nary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25" y="3571015"/>
                <a:ext cx="2728503" cy="871264"/>
              </a:xfrm>
              <a:prstGeom prst="rect">
                <a:avLst/>
              </a:prstGeom>
              <a:blipFill rotWithShape="1">
                <a:blip r:embed="rId2"/>
                <a:stretch>
                  <a:fillRect l="-189" t="-557" r="-164" b="-531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直线箭头连接符 6"/>
          <p:cNvCxnSpPr/>
          <p:nvPr/>
        </p:nvCxnSpPr>
        <p:spPr>
          <a:xfrm flipV="1">
            <a:off x="593766" y="3147361"/>
            <a:ext cx="380011" cy="423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/>
              <p:cNvSpPr/>
              <p:nvPr/>
            </p:nvSpPr>
            <p:spPr>
              <a:xfrm>
                <a:off x="1030809" y="2291589"/>
                <a:ext cx="1607235" cy="479618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  <m:sup>
                          <m:d>
                            <m:d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809" y="2291589"/>
                <a:ext cx="1607235" cy="479618"/>
              </a:xfrm>
              <a:prstGeom prst="rect">
                <a:avLst/>
              </a:prstGeom>
              <a:blipFill rotWithShape="1">
                <a:blip r:embed="rId3"/>
                <a:stretch>
                  <a:fillRect l="-329" t="-1033" r="-261" b="-913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直线箭头连接符 8"/>
          <p:cNvCxnSpPr>
            <a:stCxn id="8" idx="2"/>
          </p:cNvCxnSpPr>
          <p:nvPr/>
        </p:nvCxnSpPr>
        <p:spPr>
          <a:xfrm flipH="1">
            <a:off x="1655633" y="2771207"/>
            <a:ext cx="178794" cy="315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矩形 9"/>
              <p:cNvSpPr/>
              <p:nvPr/>
            </p:nvSpPr>
            <p:spPr>
              <a:xfrm>
                <a:off x="1676576" y="4651778"/>
                <a:ext cx="2728504" cy="902555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is-I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sSubSup>
                            <m:sSubSup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𝑘𝑗</m:t>
                              </m:r>
                            </m:sub>
                            <m:sup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nary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576" y="4651778"/>
                <a:ext cx="2728504" cy="902555"/>
              </a:xfrm>
              <a:prstGeom prst="rect">
                <a:avLst/>
              </a:prstGeom>
              <a:blipFill rotWithShape="1">
                <a:blip r:embed="rId4"/>
                <a:stretch>
                  <a:fillRect l="-193" t="-537" r="-160" b="-494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线箭头连接符 10"/>
          <p:cNvCxnSpPr>
            <a:stCxn id="10" idx="0"/>
          </p:cNvCxnSpPr>
          <p:nvPr/>
        </p:nvCxnSpPr>
        <p:spPr>
          <a:xfrm flipH="1" flipV="1">
            <a:off x="2362364" y="3132076"/>
            <a:ext cx="678464" cy="1519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矩形 11"/>
              <p:cNvSpPr/>
              <p:nvPr/>
            </p:nvSpPr>
            <p:spPr>
              <a:xfrm>
                <a:off x="2839492" y="2289293"/>
                <a:ext cx="1619802" cy="450764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d>
                            <m:d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9492" y="2289293"/>
                <a:ext cx="1619802" cy="450764"/>
              </a:xfrm>
              <a:prstGeom prst="rect">
                <a:avLst/>
              </a:prstGeom>
              <a:blipFill rotWithShape="1">
                <a:blip r:embed="rId5"/>
                <a:stretch>
                  <a:fillRect l="-300" t="-1153" r="-294" b="-979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线箭头连接符 12"/>
          <p:cNvCxnSpPr>
            <a:stCxn id="12" idx="2"/>
          </p:cNvCxnSpPr>
          <p:nvPr/>
        </p:nvCxnSpPr>
        <p:spPr>
          <a:xfrm flipH="1">
            <a:off x="3090039" y="2740057"/>
            <a:ext cx="559354" cy="306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矩形 13"/>
              <p:cNvSpPr/>
              <p:nvPr/>
            </p:nvSpPr>
            <p:spPr>
              <a:xfrm>
                <a:off x="3791362" y="5825516"/>
                <a:ext cx="2749663" cy="871201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is-I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Sup>
                            <m:sSubSup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𝑙𝑘</m:t>
                              </m:r>
                            </m:sub>
                            <m:sup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nary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1362" y="5825516"/>
                <a:ext cx="2749663" cy="871201"/>
              </a:xfrm>
              <a:prstGeom prst="rect">
                <a:avLst/>
              </a:prstGeom>
              <a:blipFill rotWithShape="1">
                <a:blip r:embed="rId6"/>
                <a:stretch>
                  <a:fillRect l="-177" t="-586" r="-166" b="-509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线箭头连接符 14"/>
          <p:cNvCxnSpPr/>
          <p:nvPr/>
        </p:nvCxnSpPr>
        <p:spPr>
          <a:xfrm flipH="1" flipV="1">
            <a:off x="3728852" y="3147361"/>
            <a:ext cx="1270660" cy="27137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矩形 15"/>
              <p:cNvSpPr/>
              <p:nvPr/>
            </p:nvSpPr>
            <p:spPr>
              <a:xfrm>
                <a:off x="4625326" y="2279953"/>
                <a:ext cx="2191113" cy="506870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5326" y="2279953"/>
                <a:ext cx="2191113" cy="506870"/>
              </a:xfrm>
              <a:prstGeom prst="rect">
                <a:avLst/>
              </a:prstGeom>
              <a:blipFill rotWithShape="1">
                <a:blip r:embed="rId7"/>
                <a:stretch>
                  <a:fillRect l="-231" t="-1062" r="-216" b="-915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直线箭头连接符 16"/>
          <p:cNvCxnSpPr>
            <a:stCxn id="16" idx="2"/>
          </p:cNvCxnSpPr>
          <p:nvPr/>
        </p:nvCxnSpPr>
        <p:spPr>
          <a:xfrm flipH="1">
            <a:off x="4446728" y="2786823"/>
            <a:ext cx="1274155" cy="2295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225631" y="5861141"/>
            <a:ext cx="341747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Superscript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of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w</a:t>
            </a:r>
            <a:r>
              <a:rPr kumimoji="1" lang="zh-CN" altLang="en-US" dirty="0">
                <a:solidFill>
                  <a:srgbClr val="FF0000"/>
                </a:solidFill>
              </a:rPr>
              <a:t>：</a:t>
            </a:r>
            <a:r>
              <a:rPr kumimoji="1" lang="en-US" altLang="zh-CN" dirty="0">
                <a:solidFill>
                  <a:srgbClr val="FF0000"/>
                </a:solidFill>
              </a:rPr>
              <a:t>layer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index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5124" y="2786823"/>
            <a:ext cx="4899545" cy="268468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200" dirty="0">
                <a:solidFill>
                  <a:schemeClr val="bg1"/>
                </a:solidFill>
              </a:rPr>
              <a:t>Training</a:t>
            </a:r>
            <a:r>
              <a:rPr kumimoji="1" lang="zh-CN" altLang="en-US" sz="3200" dirty="0">
                <a:solidFill>
                  <a:schemeClr val="bg1"/>
                </a:solidFill>
              </a:rPr>
              <a:t> </a:t>
            </a:r>
            <a:r>
              <a:rPr kumimoji="1" lang="en-US" altLang="zh-CN" sz="3200" dirty="0">
                <a:solidFill>
                  <a:schemeClr val="bg1"/>
                </a:solidFill>
              </a:rPr>
              <a:t>of</a:t>
            </a:r>
            <a:r>
              <a:rPr kumimoji="1" lang="zh-CN" altLang="en-US" sz="3200" dirty="0">
                <a:solidFill>
                  <a:schemeClr val="bg1"/>
                </a:solidFill>
              </a:rPr>
              <a:t> </a:t>
            </a:r>
            <a:r>
              <a:rPr kumimoji="1" lang="en-US" altLang="zh-CN" sz="3200" dirty="0">
                <a:solidFill>
                  <a:schemeClr val="bg1"/>
                </a:solidFill>
              </a:rPr>
              <a:t>NN</a:t>
            </a:r>
            <a:endParaRPr kumimoji="1"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1154954" y="2456929"/>
            <a:ext cx="8825659" cy="3416300"/>
          </a:xfrm>
        </p:spPr>
        <p:txBody>
          <a:bodyPr>
            <a:normAutofit/>
          </a:bodyPr>
          <a:lstStyle/>
          <a:p>
            <a:r>
              <a:rPr kumimoji="1" lang="en-US" altLang="zh-CN" sz="2400" dirty="0"/>
              <a:t>W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and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Threshold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values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decide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the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output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of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NN</a:t>
            </a:r>
            <a:endParaRPr kumimoji="1" lang="en-US" altLang="zh-CN" sz="2400" dirty="0"/>
          </a:p>
          <a:p>
            <a:r>
              <a:rPr kumimoji="1" lang="en-US" altLang="zh-CN" sz="2400" dirty="0"/>
              <a:t>The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training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is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to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find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appropriate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values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for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W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and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Threshold</a:t>
            </a:r>
            <a:endParaRPr kumimoji="1" lang="en-US" altLang="zh-CN" sz="2400" dirty="0"/>
          </a:p>
          <a:p>
            <a:r>
              <a:rPr kumimoji="1" lang="en-US" altLang="zh-CN" sz="2400" dirty="0"/>
              <a:t>The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learning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process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is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to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tune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weight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matrix</a:t>
            </a:r>
            <a:endParaRPr kumimoji="1" lang="en-US" altLang="zh-CN" sz="2400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497164" y="4497513"/>
          <a:ext cx="308369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6739"/>
                <a:gridCol w="543087"/>
                <a:gridCol w="543087"/>
                <a:gridCol w="690392"/>
                <a:gridCol w="69039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x1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x2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x3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l1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l2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1.0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0.1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1.5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1.2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1.1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1.1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2.0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6496" y="4303964"/>
            <a:ext cx="3665541" cy="2117729"/>
          </a:xfrm>
          <a:prstGeom prst="rect">
            <a:avLst/>
          </a:prstGeom>
        </p:spPr>
      </p:pic>
      <p:cxnSp>
        <p:nvCxnSpPr>
          <p:cNvPr id="9" name="直线箭头连接符 8"/>
          <p:cNvCxnSpPr/>
          <p:nvPr/>
        </p:nvCxnSpPr>
        <p:spPr>
          <a:xfrm>
            <a:off x="3580861" y="5435492"/>
            <a:ext cx="8896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箭头连接符 11"/>
          <p:cNvCxnSpPr/>
          <p:nvPr/>
        </p:nvCxnSpPr>
        <p:spPr>
          <a:xfrm>
            <a:off x="7594486" y="5413237"/>
            <a:ext cx="8896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8398948" y="4710203"/>
                <a:ext cx="3163330" cy="10662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𝐸𝑟𝑟𝑜𝑟</m:t>
                      </m:r>
                      <m:r>
                        <a:rPr kumimoji="1" lang="zh-CN" alt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𝐹𝑢𝑛𝑐𝑡𝑖𝑜𝑛</m:t>
                      </m:r>
                      <m:r>
                        <a:rPr kumimoji="1" lang="zh-CN" alt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d>
                                <m:dPr>
                                  <m:ctrlP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  <m: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  <m:sup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d>
                                <m:dPr>
                                  <m:ctrlP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  <m: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e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8948" y="4710203"/>
                <a:ext cx="3163330" cy="1066254"/>
              </a:xfrm>
              <a:prstGeom prst="rect">
                <a:avLst/>
              </a:prstGeom>
              <a:blipFill rotWithShape="1">
                <a:blip r:embed="rId2"/>
                <a:stretch>
                  <a:fillRect l="-14" t="-38" r="6" b="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曲线连接符 16"/>
          <p:cNvCxnSpPr/>
          <p:nvPr/>
        </p:nvCxnSpPr>
        <p:spPr>
          <a:xfrm rot="10800000" flipV="1">
            <a:off x="7675936" y="5749661"/>
            <a:ext cx="2520778" cy="123567"/>
          </a:xfrm>
          <a:prstGeom prst="curvedConnector3">
            <a:avLst>
              <a:gd name="adj1" fmla="val 4271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/>
              <p:cNvSpPr txBox="1"/>
              <p:nvPr/>
            </p:nvSpPr>
            <p:spPr>
              <a:xfrm>
                <a:off x="8334702" y="6033291"/>
                <a:ext cx="316333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/>
                  <a:t>Calculate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the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gradient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for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kumimoji="1" lang="en-US" altLang="zh-CN" dirty="0"/>
                  <a:t>,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then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tune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them</a:t>
                </a:r>
                <a:endParaRPr kumimoji="1" lang="zh-CN" altLang="en-US" dirty="0"/>
              </a:p>
            </p:txBody>
          </p:sp>
        </mc:Choice>
        <mc:Fallback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4702" y="6033291"/>
                <a:ext cx="3163330" cy="646331"/>
              </a:xfrm>
              <a:prstGeom prst="rect">
                <a:avLst/>
              </a:prstGeom>
              <a:blipFill rotWithShape="1">
                <a:blip r:embed="rId3"/>
                <a:stretch>
                  <a:fillRect l="-10" t="-24" r="3" b="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84998" y="973668"/>
            <a:ext cx="8831370" cy="706964"/>
          </a:xfrm>
        </p:spPr>
        <p:txBody>
          <a:bodyPr/>
          <a:lstStyle/>
          <a:p>
            <a:r>
              <a:rPr kumimoji="1" lang="en-US" altLang="zh-CN" dirty="0">
                <a:solidFill>
                  <a:schemeClr val="bg1"/>
                </a:solidFill>
              </a:rPr>
              <a:t>A</a:t>
            </a:r>
            <a:r>
              <a:rPr kumimoji="1" lang="en-US" altLang="zh-CN" sz="3600" dirty="0">
                <a:solidFill>
                  <a:schemeClr val="bg1"/>
                </a:solidFill>
              </a:rPr>
              <a:t>NN</a:t>
            </a:r>
            <a:r>
              <a:rPr kumimoji="1" lang="zh-CN" altLang="en-US" sz="3600" dirty="0">
                <a:solidFill>
                  <a:schemeClr val="bg1"/>
                </a:solidFill>
              </a:rPr>
              <a:t> </a:t>
            </a:r>
            <a:r>
              <a:rPr kumimoji="1" lang="en-US" altLang="zh-CN" sz="3600" dirty="0">
                <a:solidFill>
                  <a:schemeClr val="bg1"/>
                </a:solidFill>
              </a:rPr>
              <a:t>Application</a:t>
            </a:r>
            <a:r>
              <a:rPr kumimoji="1" lang="zh-CN" altLang="en-US" sz="3600" dirty="0">
                <a:solidFill>
                  <a:schemeClr val="bg1"/>
                </a:solidFill>
              </a:rPr>
              <a:t>：</a:t>
            </a:r>
            <a:r>
              <a:rPr kumimoji="1" lang="en-GB" altLang="zh-CN" sz="3600" dirty="0">
                <a:solidFill>
                  <a:schemeClr val="bg1"/>
                </a:solidFill>
              </a:rPr>
              <a:t>Handwritten character recognition</a:t>
            </a:r>
            <a:endParaRPr kumimoji="1" lang="zh-CN" altLang="en-US" dirty="0">
              <a:solidFill>
                <a:schemeClr val="bg1"/>
              </a:solidFill>
            </a:endParaRPr>
          </a:p>
        </p:txBody>
      </p:sp>
      <p:pic>
        <p:nvPicPr>
          <p:cNvPr id="8" name="内容占位符 7"/>
          <p:cNvPicPr preferRelativeResize="0">
            <a:picLocks noGrp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452683" y="2312083"/>
            <a:ext cx="6096000" cy="3810000"/>
          </a:xfr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0860" y="6122083"/>
            <a:ext cx="4539934" cy="73591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8672561" y="2696760"/>
            <a:ext cx="330354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hlinkClick r:id="rId3"/>
              </a:rPr>
              <a:t>http://yann.lecun.com/exdb/lenet/</a:t>
            </a:r>
            <a:endParaRPr lang="en-US" altLang="zh-CN" dirty="0"/>
          </a:p>
          <a:p>
            <a:endParaRPr lang="zh-CN" altLang="en-US" dirty="0">
              <a:solidFill>
                <a:srgbClr val="00B0F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Performance of ANN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463257"/>
          </a:xfrm>
        </p:spPr>
        <p:txBody>
          <a:bodyPr>
            <a:normAutofit/>
          </a:bodyPr>
          <a:lstStyle/>
          <a:p>
            <a:pPr algn="just"/>
            <a:r>
              <a:rPr lang="en-US" altLang="zh-CN" dirty="0"/>
              <a:t>Anti-interference ability, such as different sizes, digital distortion</a:t>
            </a: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954" y="3156244"/>
            <a:ext cx="2032000" cy="1270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9163" y="3156244"/>
            <a:ext cx="2032000" cy="127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9343" y="3156244"/>
            <a:ext cx="2032000" cy="1270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4954" y="4833815"/>
            <a:ext cx="2032000" cy="1270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9163" y="4833815"/>
            <a:ext cx="2032000" cy="1270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9343" y="4833815"/>
            <a:ext cx="2032000" cy="127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>
                <a:solidFill>
                  <a:schemeClr val="bg1"/>
                </a:solidFill>
              </a:rPr>
              <a:t>The</a:t>
            </a:r>
            <a:r>
              <a:rPr kumimoji="1" lang="zh-CN" altLang="en-US" sz="2800" dirty="0">
                <a:solidFill>
                  <a:schemeClr val="bg1"/>
                </a:solidFill>
              </a:rPr>
              <a:t> </a:t>
            </a:r>
            <a:r>
              <a:rPr kumimoji="1" lang="en-US" altLang="zh-CN" sz="2800" dirty="0">
                <a:solidFill>
                  <a:schemeClr val="bg1"/>
                </a:solidFill>
              </a:rPr>
              <a:t>practice:</a:t>
            </a:r>
            <a:r>
              <a:rPr kumimoji="1" lang="zh-CN" altLang="en-US" sz="2800" dirty="0">
                <a:solidFill>
                  <a:schemeClr val="bg1"/>
                </a:solidFill>
              </a:rPr>
              <a:t> </a:t>
            </a:r>
            <a:r>
              <a:rPr kumimoji="1" lang="en-GB" altLang="zh-CN" sz="2800" dirty="0">
                <a:solidFill>
                  <a:schemeClr val="bg1"/>
                </a:solidFill>
              </a:rPr>
              <a:t>Handwritten character recognition</a:t>
            </a:r>
            <a:endParaRPr kumimoji="1" lang="zh-CN" alt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482600"/>
          </a:xfrm>
        </p:spPr>
        <p:txBody>
          <a:bodyPr/>
          <a:lstStyle/>
          <a:p>
            <a:r>
              <a:rPr kumimoji="1" lang="en-US" altLang="zh-CN" dirty="0"/>
              <a:t>The dataset of this practice is a subset of MNIST</a:t>
            </a:r>
            <a:endParaRPr kumimoji="1" lang="en-US" altLang="zh-CN" dirty="0"/>
          </a:p>
          <a:p>
            <a:endParaRPr kumimoji="1"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3646" y="3909209"/>
            <a:ext cx="1397000" cy="1422400"/>
          </a:xfrm>
          <a:prstGeom prst="rect">
            <a:avLst/>
          </a:prstGeom>
        </p:spPr>
      </p:pic>
      <p:sp>
        <p:nvSpPr>
          <p:cNvPr id="7" name="右箭头 6"/>
          <p:cNvSpPr/>
          <p:nvPr/>
        </p:nvSpPr>
        <p:spPr>
          <a:xfrm>
            <a:off x="3924300" y="4305300"/>
            <a:ext cx="850900" cy="1397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575300" y="4203700"/>
            <a:ext cx="312906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7</a:t>
            </a:r>
            <a:endParaRPr kumimoji="1"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5448300" y="3733800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Label:</a:t>
            </a:r>
            <a:endParaRPr kumimoji="1"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621146" y="3429000"/>
            <a:ext cx="3047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28</a:t>
            </a:r>
            <a:r>
              <a:rPr kumimoji="1" lang="zh-CN" altLang="en-US" dirty="0"/>
              <a:t>*</a:t>
            </a:r>
            <a:r>
              <a:rPr kumimoji="1" lang="en-US" altLang="zh-CN" dirty="0"/>
              <a:t>28</a:t>
            </a:r>
            <a:r>
              <a:rPr kumimoji="1" lang="zh-CN" altLang="en-US" dirty="0"/>
              <a:t> </a:t>
            </a:r>
            <a:r>
              <a:rPr kumimoji="1" lang="en-US" altLang="zh-CN" dirty="0"/>
              <a:t>grayscale</a:t>
            </a:r>
            <a:r>
              <a:rPr kumimoji="1" lang="zh-CN" altLang="en-US" dirty="0"/>
              <a:t> </a:t>
            </a:r>
            <a:r>
              <a:rPr kumimoji="1" lang="en-US" altLang="zh-CN" dirty="0"/>
              <a:t>image:</a:t>
            </a:r>
            <a:endParaRPr kumimoji="1" lang="zh-CN" altLang="en-US" dirty="0"/>
          </a:p>
        </p:txBody>
      </p:sp>
      <p:sp>
        <p:nvSpPr>
          <p:cNvPr id="5" name="右箭头 4"/>
          <p:cNvSpPr/>
          <p:nvPr/>
        </p:nvSpPr>
        <p:spPr>
          <a:xfrm>
            <a:off x="6688306" y="4305300"/>
            <a:ext cx="850900" cy="1397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831015" y="3733800"/>
            <a:ext cx="2121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One-hot</a:t>
            </a:r>
            <a:r>
              <a:rPr kumimoji="1" lang="zh-CN" altLang="en-US" dirty="0"/>
              <a:t> </a:t>
            </a:r>
            <a:r>
              <a:rPr kumimoji="1" lang="en-US" altLang="zh-CN" dirty="0"/>
              <a:t>vector</a:t>
            </a:r>
            <a:r>
              <a:rPr kumimoji="1" lang="zh-CN" altLang="en-US" dirty="0"/>
              <a:t> </a:t>
            </a:r>
            <a:r>
              <a:rPr kumimoji="1" lang="en-US" altLang="zh-CN" dirty="0"/>
              <a:t>t:</a:t>
            </a:r>
            <a:endParaRPr kumimoji="1"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8049469" y="4146376"/>
                <a:ext cx="353943" cy="26271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kumimoji="1" lang="zh-CN" altLang="en-US" dirty="0"/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9469" y="4146376"/>
                <a:ext cx="353943" cy="2627129"/>
              </a:xfrm>
              <a:prstGeom prst="rect">
                <a:avLst/>
              </a:prstGeom>
              <a:blipFill rotWithShape="1">
                <a:blip r:embed="rId2"/>
                <a:stretch>
                  <a:fillRect l="-59" t="-18" r="-23014" b="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/>
          <p:cNvSpPr txBox="1"/>
          <p:nvPr/>
        </p:nvSpPr>
        <p:spPr>
          <a:xfrm>
            <a:off x="8774331" y="4087761"/>
            <a:ext cx="298480" cy="27635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2100"/>
              </a:lnSpc>
            </a:pPr>
            <a:r>
              <a:rPr kumimoji="1" lang="en-US" altLang="zh-CN" sz="1600" dirty="0"/>
              <a:t>0</a:t>
            </a:r>
            <a:endParaRPr kumimoji="1" lang="en-US" altLang="zh-CN" sz="1600" dirty="0"/>
          </a:p>
          <a:p>
            <a:pPr>
              <a:lnSpc>
                <a:spcPts val="2100"/>
              </a:lnSpc>
            </a:pPr>
            <a:r>
              <a:rPr kumimoji="1" lang="en-US" altLang="zh-CN" sz="1600" dirty="0"/>
              <a:t>1</a:t>
            </a:r>
            <a:endParaRPr kumimoji="1" lang="en-US" altLang="zh-CN" sz="1600" dirty="0"/>
          </a:p>
          <a:p>
            <a:pPr>
              <a:lnSpc>
                <a:spcPts val="2100"/>
              </a:lnSpc>
            </a:pPr>
            <a:r>
              <a:rPr kumimoji="1" lang="en-US" altLang="zh-CN" sz="1600" dirty="0"/>
              <a:t>2</a:t>
            </a:r>
            <a:endParaRPr kumimoji="1" lang="en-US" altLang="zh-CN" sz="1600" dirty="0"/>
          </a:p>
          <a:p>
            <a:pPr>
              <a:lnSpc>
                <a:spcPts val="2100"/>
              </a:lnSpc>
            </a:pPr>
            <a:r>
              <a:rPr kumimoji="1" lang="en-US" altLang="zh-CN" sz="1600" dirty="0"/>
              <a:t>3</a:t>
            </a:r>
            <a:endParaRPr kumimoji="1" lang="en-US" altLang="zh-CN" sz="1600" dirty="0"/>
          </a:p>
          <a:p>
            <a:pPr>
              <a:lnSpc>
                <a:spcPts val="2100"/>
              </a:lnSpc>
            </a:pPr>
            <a:r>
              <a:rPr kumimoji="1" lang="en-US" altLang="zh-CN" sz="1600" dirty="0"/>
              <a:t>4</a:t>
            </a:r>
            <a:endParaRPr kumimoji="1" lang="en-US" altLang="zh-CN" sz="1600" dirty="0"/>
          </a:p>
          <a:p>
            <a:pPr>
              <a:lnSpc>
                <a:spcPts val="2100"/>
              </a:lnSpc>
            </a:pPr>
            <a:r>
              <a:rPr kumimoji="1" lang="en-US" altLang="zh-CN" sz="1600" dirty="0"/>
              <a:t>5</a:t>
            </a:r>
            <a:endParaRPr kumimoji="1" lang="en-US" altLang="zh-CN" sz="1600" dirty="0"/>
          </a:p>
          <a:p>
            <a:pPr>
              <a:lnSpc>
                <a:spcPts val="2100"/>
              </a:lnSpc>
            </a:pPr>
            <a:r>
              <a:rPr kumimoji="1" lang="en-US" altLang="zh-CN" sz="1600" dirty="0"/>
              <a:t>6</a:t>
            </a:r>
            <a:endParaRPr kumimoji="1" lang="en-US" altLang="zh-CN" sz="1600" dirty="0"/>
          </a:p>
          <a:p>
            <a:pPr>
              <a:lnSpc>
                <a:spcPts val="2100"/>
              </a:lnSpc>
            </a:pPr>
            <a:r>
              <a:rPr kumimoji="1" lang="en-US" altLang="zh-CN" sz="1600" dirty="0"/>
              <a:t>7</a:t>
            </a:r>
            <a:endParaRPr kumimoji="1" lang="en-US" altLang="zh-CN" sz="1600" dirty="0"/>
          </a:p>
          <a:p>
            <a:pPr>
              <a:lnSpc>
                <a:spcPts val="2100"/>
              </a:lnSpc>
            </a:pPr>
            <a:r>
              <a:rPr kumimoji="1" lang="en-US" altLang="zh-CN" sz="1600" dirty="0"/>
              <a:t>8</a:t>
            </a:r>
            <a:endParaRPr kumimoji="1" lang="en-US" altLang="zh-CN" sz="1600" dirty="0"/>
          </a:p>
          <a:p>
            <a:pPr>
              <a:lnSpc>
                <a:spcPts val="2100"/>
              </a:lnSpc>
            </a:pPr>
            <a:r>
              <a:rPr kumimoji="1" lang="en-US" altLang="zh-CN" sz="1600" dirty="0"/>
              <a:t>9</a:t>
            </a:r>
            <a:endParaRPr kumimoji="1" lang="zh-CN" altLang="en-US" sz="1600" dirty="0"/>
          </a:p>
        </p:txBody>
      </p:sp>
      <p:cxnSp>
        <p:nvCxnSpPr>
          <p:cNvPr id="15" name="直线箭头连接符 14"/>
          <p:cNvCxnSpPr/>
          <p:nvPr/>
        </p:nvCxnSpPr>
        <p:spPr>
          <a:xfrm>
            <a:off x="8403412" y="4258408"/>
            <a:ext cx="3709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/>
          <p:cNvCxnSpPr/>
          <p:nvPr/>
        </p:nvCxnSpPr>
        <p:spPr>
          <a:xfrm>
            <a:off x="8403412" y="4529071"/>
            <a:ext cx="3709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/>
          <p:cNvCxnSpPr/>
          <p:nvPr/>
        </p:nvCxnSpPr>
        <p:spPr>
          <a:xfrm>
            <a:off x="8403412" y="4799734"/>
            <a:ext cx="3709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箭头连接符 17"/>
          <p:cNvCxnSpPr/>
          <p:nvPr/>
        </p:nvCxnSpPr>
        <p:spPr>
          <a:xfrm>
            <a:off x="8403412" y="5070397"/>
            <a:ext cx="3709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箭头连接符 18"/>
          <p:cNvCxnSpPr/>
          <p:nvPr/>
        </p:nvCxnSpPr>
        <p:spPr>
          <a:xfrm>
            <a:off x="8403412" y="5341060"/>
            <a:ext cx="3709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箭头连接符 19"/>
          <p:cNvCxnSpPr/>
          <p:nvPr/>
        </p:nvCxnSpPr>
        <p:spPr>
          <a:xfrm>
            <a:off x="8403412" y="5611723"/>
            <a:ext cx="3709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箭头连接符 20"/>
          <p:cNvCxnSpPr/>
          <p:nvPr/>
        </p:nvCxnSpPr>
        <p:spPr>
          <a:xfrm>
            <a:off x="8403412" y="5882386"/>
            <a:ext cx="3709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箭头连接符 21"/>
          <p:cNvCxnSpPr/>
          <p:nvPr/>
        </p:nvCxnSpPr>
        <p:spPr>
          <a:xfrm>
            <a:off x="8403412" y="6153049"/>
            <a:ext cx="3709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箭头连接符 22"/>
          <p:cNvCxnSpPr/>
          <p:nvPr/>
        </p:nvCxnSpPr>
        <p:spPr>
          <a:xfrm>
            <a:off x="8403412" y="6423712"/>
            <a:ext cx="3709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线箭头连接符 23"/>
          <p:cNvCxnSpPr/>
          <p:nvPr/>
        </p:nvCxnSpPr>
        <p:spPr>
          <a:xfrm>
            <a:off x="8403412" y="6694375"/>
            <a:ext cx="3709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椭圆 24"/>
          <p:cNvSpPr/>
          <p:nvPr/>
        </p:nvSpPr>
        <p:spPr>
          <a:xfrm>
            <a:off x="7831015" y="5965685"/>
            <a:ext cx="1383323" cy="30106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GB" altLang="zh-CN" dirty="0">
                <a:solidFill>
                  <a:schemeClr val="bg1"/>
                </a:solidFill>
              </a:rPr>
              <a:t>Handwritten character recognition </a:t>
            </a:r>
            <a:r>
              <a:rPr kumimoji="1" lang="en-US" altLang="zh-CN" dirty="0"/>
              <a:t>ANN</a:t>
            </a:r>
            <a:r>
              <a:rPr kumimoji="1" lang="zh-CN" altLang="en-US" dirty="0"/>
              <a:t> </a:t>
            </a:r>
            <a:r>
              <a:rPr kumimoji="1" lang="en-US" altLang="zh-CN" dirty="0"/>
              <a:t>network</a:t>
            </a:r>
            <a:r>
              <a:rPr kumimoji="1" lang="zh-CN" altLang="en-US" dirty="0"/>
              <a:t> </a:t>
            </a:r>
            <a:r>
              <a:rPr kumimoji="1" lang="en-US" altLang="zh-CN" dirty="0"/>
              <a:t>structure</a:t>
            </a:r>
            <a:r>
              <a:rPr kumimoji="1" lang="zh-CN" altLang="en-US" dirty="0"/>
              <a:t>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48078" y="2576767"/>
            <a:ext cx="5636855" cy="3416300"/>
          </a:xfrm>
        </p:spPr>
        <p:txBody>
          <a:bodyPr/>
          <a:lstStyle/>
          <a:p>
            <a:r>
              <a:rPr kumimoji="1" lang="en-US" altLang="zh-CN" dirty="0"/>
              <a:t>Suppose 100 training samples, each sample: 28*28, feature: 784</a:t>
            </a:r>
            <a:endParaRPr kumimoji="1" lang="en-US" altLang="zh-CN" dirty="0"/>
          </a:p>
          <a:p>
            <a:r>
              <a:rPr kumimoji="1" lang="en-US" altLang="zh-CN" dirty="0"/>
              <a:t>Layer 1: Input Layer, size</a:t>
            </a:r>
            <a:r>
              <a:rPr kumimoji="1" lang="zh-CN" altLang="en-US" dirty="0"/>
              <a:t> </a:t>
            </a:r>
            <a:r>
              <a:rPr kumimoji="1" lang="en-US" altLang="zh-CN" dirty="0"/>
              <a:t>D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784</a:t>
            </a:r>
            <a:endParaRPr kumimoji="1" lang="en-US" altLang="zh-CN" dirty="0"/>
          </a:p>
          <a:p>
            <a:r>
              <a:rPr kumimoji="1" lang="en-US" altLang="zh-CN" dirty="0"/>
              <a:t>Layer 2: Hidden Layer 1, size M = 300</a:t>
            </a:r>
            <a:endParaRPr kumimoji="1" lang="en-US" altLang="zh-CN" dirty="0"/>
          </a:p>
          <a:p>
            <a:r>
              <a:rPr kumimoji="1" lang="en-US" altLang="zh-CN" dirty="0"/>
              <a:t>Layer 3: Hidden Layer 2, size N</a:t>
            </a:r>
            <a:r>
              <a:rPr kumimoji="1" lang="zh-CN" altLang="en-US" dirty="0"/>
              <a:t> </a:t>
            </a:r>
            <a:r>
              <a:rPr kumimoji="1" lang="en-US" altLang="zh-CN" dirty="0"/>
              <a:t>= 100</a:t>
            </a:r>
            <a:endParaRPr kumimoji="1" lang="en-US" altLang="zh-CN" dirty="0"/>
          </a:p>
          <a:p>
            <a:r>
              <a:rPr kumimoji="1" lang="en-US" altLang="zh-CN" dirty="0"/>
              <a:t>Layer 4: Output Layer, size K</a:t>
            </a:r>
            <a:r>
              <a:rPr kumimoji="1" lang="zh-CN" altLang="en-US" dirty="0"/>
              <a:t> </a:t>
            </a:r>
            <a:r>
              <a:rPr kumimoji="1" lang="en-US" altLang="zh-CN" dirty="0"/>
              <a:t>= 10</a:t>
            </a:r>
            <a:endParaRPr kumimoji="1" lang="en-US" altLang="zh-CN" dirty="0"/>
          </a:p>
          <a:p>
            <a:endParaRPr kumimoji="1"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13" y="2603568"/>
            <a:ext cx="4899545" cy="2684682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7886700" y="2603568"/>
            <a:ext cx="605790" cy="2322762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609301" y="5288250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784</a:t>
            </a:r>
            <a:endParaRPr kumimoji="1" lang="zh-CN" altLang="en-US" b="1" dirty="0"/>
          </a:p>
        </p:txBody>
      </p:sp>
      <p:sp>
        <p:nvSpPr>
          <p:cNvPr id="8" name="文本框 7"/>
          <p:cNvSpPr txBox="1"/>
          <p:nvPr/>
        </p:nvSpPr>
        <p:spPr>
          <a:xfrm>
            <a:off x="7830606" y="5284544"/>
            <a:ext cx="574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300</a:t>
            </a:r>
            <a:endParaRPr kumimoji="1" lang="zh-CN" altLang="en-US" b="1" dirty="0"/>
          </a:p>
        </p:txBody>
      </p:sp>
      <p:sp>
        <p:nvSpPr>
          <p:cNvPr id="9" name="文本框 8"/>
          <p:cNvSpPr txBox="1"/>
          <p:nvPr/>
        </p:nvSpPr>
        <p:spPr>
          <a:xfrm>
            <a:off x="9235521" y="5284544"/>
            <a:ext cx="574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100</a:t>
            </a:r>
            <a:endParaRPr kumimoji="1" lang="zh-CN" altLang="en-US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10633791" y="5263619"/>
            <a:ext cx="444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10</a:t>
            </a:r>
            <a:endParaRPr kumimoji="1" lang="zh-CN" alt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6404273" y="2310257"/>
                <a:ext cx="5669565" cy="3808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kumimoji="1" lang="en-US" altLang="zh-CN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kumimoji="1" lang="en-US" altLang="zh-CN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kumimoji="1" lang="zh-CN" altLang="en-US" dirty="0"/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4273" y="2310257"/>
                <a:ext cx="5669565" cy="380810"/>
              </a:xfrm>
              <a:prstGeom prst="rect">
                <a:avLst/>
              </a:prstGeom>
              <a:blipFill rotWithShape="1">
                <a:blip r:embed="rId2"/>
                <a:stretch>
                  <a:fillRect l="-5" t="-33" r="10" b="1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ANN-Input Layer to Hidden Layer 1</a:t>
            </a:r>
            <a:endParaRPr kumimoji="1"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334368" y="2381530"/>
                <a:ext cx="6639637" cy="429222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kumimoji="1" lang="en-US" altLang="zh-CN" sz="1000" dirty="0"/>
              </a:p>
              <a:p>
                <a:r>
                  <a:rPr kumimoji="1" lang="en-US" altLang="zh-CN" sz="1400" dirty="0"/>
                  <a:t>Input: 100(samples</a:t>
                </a:r>
                <a:r>
                  <a:rPr kumimoji="1" lang="zh-CN" altLang="en-US" sz="1400" dirty="0"/>
                  <a:t> </a:t>
                </a:r>
                <a:r>
                  <a:rPr kumimoji="1" lang="en-US" altLang="zh-CN" sz="1400" dirty="0"/>
                  <a:t>number)</a:t>
                </a:r>
                <a:r>
                  <a:rPr kumimoji="1" lang="zh-CN" altLang="en-US" sz="1400" dirty="0"/>
                  <a:t> *</a:t>
                </a:r>
                <a:r>
                  <a:rPr kumimoji="1" lang="en-US" altLang="zh-CN" sz="1400" dirty="0"/>
                  <a:t> 784(feature)</a:t>
                </a:r>
                <a:endParaRPr kumimoji="1" lang="en-US" altLang="zh-CN" sz="1400" dirty="0"/>
              </a:p>
              <a:p>
                <a:r>
                  <a:rPr kumimoji="1" lang="en-US" altLang="zh-CN" sz="1400" dirty="0"/>
                  <a:t>Input to Hidden Layer 1:  Weight Matrix: 784</a:t>
                </a:r>
                <a:r>
                  <a:rPr kumimoji="1" lang="zh-CN" altLang="en-US" sz="1400" dirty="0"/>
                  <a:t>*</a:t>
                </a:r>
                <a:r>
                  <a:rPr kumimoji="1" lang="en-US" altLang="zh-CN" sz="1400" dirty="0"/>
                  <a:t>300, </a:t>
                </a:r>
                <a14:m>
                  <m:oMath xmlns:m="http://schemas.openxmlformats.org/officeDocument/2006/math">
                    <m:r>
                      <a:rPr kumimoji="1" lang="en-US" altLang="zh-CN" sz="14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kumimoji="1" lang="en-US" altLang="zh-CN" sz="1400" dirty="0"/>
                  <a:t>: 1</a:t>
                </a:r>
                <a:r>
                  <a:rPr kumimoji="1" lang="zh-CN" altLang="en-US" sz="1400" dirty="0"/>
                  <a:t>*</a:t>
                </a:r>
                <a:r>
                  <a:rPr kumimoji="1" lang="en-US" altLang="zh-CN" sz="1400" dirty="0"/>
                  <a:t>300</a:t>
                </a:r>
                <a:endParaRPr kumimoji="1" lang="en-US" altLang="zh-CN" sz="1400" dirty="0"/>
              </a:p>
              <a:p>
                <a:r>
                  <a:rPr kumimoji="1" lang="en-US" altLang="zh-CN" sz="1400" dirty="0"/>
                  <a:t>Weighted Sum for </a:t>
                </a:r>
                <a14:m>
                  <m:oMath xmlns:m="http://schemas.openxmlformats.org/officeDocument/2006/math">
                    <m:r>
                      <a:rPr kumimoji="1" lang="en-US" altLang="zh-CN" sz="1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kumimoji="1" lang="en-US" altLang="zh-CN" sz="1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zh-CN" sz="1400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𝑡ℎ</m:t>
                    </m:r>
                  </m:oMath>
                </a14:m>
                <a:r>
                  <a:rPr kumimoji="1" lang="en-US" altLang="zh-CN" sz="1400" dirty="0"/>
                  <a:t> neurons of hidden layer 1: </a:t>
                </a:r>
                <a:endParaRPr kumimoji="1" lang="en-US" altLang="zh-CN" sz="1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kumimoji="1" lang="en-US" altLang="zh-CN" sz="140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1400"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  <m:sup>
                          <m:r>
                            <a:rPr kumimoji="1" lang="en-US" altLang="zh-CN" sz="14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sz="140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zh-CN" sz="140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kumimoji="1" lang="en-US" altLang="zh-CN" sz="14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is-IS" altLang="zh-CN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140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14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zh-CN" sz="14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kumimoji="1" lang="en-US" altLang="zh-CN" sz="1400"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  <m:e>
                          <m:sSubSup>
                            <m:sSubSupPr>
                              <m:ctrlPr>
                                <a:rPr kumimoji="1"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sz="140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zh-CN" sz="1400">
                                  <a:latin typeface="Cambria Math" panose="02040503050406030204" pitchFamily="18" charset="0"/>
                                </a:rPr>
                                <m:t>𝑗𝑖</m:t>
                              </m:r>
                            </m:sub>
                            <m:sup>
                              <m:r>
                                <a:rPr kumimoji="1" lang="en-US" altLang="zh-CN" sz="140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sz="1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kumimoji="1" lang="en-US" altLang="zh-CN" sz="140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kumimoji="1"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kumimoji="1" lang="en-US" altLang="zh-CN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sz="1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kumimoji="1" lang="en-US" altLang="zh-CN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nary>
                      <m:r>
                        <a:rPr kumimoji="1" lang="en-US" altLang="zh-CN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kumimoji="1" lang="en-US" altLang="zh-CN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sz="1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zh-CN" sz="140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kumimoji="1" lang="en-US" altLang="zh-CN" sz="14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sz="140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zh-CN" sz="140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en-US" altLang="zh-CN" sz="1400" dirty="0"/>
              </a:p>
              <a:p>
                <a:r>
                  <a:rPr kumimoji="1" lang="en-US" altLang="zh-CN" sz="1400" dirty="0"/>
                  <a:t>After activation function, output of j-</a:t>
                </a:r>
                <a:r>
                  <a:rPr kumimoji="1" lang="en-US" altLang="zh-CN" sz="1400" dirty="0" err="1"/>
                  <a:t>th</a:t>
                </a:r>
                <a:r>
                  <a:rPr kumimoji="1" lang="en-US" altLang="zh-CN" sz="1400" dirty="0"/>
                  <a:t> neuron: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zh-CN" sz="1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zh-CN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1400"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  <m:sup>
                        <m:r>
                          <a:rPr kumimoji="1" lang="en-US" altLang="zh-CN" sz="14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sz="140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kumimoji="1" lang="en-US" altLang="zh-CN" sz="140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kumimoji="1" lang="en-US" altLang="zh-CN" sz="140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1400">
                        <a:latin typeface="Cambria Math" panose="02040503050406030204" pitchFamily="18" charset="0"/>
                      </a:rPr>
                      <m:t>𝑓</m:t>
                    </m:r>
                    <m:r>
                      <a:rPr kumimoji="1" lang="en-US" altLang="zh-CN" sz="1400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kumimoji="1" lang="en-US" altLang="zh-CN" sz="1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kumimoji="1" lang="en-US" altLang="zh-CN" sz="140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1400"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  <m:sup>
                        <m:d>
                          <m:dPr>
                            <m:ctrlPr>
                              <a:rPr kumimoji="1"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sz="140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bSup>
                    <m:r>
                      <a:rPr kumimoji="1" lang="en-US" altLang="zh-CN" sz="14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en-US" altLang="zh-CN" sz="1400" dirty="0"/>
              </a:p>
              <a:p>
                <a:r>
                  <a:rPr kumimoji="1" lang="en-US" altLang="zh-CN" sz="1400" dirty="0"/>
                  <a:t>Output of Hidden Layer 1,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kumimoji="1" lang="en-US" altLang="zh-CN" sz="14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sz="140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kumimoji="1" lang="en-US" altLang="zh-CN" sz="140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kumimoji="1" lang="en-US" altLang="zh-CN" sz="1400" dirty="0"/>
                  <a:t>: 100(samples</a:t>
                </a:r>
                <a:r>
                  <a:rPr kumimoji="1" lang="zh-CN" altLang="en-US" sz="1400" dirty="0"/>
                  <a:t> </a:t>
                </a:r>
                <a:r>
                  <a:rPr kumimoji="1" lang="en-US" altLang="zh-CN" sz="1400" dirty="0"/>
                  <a:t>number)</a:t>
                </a:r>
                <a:r>
                  <a:rPr kumimoji="1" lang="zh-CN" altLang="en-US" sz="1400" dirty="0"/>
                  <a:t>*</a:t>
                </a:r>
                <a:r>
                  <a:rPr kumimoji="1" lang="en-US" altLang="zh-CN" sz="1400" dirty="0"/>
                  <a:t> 300 (feature) </a:t>
                </a:r>
                <a:r>
                  <a:rPr kumimoji="1" lang="zh-CN" altLang="en-US" sz="1400" dirty="0"/>
                  <a:t> </a:t>
                </a:r>
                <a:r>
                  <a:rPr kumimoji="1" lang="en-US" altLang="zh-CN" sz="1400" dirty="0"/>
                  <a:t>matrix</a:t>
                </a:r>
                <a:endParaRPr kumimoji="1" lang="en-US" altLang="zh-CN" sz="1400" dirty="0"/>
              </a:p>
              <a:p>
                <a:r>
                  <a:rPr kumimoji="1" lang="en-US" altLang="zh-CN" sz="1400" dirty="0">
                    <a:solidFill>
                      <a:srgbClr val="FF0000"/>
                    </a:solidFill>
                    <a:ea typeface="Cambria Math" panose="02040503050406030204" pitchFamily="18" charset="0"/>
                    <a:cs typeface="Cambria Math" panose="02040503050406030204" pitchFamily="18" charset="0"/>
                  </a:rPr>
                  <a:t>f</a:t>
                </a:r>
                <a14:m>
                  <m:oMath xmlns:m="http://schemas.openxmlformats.org/officeDocument/2006/math">
                    <m:r>
                      <a:rPr kumimoji="1" lang="en-US" altLang="zh-CN" sz="14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kumimoji="1" lang="en-US" altLang="zh-CN" sz="1400" dirty="0" err="1">
                    <a:solidFill>
                      <a:srgbClr val="FF0000"/>
                    </a:solidFill>
                  </a:rPr>
                  <a:t>Relu</a:t>
                </a:r>
                <a:r>
                  <a:rPr kumimoji="1" lang="zh-CN" altLang="en-US" sz="1400" dirty="0">
                    <a:solidFill>
                      <a:srgbClr val="FF0000"/>
                    </a:solidFill>
                  </a:rPr>
                  <a:t> </a:t>
                </a:r>
                <a:r>
                  <a:rPr kumimoji="1" lang="en-US" altLang="zh-CN" sz="1400" dirty="0">
                    <a:solidFill>
                      <a:srgbClr val="FF0000"/>
                    </a:solidFill>
                  </a:rPr>
                  <a:t>function</a:t>
                </a:r>
                <a:endParaRPr kumimoji="1"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4368" y="2381530"/>
                <a:ext cx="6639637" cy="4292221"/>
              </a:xfrm>
              <a:blipFill rotWithShape="1">
                <a:blip r:embed="rId1"/>
                <a:stretch>
                  <a:fillRect l="-5" t="-7" r="7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3923" y="2489268"/>
            <a:ext cx="4899545" cy="268468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矩形 4"/>
              <p:cNvSpPr/>
              <p:nvPr/>
            </p:nvSpPr>
            <p:spPr>
              <a:xfrm>
                <a:off x="6897649" y="2195957"/>
                <a:ext cx="2476087" cy="3808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1" lang="zh-CN" altLang="en-US" b="0" i="1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kumimoji="1" lang="en-US" altLang="zh-CN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kumimoji="1" lang="zh-CN" altLang="en-US" b="0" i="1" smtClean="0">
                          <a:latin typeface="Cambria Math" panose="02040503050406030204" pitchFamily="18" charset="0"/>
                        </a:rPr>
                        <m:t>   </m:t>
                      </m:r>
                      <m:sSup>
                        <m:sSupPr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zh-CN" altLang="en-US" b="0" i="1" smtClean="0"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7649" y="2195957"/>
                <a:ext cx="2476087" cy="380810"/>
              </a:xfrm>
              <a:prstGeom prst="rect">
                <a:avLst/>
              </a:prstGeom>
              <a:blipFill rotWithShape="1">
                <a:blip r:embed="rId3"/>
                <a:stretch>
                  <a:fillRect l="-11" t="-33" r="20" b="1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/>
          <p:cNvSpPr/>
          <p:nvPr/>
        </p:nvSpPr>
        <p:spPr>
          <a:xfrm>
            <a:off x="8195310" y="2489268"/>
            <a:ext cx="605790" cy="2322762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8" name="直线箭头连接符 7"/>
          <p:cNvCxnSpPr>
            <a:endCxn id="9" idx="0"/>
          </p:cNvCxnSpPr>
          <p:nvPr/>
        </p:nvCxnSpPr>
        <p:spPr>
          <a:xfrm>
            <a:off x="8423910" y="4812030"/>
            <a:ext cx="795774" cy="117055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8321040" y="5982586"/>
            <a:ext cx="1797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Hidden</a:t>
            </a:r>
            <a:r>
              <a:rPr kumimoji="1" lang="zh-CN" altLang="en-US" dirty="0"/>
              <a:t> </a:t>
            </a:r>
            <a:r>
              <a:rPr kumimoji="1" lang="en-US" altLang="zh-CN" dirty="0"/>
              <a:t>Layer1</a:t>
            </a:r>
            <a:endParaRPr kumimoji="1"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6917911" y="5173950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784</a:t>
            </a:r>
            <a:endParaRPr kumimoji="1" lang="zh-CN" altLang="en-US" b="1" dirty="0"/>
          </a:p>
        </p:txBody>
      </p:sp>
      <p:sp>
        <p:nvSpPr>
          <p:cNvPr id="12" name="文本框 11"/>
          <p:cNvSpPr txBox="1"/>
          <p:nvPr/>
        </p:nvSpPr>
        <p:spPr>
          <a:xfrm>
            <a:off x="8139216" y="5170244"/>
            <a:ext cx="574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300</a:t>
            </a:r>
            <a:endParaRPr kumimoji="1" lang="zh-CN" altLang="en-US" b="1" dirty="0"/>
          </a:p>
        </p:txBody>
      </p:sp>
      <p:sp>
        <p:nvSpPr>
          <p:cNvPr id="13" name="文本框 12"/>
          <p:cNvSpPr txBox="1"/>
          <p:nvPr/>
        </p:nvSpPr>
        <p:spPr>
          <a:xfrm>
            <a:off x="9544131" y="5170244"/>
            <a:ext cx="574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100</a:t>
            </a:r>
            <a:endParaRPr kumimoji="1" lang="zh-CN" altLang="en-US" b="1" dirty="0"/>
          </a:p>
        </p:txBody>
      </p:sp>
      <p:sp>
        <p:nvSpPr>
          <p:cNvPr id="14" name="文本框 13"/>
          <p:cNvSpPr txBox="1"/>
          <p:nvPr/>
        </p:nvSpPr>
        <p:spPr>
          <a:xfrm>
            <a:off x="10942401" y="5149319"/>
            <a:ext cx="444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10</a:t>
            </a:r>
            <a:endParaRPr kumimoji="1" lang="zh-CN" altLang="en-US" b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ANN-Hidden Layer 1 to Hidden Layer 2</a:t>
            </a:r>
            <a:endParaRPr kumimoji="1"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45575" y="2374702"/>
                <a:ext cx="6728348" cy="429222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kumimoji="1" lang="en-US" altLang="zh-CN" sz="1000" dirty="0"/>
              </a:p>
              <a:p>
                <a:r>
                  <a:rPr kumimoji="1" lang="en-US" altLang="zh-CN" sz="1400" dirty="0"/>
                  <a:t>For</a:t>
                </a:r>
                <a:r>
                  <a:rPr kumimoji="1" lang="zh-CN" altLang="en-US" sz="1400" dirty="0"/>
                  <a:t> </a:t>
                </a:r>
                <a:r>
                  <a:rPr kumimoji="1" lang="en-US" altLang="zh-CN" sz="1400" dirty="0"/>
                  <a:t>Hidden</a:t>
                </a:r>
                <a:r>
                  <a:rPr kumimoji="1" lang="zh-CN" altLang="en-US" sz="1400" dirty="0"/>
                  <a:t> </a:t>
                </a:r>
                <a:r>
                  <a:rPr kumimoji="1" lang="en-US" altLang="zh-CN" sz="1400" dirty="0"/>
                  <a:t>Layer</a:t>
                </a:r>
                <a:r>
                  <a:rPr kumimoji="1" lang="zh-CN" altLang="en-US" sz="1400" dirty="0"/>
                  <a:t> </a:t>
                </a:r>
                <a:r>
                  <a:rPr kumimoji="1" lang="en-US" altLang="zh-CN" sz="1400" dirty="0"/>
                  <a:t>2:</a:t>
                </a:r>
                <a:r>
                  <a:rPr kumimoji="1" lang="zh-CN" altLang="en-US" sz="1400" dirty="0"/>
                  <a:t> </a:t>
                </a:r>
                <a:r>
                  <a:rPr kumimoji="1" lang="en-US" altLang="zh-CN" sz="1400" dirty="0"/>
                  <a:t>Input</a:t>
                </a:r>
                <a:r>
                  <a:rPr kumimoji="1" lang="zh-CN" altLang="en-US" sz="1400" dirty="0"/>
                  <a:t> </a:t>
                </a:r>
                <a:r>
                  <a:rPr kumimoji="1" lang="en-US" altLang="zh-CN" sz="1400" dirty="0"/>
                  <a:t>data</a:t>
                </a:r>
                <a:r>
                  <a:rPr kumimoji="1" lang="zh-CN" altLang="en-US" sz="1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kumimoji="1" lang="en-US" altLang="zh-CN" sz="1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sz="14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kumimoji="1" lang="en-US" altLang="zh-CN" sz="1400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kumimoji="1" lang="zh-CN" altLang="en-US" sz="1400" dirty="0"/>
                  <a:t> </a:t>
                </a:r>
                <a:r>
                  <a:rPr kumimoji="1" lang="en-US" altLang="zh-CN" sz="1400" dirty="0"/>
                  <a:t>: 100(samples</a:t>
                </a:r>
                <a:r>
                  <a:rPr kumimoji="1" lang="zh-CN" altLang="en-US" sz="1400" dirty="0"/>
                  <a:t> </a:t>
                </a:r>
                <a:r>
                  <a:rPr kumimoji="1" lang="en-US" altLang="zh-CN" sz="1400" dirty="0"/>
                  <a:t>number)</a:t>
                </a:r>
                <a:r>
                  <a:rPr kumimoji="1" lang="zh-CN" altLang="en-US" sz="1400" dirty="0"/>
                  <a:t>*</a:t>
                </a:r>
                <a:r>
                  <a:rPr kumimoji="1" lang="en-US" altLang="zh-CN" sz="1400" dirty="0"/>
                  <a:t> 300 (feature) </a:t>
                </a:r>
                <a:endParaRPr kumimoji="1" lang="en-US" altLang="zh-CN" sz="1400" dirty="0"/>
              </a:p>
              <a:p>
                <a:r>
                  <a:rPr kumimoji="1" lang="en-US" altLang="zh-CN" sz="1400" dirty="0"/>
                  <a:t>Hidden Layer 1 to Hidden Layer 2:  Weight Matrix: 300</a:t>
                </a:r>
                <a:r>
                  <a:rPr kumimoji="1" lang="zh-CN" altLang="en-US" sz="1400" dirty="0"/>
                  <a:t>*</a:t>
                </a:r>
                <a:r>
                  <a:rPr kumimoji="1" lang="en-US" altLang="zh-CN" sz="1400" dirty="0"/>
                  <a:t>100, </a:t>
                </a:r>
                <a14:m>
                  <m:oMath xmlns:m="http://schemas.openxmlformats.org/officeDocument/2006/math">
                    <m:r>
                      <a:rPr kumimoji="1" lang="en-US" altLang="zh-CN" sz="1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kumimoji="1" lang="en-US" altLang="zh-CN" sz="1400" dirty="0"/>
                  <a:t>: 1</a:t>
                </a:r>
                <a:r>
                  <a:rPr kumimoji="1" lang="zh-CN" altLang="en-US" sz="1400" dirty="0"/>
                  <a:t>*</a:t>
                </a:r>
                <a:r>
                  <a:rPr kumimoji="1" lang="en-US" altLang="zh-CN" sz="1400" dirty="0"/>
                  <a:t>100</a:t>
                </a:r>
                <a:endParaRPr kumimoji="1" lang="en-US" altLang="zh-CN" sz="1400" dirty="0"/>
              </a:p>
              <a:p>
                <a:r>
                  <a:rPr kumimoji="1" lang="en-US" altLang="zh-CN" sz="1400" dirty="0"/>
                  <a:t>Weighted Sum for </a:t>
                </a:r>
                <a14:m>
                  <m:oMath xmlns:m="http://schemas.openxmlformats.org/officeDocument/2006/math">
                    <m:r>
                      <a:rPr kumimoji="1" lang="en-US" altLang="zh-CN" sz="1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kumimoji="1" lang="en-US" altLang="zh-CN" sz="1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zh-CN" sz="1400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𝑡ℎ</m:t>
                    </m:r>
                  </m:oMath>
                </a14:m>
                <a:r>
                  <a:rPr kumimoji="1" lang="en-US" altLang="zh-CN" sz="1400" dirty="0"/>
                  <a:t> neurons of hidden layer 2: </a:t>
                </a:r>
                <a:endParaRPr kumimoji="1" lang="en-US" altLang="zh-CN" sz="1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sz="1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kumimoji="1" lang="en-US" altLang="zh-CN" sz="1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zh-CN" sz="1400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kumimoji="1" lang="en-US" altLang="zh-CN" sz="1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is-IS" altLang="zh-CN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kumimoji="1" lang="en-US" altLang="zh-CN" sz="1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kumimoji="1" lang="en-US" altLang="zh-CN" sz="14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zh-CN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kumimoji="1" lang="en-US" altLang="zh-CN" sz="1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sSubSup>
                            <m:sSubSupPr>
                              <m:ctrlPr>
                                <a:rPr kumimoji="1"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sz="1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</a:rPr>
                                <m:t>𝑘𝑗</m:t>
                              </m:r>
                            </m:sub>
                            <m:sup>
                              <m:r>
                                <a:rPr kumimoji="1" lang="en-US" altLang="zh-CN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kumimoji="1" lang="en-US" altLang="zh-CN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kumimoji="1"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sz="1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kumimoji="1" lang="en-US" altLang="zh-CN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kumimoji="1" lang="en-US" altLang="zh-CN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nary>
                      <m:r>
                        <a:rPr kumimoji="1" lang="en-US" altLang="zh-CN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kumimoji="1" lang="en-US" altLang="zh-CN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sz="1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zh-CN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kumimoji="1" lang="en-US" altLang="zh-CN" sz="1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sz="14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zh-CN" sz="1400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en-US" altLang="zh-CN" sz="1400" dirty="0"/>
              </a:p>
              <a:p>
                <a:r>
                  <a:rPr kumimoji="1" lang="en-US" altLang="zh-CN" sz="1400" dirty="0"/>
                  <a:t>After activation function, output of k-</a:t>
                </a:r>
                <a:r>
                  <a:rPr kumimoji="1" lang="en-US" altLang="zh-CN" sz="1400" dirty="0" err="1"/>
                  <a:t>th</a:t>
                </a:r>
                <a:r>
                  <a:rPr kumimoji="1" lang="en-US" altLang="zh-CN" sz="1400" dirty="0"/>
                  <a:t> neuron: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zh-CN" sz="1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zh-CN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sz="1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kumimoji="1" lang="en-US" altLang="zh-CN" sz="1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sz="14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1" lang="en-US" altLang="zh-CN" sz="1400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kumimoji="1" lang="en-US" altLang="zh-CN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1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kumimoji="1" lang="en-US" altLang="zh-CN" sz="1400" i="1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kumimoji="1" lang="en-US" altLang="zh-CN" sz="1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kumimoji="1" lang="en-US" altLang="zh-CN" sz="1400" i="1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kumimoji="1" lang="en-US" altLang="zh-CN" sz="1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d>
                          <m:dPr>
                            <m:ctrlPr>
                              <a:rPr kumimoji="1"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sz="1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bSup>
                    <m:r>
                      <a:rPr kumimoji="1" lang="en-US" altLang="zh-CN" sz="1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en-US" altLang="zh-CN" sz="1400" dirty="0"/>
              </a:p>
              <a:p>
                <a:r>
                  <a:rPr kumimoji="1" lang="en-US" altLang="zh-CN" sz="1400" dirty="0"/>
                  <a:t>Output of Hidden Layer 2,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kumimoji="1" lang="en-US" altLang="zh-CN" sz="14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sz="1400" b="0" i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1" lang="en-US" altLang="zh-CN" sz="140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kumimoji="1" lang="en-US" altLang="zh-CN" sz="1400" dirty="0"/>
                  <a:t>: 100(samples</a:t>
                </a:r>
                <a:r>
                  <a:rPr kumimoji="1" lang="zh-CN" altLang="en-US" sz="1400" dirty="0"/>
                  <a:t> </a:t>
                </a:r>
                <a:r>
                  <a:rPr kumimoji="1" lang="en-US" altLang="zh-CN" sz="1400" dirty="0"/>
                  <a:t>number)</a:t>
                </a:r>
                <a:r>
                  <a:rPr kumimoji="1" lang="zh-CN" altLang="en-US" sz="1400" dirty="0"/>
                  <a:t> *</a:t>
                </a:r>
                <a:r>
                  <a:rPr kumimoji="1" lang="en-US" altLang="zh-CN" sz="1400" dirty="0"/>
                  <a:t>100 (feature) </a:t>
                </a:r>
                <a:r>
                  <a:rPr kumimoji="1" lang="zh-CN" altLang="en-US" sz="1400" dirty="0"/>
                  <a:t> </a:t>
                </a:r>
                <a:r>
                  <a:rPr kumimoji="1" lang="en-US" altLang="zh-CN" sz="1400" dirty="0"/>
                  <a:t>matrix</a:t>
                </a:r>
                <a:endParaRPr kumimoji="1" lang="en-US" altLang="zh-CN" sz="1400" dirty="0"/>
              </a:p>
              <a:p>
                <a:r>
                  <a:rPr kumimoji="1" lang="en-US" altLang="zh-CN" sz="1400" dirty="0">
                    <a:solidFill>
                      <a:srgbClr val="FF0000"/>
                    </a:solidFill>
                    <a:ea typeface="Cambria Math" panose="02040503050406030204" pitchFamily="18" charset="0"/>
                    <a:cs typeface="Cambria Math" panose="02040503050406030204" pitchFamily="18" charset="0"/>
                  </a:rPr>
                  <a:t>f</a:t>
                </a:r>
                <a14:m>
                  <m:oMath xmlns:m="http://schemas.openxmlformats.org/officeDocument/2006/math">
                    <m:r>
                      <a:rPr kumimoji="1" lang="en-US" altLang="zh-CN" sz="14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kumimoji="1" lang="en-US" altLang="zh-CN" sz="1400" dirty="0">
                    <a:solidFill>
                      <a:srgbClr val="FF0000"/>
                    </a:solidFill>
                  </a:rPr>
                  <a:t>Relu</a:t>
                </a:r>
                <a:r>
                  <a:rPr kumimoji="1" lang="zh-CN" altLang="en-US" sz="1400" dirty="0">
                    <a:solidFill>
                      <a:srgbClr val="FF0000"/>
                    </a:solidFill>
                  </a:rPr>
                  <a:t> </a:t>
                </a:r>
                <a:r>
                  <a:rPr kumimoji="1" lang="en-US" altLang="zh-CN" sz="1400" dirty="0">
                    <a:solidFill>
                      <a:srgbClr val="FF0000"/>
                    </a:solidFill>
                  </a:rPr>
                  <a:t>function</a:t>
                </a:r>
                <a:endParaRPr kumimoji="1" lang="en-US" altLang="zh-CN" sz="1400" dirty="0">
                  <a:solidFill>
                    <a:srgbClr val="FF0000"/>
                  </a:solidFill>
                </a:endParaRPr>
              </a:p>
              <a:p>
                <a:endParaRPr kumimoji="1" lang="en-US" altLang="zh-CN" sz="1400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5575" y="2374702"/>
                <a:ext cx="6728348" cy="4292221"/>
              </a:xfrm>
              <a:blipFill rotWithShape="1">
                <a:blip r:embed="rId1"/>
                <a:stretch>
                  <a:fillRect l="-2" t="-10" r="1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3923" y="2489268"/>
            <a:ext cx="4899545" cy="268468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矩形 4"/>
              <p:cNvSpPr/>
              <p:nvPr/>
            </p:nvSpPr>
            <p:spPr>
              <a:xfrm>
                <a:off x="8542158" y="2184297"/>
                <a:ext cx="2352893" cy="3808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kumimoji="1" lang="en-US" altLang="zh-CN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zh-CN" altLang="en-US" b="0" i="1" smtClean="0">
                            <a:latin typeface="Cambria Math" panose="02040503050406030204" pitchFamily="18" charset="0"/>
                          </a:rPr>
                          <m:t>    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→</m:t>
                    </m:r>
                    <m:r>
                      <a:rPr kumimoji="1" lang="zh-CN" altLang="en-US" b="0" i="1" smtClean="0">
                        <a:latin typeface="Cambria Math" panose="02040503050406030204" pitchFamily="18" charset="0"/>
                      </a:rPr>
                      <m:t>   </m:t>
                    </m:r>
                    <m:sSup>
                      <m:sSup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2158" y="2184297"/>
                <a:ext cx="2352893" cy="380810"/>
              </a:xfrm>
              <a:prstGeom prst="rect">
                <a:avLst/>
              </a:prstGeom>
              <a:blipFill rotWithShape="1">
                <a:blip r:embed="rId3"/>
                <a:stretch>
                  <a:fillRect l="-6" t="-140" r="15" b="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9613472" y="2489268"/>
            <a:ext cx="605790" cy="2322762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8" name="直线箭头连接符 7"/>
          <p:cNvCxnSpPr>
            <a:endCxn id="9" idx="0"/>
          </p:cNvCxnSpPr>
          <p:nvPr/>
        </p:nvCxnSpPr>
        <p:spPr>
          <a:xfrm>
            <a:off x="9842072" y="4812030"/>
            <a:ext cx="795774" cy="117055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9739202" y="5982586"/>
            <a:ext cx="1797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Hidden</a:t>
            </a:r>
            <a:r>
              <a:rPr kumimoji="1" lang="zh-CN" altLang="en-US" dirty="0"/>
              <a:t> </a:t>
            </a:r>
            <a:r>
              <a:rPr kumimoji="1" lang="en-US" altLang="zh-CN" dirty="0"/>
              <a:t>Layer2</a:t>
            </a:r>
            <a:endParaRPr kumimoji="1"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6917911" y="5173950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784</a:t>
            </a:r>
            <a:endParaRPr kumimoji="1" lang="zh-CN" altLang="en-US" b="1" dirty="0"/>
          </a:p>
        </p:txBody>
      </p:sp>
      <p:sp>
        <p:nvSpPr>
          <p:cNvPr id="11" name="文本框 10"/>
          <p:cNvSpPr txBox="1"/>
          <p:nvPr/>
        </p:nvSpPr>
        <p:spPr>
          <a:xfrm>
            <a:off x="8139216" y="5170244"/>
            <a:ext cx="574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300</a:t>
            </a:r>
            <a:endParaRPr kumimoji="1" lang="zh-CN" altLang="en-US" b="1" dirty="0"/>
          </a:p>
        </p:txBody>
      </p:sp>
      <p:sp>
        <p:nvSpPr>
          <p:cNvPr id="12" name="文本框 11"/>
          <p:cNvSpPr txBox="1"/>
          <p:nvPr/>
        </p:nvSpPr>
        <p:spPr>
          <a:xfrm>
            <a:off x="9544131" y="5170244"/>
            <a:ext cx="574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100</a:t>
            </a:r>
            <a:endParaRPr kumimoji="1" lang="zh-CN" altLang="en-US" b="1" dirty="0"/>
          </a:p>
        </p:txBody>
      </p:sp>
      <p:sp>
        <p:nvSpPr>
          <p:cNvPr id="13" name="文本框 12"/>
          <p:cNvSpPr txBox="1"/>
          <p:nvPr/>
        </p:nvSpPr>
        <p:spPr>
          <a:xfrm>
            <a:off x="10942401" y="5149319"/>
            <a:ext cx="444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10</a:t>
            </a:r>
            <a:endParaRPr kumimoji="1" lang="zh-CN" altLang="en-US"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ANN-Hidden Layer 2 to Output Layer</a:t>
            </a:r>
            <a:endParaRPr kumimoji="1"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61579" y="2306467"/>
                <a:ext cx="6639637" cy="429222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kumimoji="1" lang="en-US" altLang="zh-CN" sz="1000" dirty="0"/>
              </a:p>
              <a:p>
                <a:r>
                  <a:rPr kumimoji="1" lang="en-US" altLang="zh-CN" sz="1400" dirty="0"/>
                  <a:t>For</a:t>
                </a:r>
                <a:r>
                  <a:rPr kumimoji="1" lang="zh-CN" altLang="en-US" sz="1400" dirty="0"/>
                  <a:t> </a:t>
                </a:r>
                <a:r>
                  <a:rPr kumimoji="1" lang="en-US" altLang="zh-CN" sz="1400" dirty="0" err="1"/>
                  <a:t>ouput</a:t>
                </a:r>
                <a:r>
                  <a:rPr kumimoji="1" lang="zh-CN" altLang="en-US" sz="1400" dirty="0"/>
                  <a:t> </a:t>
                </a:r>
                <a:r>
                  <a:rPr kumimoji="1" lang="en-US" altLang="zh-CN" sz="1400" dirty="0"/>
                  <a:t>layer:</a:t>
                </a:r>
                <a:r>
                  <a:rPr kumimoji="1" lang="zh-CN" altLang="en-US" sz="1400" dirty="0"/>
                  <a:t> </a:t>
                </a:r>
                <a:r>
                  <a:rPr kumimoji="1" lang="en-US" altLang="zh-CN" sz="1400" dirty="0"/>
                  <a:t>Input</a:t>
                </a:r>
                <a:r>
                  <a:rPr kumimoji="1" lang="zh-CN" altLang="en-US" sz="1400" dirty="0"/>
                  <a:t> </a:t>
                </a:r>
                <a:r>
                  <a:rPr kumimoji="1" lang="en-US" altLang="zh-CN" sz="1400" dirty="0"/>
                  <a:t>data</a:t>
                </a:r>
                <a:r>
                  <a:rPr kumimoji="1" lang="zh-CN" altLang="en-US" sz="1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kumimoji="1" lang="en-US" altLang="zh-CN" sz="1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1" lang="en-US" altLang="zh-CN" sz="1400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kumimoji="1" lang="zh-CN" altLang="en-US" sz="1400" dirty="0"/>
                  <a:t> </a:t>
                </a:r>
                <a:r>
                  <a:rPr kumimoji="1" lang="en-US" altLang="zh-CN" sz="1400" dirty="0"/>
                  <a:t>: 100 (samples</a:t>
                </a:r>
                <a:r>
                  <a:rPr kumimoji="1" lang="zh-CN" altLang="en-US" sz="1400" dirty="0"/>
                  <a:t> </a:t>
                </a:r>
                <a:r>
                  <a:rPr kumimoji="1" lang="en-US" altLang="zh-CN" sz="1400" dirty="0"/>
                  <a:t>number)</a:t>
                </a:r>
                <a:r>
                  <a:rPr kumimoji="1" lang="zh-CN" altLang="en-US" sz="1400" dirty="0"/>
                  <a:t> * </a:t>
                </a:r>
                <a:r>
                  <a:rPr kumimoji="1" lang="en-US" altLang="zh-CN" sz="1400" dirty="0"/>
                  <a:t>100 (feature) </a:t>
                </a:r>
                <a:endParaRPr kumimoji="1" lang="en-US" altLang="zh-CN" sz="1400" dirty="0"/>
              </a:p>
              <a:p>
                <a:r>
                  <a:rPr kumimoji="1" lang="en-US" altLang="zh-CN" sz="1400" dirty="0"/>
                  <a:t>Hidden Layer 2 to Output Layer:  Weight Matrix: 100</a:t>
                </a:r>
                <a:r>
                  <a:rPr kumimoji="1" lang="zh-CN" altLang="en-US" sz="1400" dirty="0"/>
                  <a:t>*</a:t>
                </a:r>
                <a:r>
                  <a:rPr kumimoji="1" lang="en-US" altLang="zh-CN" sz="1400" dirty="0"/>
                  <a:t>10, </a:t>
                </a:r>
                <a14:m>
                  <m:oMath xmlns:m="http://schemas.openxmlformats.org/officeDocument/2006/math">
                    <m:r>
                      <a:rPr kumimoji="1" lang="en-US" altLang="zh-CN" sz="14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kumimoji="1" lang="en-US" altLang="zh-CN" sz="1400" dirty="0"/>
                  <a:t>: 10</a:t>
                </a:r>
                <a:r>
                  <a:rPr kumimoji="1" lang="zh-CN" altLang="en-US" sz="1400" dirty="0"/>
                  <a:t>*</a:t>
                </a:r>
                <a:r>
                  <a:rPr kumimoji="1" lang="en-US" altLang="zh-CN" sz="1400" dirty="0"/>
                  <a:t>1</a:t>
                </a:r>
                <a:endParaRPr kumimoji="1" lang="en-US" altLang="zh-CN" sz="1400" dirty="0"/>
              </a:p>
              <a:p>
                <a:r>
                  <a:rPr kumimoji="1" lang="en-US" altLang="zh-CN" sz="1400" dirty="0"/>
                  <a:t>Weighted Sum for </a:t>
                </a:r>
                <a14:m>
                  <m:oMath xmlns:m="http://schemas.openxmlformats.org/officeDocument/2006/math">
                    <m:r>
                      <a:rPr kumimoji="1" lang="en-US" altLang="zh-CN" sz="1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kumimoji="1" lang="en-US" altLang="zh-CN" sz="1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zh-CN" sz="1400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𝑡ℎ</m:t>
                    </m:r>
                  </m:oMath>
                </a14:m>
                <a:r>
                  <a:rPr kumimoji="1" lang="en-US" altLang="zh-CN" sz="1400" dirty="0"/>
                  <a:t> neurons of output</a:t>
                </a:r>
                <a:r>
                  <a:rPr kumimoji="1" lang="zh-CN" altLang="en-US" sz="1400" dirty="0"/>
                  <a:t> </a:t>
                </a:r>
                <a:r>
                  <a:rPr kumimoji="1" lang="en-US" altLang="zh-CN" sz="1400" dirty="0"/>
                  <a:t>layer: </a:t>
                </a:r>
                <a:endParaRPr kumimoji="1" lang="en-US" altLang="zh-CN" sz="1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kumimoji="1" lang="en-US" altLang="zh-CN" sz="1400" i="1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  <m:sup>
                          <m:r>
                            <a:rPr kumimoji="1" lang="en-US" altLang="zh-CN" sz="1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kumimoji="1" lang="en-US" altLang="zh-CN" sz="1400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kumimoji="1" lang="en-US" altLang="zh-CN" sz="1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is-IS" altLang="zh-CN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kumimoji="1" lang="en-US" altLang="zh-CN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kumimoji="1" lang="en-US" altLang="zh-CN" sz="14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zh-CN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kumimoji="1" lang="en-US" altLang="zh-CN" sz="1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Sup>
                            <m:sSubSupPr>
                              <m:ctrlPr>
                                <a:rPr kumimoji="1"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sz="1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</a:rPr>
                                <m:t>𝑙𝑘</m:t>
                              </m:r>
                            </m:sub>
                            <m:sup>
                              <m:r>
                                <a:rPr kumimoji="1" lang="en-US" altLang="zh-CN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kumimoji="1" lang="en-US" altLang="zh-CN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kumimoji="1"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sz="1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kumimoji="1" lang="en-US" altLang="zh-CN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kumimoji="1" lang="en-US" altLang="zh-CN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nary>
                      <m:r>
                        <a:rPr kumimoji="1" lang="en-US" altLang="zh-CN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kumimoji="1" lang="en-US" altLang="zh-CN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sz="1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zh-CN" sz="1400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  <m:sup>
                          <m:r>
                            <a:rPr kumimoji="1" lang="en-US" altLang="zh-CN" sz="1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sz="14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kumimoji="1" lang="en-US" altLang="zh-CN" sz="1400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en-US" altLang="zh-CN" sz="1400" dirty="0"/>
              </a:p>
              <a:p>
                <a:r>
                  <a:rPr kumimoji="1" lang="en-US" altLang="zh-CN" sz="1400" dirty="0"/>
                  <a:t>After activation function, output of l-</a:t>
                </a:r>
                <a:r>
                  <a:rPr kumimoji="1" lang="en-US" altLang="zh-CN" sz="1400" dirty="0" err="1"/>
                  <a:t>th</a:t>
                </a:r>
                <a:r>
                  <a:rPr kumimoji="1" lang="en-US" altLang="zh-CN" sz="1400" dirty="0"/>
                  <a:t> neuron: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1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kumimoji="1" lang="en-US" altLang="zh-CN" sz="1400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kumimoji="1" lang="en-US" altLang="zh-CN" sz="14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kumimoji="1" lang="en-US" altLang="zh-CN" sz="1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zh-CN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sz="1400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  <m:sup>
                        <m:r>
                          <a:rPr kumimoji="1" lang="en-US" altLang="zh-CN" sz="1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sz="1400" i="1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kumimoji="1" lang="en-US" altLang="zh-CN" sz="1400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kumimoji="1" lang="en-US" altLang="zh-CN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1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kumimoji="1"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kumimoji="1"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400" i="1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kumimoji="1" lang="en-US" altLang="zh-CN" sz="14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  <m:sup>
                            <m:d>
                              <m:dPr>
                                <m:ctrlPr>
                                  <a:rPr kumimoji="1" lang="en-US" altLang="zh-CN" sz="1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zh-CN" sz="14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d>
                          </m:sup>
                        </m:sSubSup>
                      </m:e>
                    </m:d>
                  </m:oMath>
                </a14:m>
                <a:endParaRPr kumimoji="1" lang="en-US" altLang="zh-CN" sz="1400" dirty="0"/>
              </a:p>
              <a:p>
                <a:r>
                  <a:rPr kumimoji="1" lang="en-US" altLang="zh-CN" sz="1400" dirty="0"/>
                  <a:t>Output of Output Layer, y: 100(samples</a:t>
                </a:r>
                <a:r>
                  <a:rPr kumimoji="1" lang="zh-CN" altLang="en-US" sz="1400" dirty="0"/>
                  <a:t> </a:t>
                </a:r>
                <a:r>
                  <a:rPr kumimoji="1" lang="en-US" altLang="zh-CN" sz="1400" dirty="0"/>
                  <a:t>number)</a:t>
                </a:r>
                <a:r>
                  <a:rPr kumimoji="1" lang="zh-CN" altLang="en-US" sz="1400" dirty="0"/>
                  <a:t> * </a:t>
                </a:r>
                <a:r>
                  <a:rPr kumimoji="1" lang="en-US" altLang="zh-CN" sz="1400" dirty="0"/>
                  <a:t>10 (feature) </a:t>
                </a:r>
                <a:endParaRPr kumimoji="1" lang="en-US" altLang="zh-CN" sz="1400" dirty="0"/>
              </a:p>
              <a:p>
                <a:pPr marL="0" indent="0">
                  <a:buNone/>
                </a:pPr>
                <a:r>
                  <a:rPr kumimoji="1" lang="zh-CN" altLang="en-US" sz="1400" dirty="0"/>
                  <a:t> </a:t>
                </a:r>
                <a:r>
                  <a:rPr kumimoji="1" lang="en-US" altLang="zh-CN" sz="1400" dirty="0"/>
                  <a:t>matrix</a:t>
                </a:r>
                <a:endParaRPr kumimoji="1" lang="en-US" altLang="zh-CN" sz="1400" dirty="0"/>
              </a:p>
              <a:p>
                <a14:m>
                  <m:oMath xmlns:m="http://schemas.openxmlformats.org/officeDocument/2006/math">
                    <m:r>
                      <a:rPr kumimoji="1" lang="en-US" altLang="zh-CN" sz="1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𝜎</m:t>
                    </m:r>
                    <m:r>
                      <a:rPr kumimoji="1" lang="en-US" altLang="zh-CN" sz="1400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kumimoji="1" lang="en-US" altLang="zh-CN" sz="1400" dirty="0" err="1">
                    <a:solidFill>
                      <a:srgbClr val="FF0000"/>
                    </a:solidFill>
                  </a:rPr>
                  <a:t>softmax</a:t>
                </a:r>
                <a:r>
                  <a:rPr kumimoji="1" lang="zh-CN" altLang="en-US" sz="1400" dirty="0">
                    <a:solidFill>
                      <a:srgbClr val="FF0000"/>
                    </a:solidFill>
                  </a:rPr>
                  <a:t> </a:t>
                </a:r>
                <a:r>
                  <a:rPr kumimoji="1" lang="en-US" altLang="zh-CN" sz="1400" dirty="0">
                    <a:solidFill>
                      <a:srgbClr val="FF0000"/>
                    </a:solidFill>
                  </a:rPr>
                  <a:t>function</a:t>
                </a:r>
                <a:endParaRPr kumimoji="1" lang="en-US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1579" y="2306467"/>
                <a:ext cx="6639637" cy="4292221"/>
              </a:xfrm>
              <a:blipFill rotWithShape="1">
                <a:blip r:embed="rId1"/>
                <a:stretch>
                  <a:fillRect l="-9" t="-3" r="1" b="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3923" y="2489268"/>
            <a:ext cx="4899545" cy="268468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矩形 4"/>
              <p:cNvSpPr/>
              <p:nvPr/>
            </p:nvSpPr>
            <p:spPr>
              <a:xfrm>
                <a:off x="9821544" y="2202596"/>
                <a:ext cx="1821700" cy="3808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kumimoji="1" lang="en-US" altLang="zh-CN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→</m:t>
                    </m:r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1544" y="2202596"/>
                <a:ext cx="1821700" cy="380810"/>
              </a:xfrm>
              <a:prstGeom prst="rect">
                <a:avLst/>
              </a:prstGeom>
              <a:blipFill rotWithShape="1">
                <a:blip r:embed="rId3"/>
                <a:stretch>
                  <a:fillRect l="-35" t="-109" r="28" b="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/>
          <p:cNvSpPr txBox="1"/>
          <p:nvPr/>
        </p:nvSpPr>
        <p:spPr>
          <a:xfrm>
            <a:off x="6917911" y="5173950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784</a:t>
            </a:r>
            <a:endParaRPr kumimoji="1" lang="zh-CN" altLang="en-US" b="1" dirty="0"/>
          </a:p>
        </p:txBody>
      </p:sp>
      <p:sp>
        <p:nvSpPr>
          <p:cNvPr id="8" name="文本框 7"/>
          <p:cNvSpPr txBox="1"/>
          <p:nvPr/>
        </p:nvSpPr>
        <p:spPr>
          <a:xfrm>
            <a:off x="8139216" y="5170244"/>
            <a:ext cx="574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300</a:t>
            </a:r>
            <a:endParaRPr kumimoji="1" lang="zh-CN" altLang="en-US" b="1" dirty="0"/>
          </a:p>
        </p:txBody>
      </p:sp>
      <p:sp>
        <p:nvSpPr>
          <p:cNvPr id="9" name="文本框 8"/>
          <p:cNvSpPr txBox="1"/>
          <p:nvPr/>
        </p:nvSpPr>
        <p:spPr>
          <a:xfrm>
            <a:off x="9544131" y="5170244"/>
            <a:ext cx="574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100</a:t>
            </a:r>
            <a:endParaRPr kumimoji="1" lang="zh-CN" altLang="en-US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10942401" y="5149319"/>
            <a:ext cx="444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10</a:t>
            </a:r>
            <a:endParaRPr kumimoji="1" lang="zh-CN" altLang="en-US" b="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6118" y="877801"/>
            <a:ext cx="8761413" cy="706964"/>
          </a:xfrm>
        </p:spPr>
        <p:txBody>
          <a:bodyPr/>
          <a:lstStyle/>
          <a:p>
            <a:r>
              <a:rPr kumimoji="1" lang="en-US" altLang="zh-CN" sz="3200" dirty="0">
                <a:solidFill>
                  <a:schemeClr val="bg1"/>
                </a:solidFill>
              </a:rPr>
              <a:t>Training</a:t>
            </a:r>
            <a:r>
              <a:rPr kumimoji="1" lang="zh-CN" altLang="en-US" sz="3200" dirty="0">
                <a:solidFill>
                  <a:schemeClr val="bg1"/>
                </a:solidFill>
              </a:rPr>
              <a:t> </a:t>
            </a:r>
            <a:r>
              <a:rPr kumimoji="1" lang="en-US" altLang="zh-CN" sz="3200" dirty="0">
                <a:solidFill>
                  <a:schemeClr val="bg1"/>
                </a:solidFill>
              </a:rPr>
              <a:t>of</a:t>
            </a:r>
            <a:r>
              <a:rPr kumimoji="1" lang="zh-CN" altLang="en-US" sz="3200" dirty="0">
                <a:solidFill>
                  <a:schemeClr val="bg1"/>
                </a:solidFill>
              </a:rPr>
              <a:t> </a:t>
            </a:r>
            <a:r>
              <a:rPr kumimoji="1" lang="en-US" altLang="zh-CN" sz="3200" dirty="0">
                <a:solidFill>
                  <a:schemeClr val="bg1"/>
                </a:solidFill>
              </a:rPr>
              <a:t>NN</a:t>
            </a:r>
            <a:endParaRPr kumimoji="1"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581748" y="2488836"/>
            <a:ext cx="10356933" cy="3416300"/>
          </a:xfrm>
        </p:spPr>
        <p:txBody>
          <a:bodyPr>
            <a:normAutofit/>
          </a:bodyPr>
          <a:lstStyle/>
          <a:p>
            <a:r>
              <a:rPr kumimoji="1" lang="en-US" altLang="zh-CN" sz="2000" dirty="0"/>
              <a:t>W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and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Threshold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values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decide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the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output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of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NN</a:t>
            </a:r>
            <a:endParaRPr kumimoji="1" lang="en-US" altLang="zh-CN" sz="2000" dirty="0"/>
          </a:p>
          <a:p>
            <a:r>
              <a:rPr kumimoji="1" lang="en-US" altLang="zh-CN" sz="2000" dirty="0"/>
              <a:t>The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training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is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to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find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appropriate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values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for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W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and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Threshold so that the output is close to the true value</a:t>
            </a:r>
            <a:endParaRPr kumimoji="1" lang="en-US" altLang="zh-CN" sz="2000" dirty="0"/>
          </a:p>
          <a:p>
            <a:r>
              <a:rPr kumimoji="1" lang="en-US" altLang="zh-CN" sz="2000" dirty="0"/>
              <a:t>Given the structure of NN, the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learning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process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is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to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tune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weight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matrix in order to in order to minimize the difference between true value and prediction value. </a:t>
            </a:r>
            <a:endParaRPr kumimoji="1" lang="en-US" altLang="zh-CN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Loss Function and Gradient Descent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54954" y="2603500"/>
            <a:ext cx="9892909" cy="3416300"/>
          </a:xfrm>
        </p:spPr>
        <p:txBody>
          <a:bodyPr>
            <a:normAutofit/>
          </a:bodyPr>
          <a:lstStyle/>
          <a:p>
            <a:r>
              <a:rPr kumimoji="1" lang="en-US" altLang="zh-CN" sz="2000" dirty="0"/>
              <a:t>How to evaluate the difference</a:t>
            </a:r>
            <a:r>
              <a:rPr kumimoji="1" lang="zh-CN" altLang="en-US" sz="2000" dirty="0"/>
              <a:t>？</a:t>
            </a:r>
            <a:r>
              <a:rPr kumimoji="1" lang="en-US" altLang="zh-CN" sz="2000" dirty="0"/>
              <a:t>Loss Function</a:t>
            </a:r>
            <a:endParaRPr kumimoji="1" lang="en-US" altLang="zh-CN" sz="2000" dirty="0"/>
          </a:p>
          <a:p>
            <a:r>
              <a:rPr kumimoji="1" lang="en-US" altLang="zh-CN" sz="2000" dirty="0"/>
              <a:t>How to tune weight matrix</a:t>
            </a:r>
            <a:r>
              <a:rPr kumimoji="1" lang="zh-CN" altLang="en-US" sz="2000" dirty="0"/>
              <a:t>？</a:t>
            </a:r>
            <a:r>
              <a:rPr kumimoji="1" lang="en-US" altLang="zh-CN" sz="2000" dirty="0"/>
              <a:t>optimization method (e. g. Gradient Descent)</a:t>
            </a:r>
            <a:endParaRPr kumimoji="1" lang="en-US" altLang="zh-CN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As an Example</a:t>
            </a:r>
            <a:endParaRPr kumimoji="1"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154954" y="2603500"/>
                <a:ext cx="9872437" cy="3416300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kumimoji="1" lang="en-US" altLang="zh-CN" sz="2000" dirty="0"/>
                  <a:t>W</a:t>
                </a:r>
                <a:r>
                  <a:rPr kumimoji="1" lang="zh-CN" altLang="en-US" sz="2000" dirty="0"/>
                  <a:t> </a:t>
                </a:r>
                <a:r>
                  <a:rPr kumimoji="1" lang="en-US" altLang="zh-CN" sz="2000" dirty="0"/>
                  <a:t>and</a:t>
                </a:r>
                <a:r>
                  <a:rPr kumimoji="1" lang="zh-CN" altLang="en-US" sz="2000" dirty="0"/>
                  <a:t> </a:t>
                </a:r>
                <a:r>
                  <a:rPr kumimoji="1" lang="en-US" altLang="zh-CN" sz="2000" dirty="0"/>
                  <a:t>b</a:t>
                </a:r>
                <a:r>
                  <a:rPr kumimoji="1" lang="zh-CN" altLang="en-US" sz="2000" dirty="0"/>
                  <a:t> </a:t>
                </a:r>
                <a:r>
                  <a:rPr kumimoji="1" lang="en-US" altLang="zh-CN" sz="2000" dirty="0"/>
                  <a:t>initialization:</a:t>
                </a:r>
                <a:r>
                  <a:rPr kumimoji="1" lang="zh-CN" altLang="en-US" sz="2000" dirty="0"/>
                  <a:t>  </a:t>
                </a:r>
                <a:endParaRPr kumimoji="1" lang="en-US" altLang="zh-CN" sz="2000" dirty="0"/>
              </a:p>
              <a:p>
                <a:pPr lvl="1"/>
                <a:r>
                  <a:rPr kumimoji="1" lang="en-US" altLang="zh-CN" sz="1800" dirty="0"/>
                  <a:t>Xavier:</a:t>
                </a:r>
                <a:r>
                  <a:rPr kumimoji="1" lang="zh-CN" altLang="en-US" sz="1800" dirty="0"/>
                  <a:t> </a:t>
                </a:r>
                <a:r>
                  <a:rPr kumimoji="1" lang="en-US" altLang="zh-CN" sz="1800" dirty="0"/>
                  <a:t> is an initialization scheme for neural networks,</a:t>
                </a:r>
                <a:r>
                  <a:rPr kumimoji="1" lang="zh-CN" altLang="en-US" sz="1800" dirty="0"/>
                  <a:t> </a:t>
                </a:r>
                <a:r>
                  <a:rPr kumimoji="1" lang="en-US" altLang="zh-CN" sz="1800" dirty="0"/>
                  <a:t>make</a:t>
                </a:r>
                <a:r>
                  <a:rPr kumimoji="1" lang="zh-CN" altLang="en-US" sz="1800" dirty="0"/>
                  <a:t> </a:t>
                </a:r>
                <a:r>
                  <a:rPr kumimoji="1" lang="en-US" altLang="zh-CN" sz="1800" dirty="0"/>
                  <a:t>w</a:t>
                </a:r>
                <a:r>
                  <a:rPr lang="en-US" altLang="zh-CN" dirty="0"/>
                  <a:t> uniform distributed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over </a:t>
                </a:r>
                <a:r>
                  <a:rPr kumimoji="1" lang="en-US" altLang="zh-CN" sz="1800" dirty="0"/>
                  <a:t> (</a:t>
                </a:r>
                <a14:m>
                  <m:oMath xmlns:m="http://schemas.openxmlformats.org/officeDocument/2006/math">
                    <m:r>
                      <a:rPr kumimoji="1" lang="en-US" altLang="zh-CN" sz="1800"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kumimoji="1" lang="en-US" altLang="zh-CN" sz="1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kumimoji="1"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1800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kumimoji="1" lang="en-US" altLang="zh-CN" sz="18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kumimoji="1" lang="en-US" altLang="zh-CN" sz="18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kumimoji="1" lang="en-US" altLang="zh-CN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rad>
                  </m:oMath>
                </a14:m>
                <a:r>
                  <a:rPr kumimoji="1" lang="en-US" altLang="zh-CN" sz="1800" dirty="0"/>
                  <a:t>,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kumimoji="1" lang="en-US" altLang="zh-CN" sz="1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kumimoji="1"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1800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kumimoji="1" lang="en-US" altLang="zh-CN" sz="18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kumimoji="1" lang="en-US" altLang="zh-CN" sz="18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kumimoji="1" lang="en-US" altLang="zh-CN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rad>
                  </m:oMath>
                </a14:m>
                <a:r>
                  <a:rPr kumimoji="1" lang="zh-CN" altLang="en-US" sz="1800" dirty="0"/>
                  <a:t> </a:t>
                </a:r>
                <a:r>
                  <a:rPr kumimoji="1" lang="en-US" altLang="zh-CN" sz="1800" dirty="0"/>
                  <a:t>)</a:t>
                </a:r>
                <a:r>
                  <a:rPr kumimoji="1" lang="zh-CN" altLang="en-US" sz="1800" dirty="0"/>
                  <a:t> </a:t>
                </a:r>
                <a:endParaRPr kumimoji="1" lang="en-US" altLang="zh-CN" sz="1800" dirty="0"/>
              </a:p>
              <a:p>
                <a:pPr marL="457200" lvl="1" indent="0">
                  <a:buNone/>
                </a:pPr>
                <a:r>
                  <a:rPr kumimoji="1" lang="en-US" altLang="zh-CN" sz="1800" dirty="0"/>
                  <a:t>(m:</a:t>
                </a:r>
                <a:r>
                  <a:rPr kumimoji="1" lang="zh-CN" altLang="en-US" sz="1800" dirty="0"/>
                  <a:t> </a:t>
                </a:r>
                <a:r>
                  <a:rPr kumimoji="1" lang="en-US" altLang="zh-CN" sz="1800" dirty="0"/>
                  <a:t>number of rows of the matrix,</a:t>
                </a:r>
                <a:r>
                  <a:rPr kumimoji="1" lang="zh-CN" altLang="en-US" sz="1800" dirty="0"/>
                  <a:t> </a:t>
                </a:r>
                <a:r>
                  <a:rPr kumimoji="1" lang="en-US" altLang="zh-CN" sz="1800" dirty="0"/>
                  <a:t>n:</a:t>
                </a:r>
                <a:r>
                  <a:rPr kumimoji="1" lang="zh-CN" altLang="en-US" sz="1800" dirty="0"/>
                  <a:t> </a:t>
                </a:r>
                <a:r>
                  <a:rPr kumimoji="1" lang="en-US" altLang="zh-CN" sz="1800" dirty="0"/>
                  <a:t>number of columns of the matrix)</a:t>
                </a:r>
                <a:endParaRPr kumimoji="1" lang="en-US" altLang="zh-CN" sz="1800" dirty="0"/>
              </a:p>
              <a:p>
                <a:r>
                  <a:rPr kumimoji="1" lang="en-US" altLang="zh-CN" sz="2000" dirty="0"/>
                  <a:t>Loss</a:t>
                </a:r>
                <a:r>
                  <a:rPr kumimoji="1" lang="zh-CN" altLang="en-US" sz="2000" dirty="0"/>
                  <a:t> </a:t>
                </a:r>
                <a:r>
                  <a:rPr kumimoji="1" lang="en-US" altLang="zh-CN" sz="2000" dirty="0"/>
                  <a:t>Function: </a:t>
                </a:r>
                <a14:m>
                  <m:oMath xmlns:m="http://schemas.openxmlformats.org/officeDocument/2006/math">
                    <m:r>
                      <a:rPr kumimoji="1" lang="en-US" altLang="zh-CN" sz="2000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zh-CN" sz="200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000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kumimoji="1" lang="is-IS" altLang="zh-CN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kumimoji="1" lang="is-I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kumimoji="1"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kumimoji="1"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kumimoji="1" lang="en-US" altLang="zh-CN" sz="20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kumimoji="1"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/>
                            </m:sSubSup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𝑙𝑛</m:t>
                            </m:r>
                            <m:sSub>
                              <m:sSubPr>
                                <m:ctrlPr>
                                  <a:rPr kumimoji="1"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kumimoji="1"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kumimoji="1" lang="en-US" altLang="zh-CN" sz="20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kumimoji="1"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</m:e>
                    </m:nary>
                  </m:oMath>
                </a14:m>
                <a:endParaRPr kumimoji="1" lang="en-US" altLang="zh-CN" sz="2000" dirty="0"/>
              </a:p>
              <a:p>
                <a:pPr marL="0" indent="0">
                  <a:buNone/>
                </a:pPr>
                <a:r>
                  <a:rPr kumimoji="1" lang="zh-CN" altLang="en-US" sz="2000" dirty="0"/>
                  <a:t>     </a:t>
                </a:r>
                <a:r>
                  <a:rPr kumimoji="1" lang="en-US" altLang="zh-CN" sz="2000" dirty="0"/>
                  <a:t>N</a:t>
                </a:r>
                <a:r>
                  <a:rPr kumimoji="1" lang="zh-CN" altLang="en-US" sz="2000" dirty="0"/>
                  <a:t> </a:t>
                </a:r>
                <a:r>
                  <a:rPr kumimoji="1" lang="en-US" altLang="zh-CN" sz="2000" dirty="0"/>
                  <a:t>is</a:t>
                </a:r>
                <a:r>
                  <a:rPr kumimoji="1" lang="zh-CN" altLang="en-US" sz="2000" dirty="0"/>
                  <a:t> </a:t>
                </a:r>
                <a:r>
                  <a:rPr kumimoji="1" lang="en-US" altLang="zh-CN" sz="2000" dirty="0"/>
                  <a:t>the</a:t>
                </a:r>
                <a:r>
                  <a:rPr kumimoji="1" lang="zh-CN" altLang="en-US" sz="2000" dirty="0"/>
                  <a:t> </a:t>
                </a:r>
                <a:r>
                  <a:rPr kumimoji="1" lang="en-US" altLang="zh-CN" sz="2000" dirty="0"/>
                  <a:t>samples</a:t>
                </a:r>
                <a:r>
                  <a:rPr kumimoji="1" lang="zh-CN" altLang="en-US" sz="2000" dirty="0"/>
                  <a:t> </a:t>
                </a:r>
                <a:r>
                  <a:rPr kumimoji="1" lang="en-US" altLang="zh-CN" sz="2000" dirty="0"/>
                  <a:t>number</a:t>
                </a:r>
                <a:endParaRPr kumimoji="1" lang="en-US" altLang="zh-CN" sz="2000" dirty="0"/>
              </a:p>
              <a:p>
                <a:r>
                  <a:rPr kumimoji="1" lang="en-US" altLang="zh-CN" sz="2000" dirty="0"/>
                  <a:t>To avoid overfitting, add L2</a:t>
                </a:r>
                <a:r>
                  <a:rPr kumimoji="1" lang="zh-CN" altLang="en-US" sz="2000" dirty="0"/>
                  <a:t> </a:t>
                </a:r>
                <a:r>
                  <a:rPr kumimoji="1" lang="en-US" altLang="zh-CN" sz="2000" b="0" dirty="0"/>
                  <a:t>Regularization term:</a:t>
                </a:r>
                <a:endParaRPr kumimoji="1" lang="en-US" altLang="zh-CN" sz="2000" b="0" dirty="0"/>
              </a:p>
              <a:p>
                <a:pPr marL="0" indent="0" algn="ctr">
                  <a:buNone/>
                </a:pPr>
                <a:r>
                  <a:rPr kumimoji="1" lang="en-US" altLang="zh-CN" sz="2000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</m:sub>
                    </m:sSub>
                    <m:d>
                      <m:dPr>
                        <m:ctrlPr>
                          <a:rPr kumimoji="1" lang="en-US" altLang="zh-CN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000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</m:oMath>
                </a14:m>
                <a:r>
                  <a:rPr kumimoji="1" lang="en-US" altLang="zh-CN" sz="2000" dirty="0"/>
                  <a:t>=</a:t>
                </a:r>
                <a14:m>
                  <m:oMath xmlns:m="http://schemas.openxmlformats.org/officeDocument/2006/math">
                    <m:r>
                      <a:rPr kumimoji="1" lang="en-US" altLang="zh-CN" sz="2000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zh-CN" sz="200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kumimoji="1"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000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  <m:r>
                      <a:rPr kumimoji="1" lang="en-US" altLang="zh-CN" sz="20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kumimoji="1" lang="en-US" altLang="zh-CN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Sup>
                      <m:sSubSupPr>
                        <m:ctrlPr>
                          <a:rPr kumimoji="1"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||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||</m:t>
                        </m:r>
                      </m:e>
                      <m:sub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kumimoji="1" lang="en-US" altLang="zh-CN" sz="2000" dirty="0"/>
              </a:p>
              <a:p>
                <a:pPr marL="0" indent="0">
                  <a:buNone/>
                </a:pPr>
                <a:r>
                  <a:rPr kumimoji="1" lang="zh-CN" altLang="en-US" sz="2000" dirty="0"/>
                  <a:t>    </a:t>
                </a:r>
                <a:r>
                  <a:rPr kumimoji="1" lang="en-US" altLang="zh-CN" sz="2000" dirty="0"/>
                  <a:t>W</a:t>
                </a:r>
                <a:r>
                  <a:rPr kumimoji="1" lang="zh-CN" altLang="en-US" sz="2000" dirty="0"/>
                  <a:t> </a:t>
                </a:r>
                <a:r>
                  <a:rPr kumimoji="1" lang="en-US" altLang="zh-CN" sz="2000" dirty="0"/>
                  <a:t>contains all the weights.</a:t>
                </a:r>
                <a:endParaRPr kumimoji="1" lang="en-US" altLang="zh-CN" sz="2000" dirty="0"/>
              </a:p>
              <a:p>
                <a:r>
                  <a:rPr kumimoji="1" lang="en-US" altLang="zh-CN" sz="2000" dirty="0"/>
                  <a:t>Gradient Descent: min f(x)   -&gt; x(t+1)=x(t)-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kumimoji="1" lang="en-US" altLang="zh-CN" sz="2000" dirty="0"/>
                  <a:t>*f’(x(t))  (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𝜂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CN" altLang="en-US" sz="2000" dirty="0"/>
                  <a:t>：</a:t>
                </a:r>
                <a:r>
                  <a:rPr kumimoji="1" lang="en-US" altLang="zh-CN" sz="2000" dirty="0"/>
                  <a:t>learning rate)</a:t>
                </a:r>
                <a:endParaRPr kumimoji="1" lang="en-US" altLang="zh-CN" sz="2000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54954" y="2603500"/>
                <a:ext cx="9872437" cy="3416300"/>
              </a:xfrm>
              <a:blipFill rotWithShape="1">
                <a:blip r:embed="rId1"/>
                <a:stretch>
                  <a:fillRect l="-5" t="-335" r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Loss</a:t>
            </a:r>
            <a:endParaRPr kumimoji="1"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1006" y="2602617"/>
            <a:ext cx="1397000" cy="1422400"/>
          </a:xfrm>
          <a:prstGeom prst="rect">
            <a:avLst/>
          </a:prstGeom>
        </p:spPr>
      </p:pic>
      <p:sp>
        <p:nvSpPr>
          <p:cNvPr id="5" name="右箭头 4"/>
          <p:cNvSpPr/>
          <p:nvPr/>
        </p:nvSpPr>
        <p:spPr>
          <a:xfrm>
            <a:off x="4011660" y="2998708"/>
            <a:ext cx="850900" cy="1397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662660" y="2897108"/>
            <a:ext cx="312906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7</a:t>
            </a:r>
            <a:endParaRPr kumimoji="1"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5535660" y="2427208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Label:</a:t>
            </a:r>
            <a:endParaRPr kumimoji="1"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708506" y="2122408"/>
            <a:ext cx="3047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28</a:t>
            </a:r>
            <a:r>
              <a:rPr kumimoji="1" lang="zh-CN" altLang="en-US" dirty="0"/>
              <a:t>*</a:t>
            </a:r>
            <a:r>
              <a:rPr kumimoji="1" lang="en-US" altLang="zh-CN" dirty="0"/>
              <a:t>28</a:t>
            </a:r>
            <a:r>
              <a:rPr kumimoji="1" lang="zh-CN" altLang="en-US" dirty="0"/>
              <a:t> </a:t>
            </a:r>
            <a:r>
              <a:rPr kumimoji="1" lang="en-US" altLang="zh-CN" dirty="0"/>
              <a:t>grayscale</a:t>
            </a:r>
            <a:r>
              <a:rPr kumimoji="1" lang="zh-CN" altLang="en-US" dirty="0"/>
              <a:t> </a:t>
            </a:r>
            <a:r>
              <a:rPr kumimoji="1" lang="en-US" altLang="zh-CN" dirty="0"/>
              <a:t>image:</a:t>
            </a:r>
            <a:endParaRPr kumimoji="1" lang="zh-CN" altLang="en-US" dirty="0"/>
          </a:p>
        </p:txBody>
      </p:sp>
      <p:sp>
        <p:nvSpPr>
          <p:cNvPr id="9" name="右箭头 8"/>
          <p:cNvSpPr/>
          <p:nvPr/>
        </p:nvSpPr>
        <p:spPr>
          <a:xfrm>
            <a:off x="6775666" y="3012440"/>
            <a:ext cx="850900" cy="1397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8092440" y="2360082"/>
                <a:ext cx="3449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b="1" i="1" dirty="0" smtClean="0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kumimoji="1" lang="en-US" altLang="zh-CN" dirty="0"/>
                  <a:t>:</a:t>
                </a:r>
                <a:endParaRPr kumimoji="1" lang="zh-CN" altLang="en-US" dirty="0"/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2440" y="2360082"/>
                <a:ext cx="344966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114" r="-3819" b="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8182730" y="2684413"/>
                <a:ext cx="353943" cy="235647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kumimoji="1" lang="zh-CN" altLang="en-US" dirty="0"/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2730" y="2684413"/>
                <a:ext cx="353943" cy="2356479"/>
              </a:xfrm>
              <a:prstGeom prst="rect">
                <a:avLst/>
              </a:prstGeom>
              <a:blipFill rotWithShape="1">
                <a:blip r:embed="rId3"/>
                <a:stretch>
                  <a:fillRect l="-34" t="-11" r="-23040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线箭头连接符 12"/>
          <p:cNvCxnSpPr/>
          <p:nvPr/>
        </p:nvCxnSpPr>
        <p:spPr>
          <a:xfrm>
            <a:off x="2480310" y="4229100"/>
            <a:ext cx="3495256" cy="971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/>
              <p:cNvSpPr txBox="1"/>
              <p:nvPr/>
            </p:nvSpPr>
            <p:spPr>
              <a:xfrm>
                <a:off x="5972188" y="4316339"/>
                <a:ext cx="530273" cy="235647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kumimoji="1" lang="zh-CN" altLang="en-US" dirty="0"/>
              </a:p>
            </p:txBody>
          </p:sp>
        </mc:Choice>
        <mc:Fallback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2188" y="4316339"/>
                <a:ext cx="530273" cy="2356479"/>
              </a:xfrm>
              <a:prstGeom prst="rect">
                <a:avLst/>
              </a:prstGeom>
              <a:blipFill rotWithShape="1">
                <a:blip r:embed="rId4"/>
                <a:stretch>
                  <a:fillRect l="-2" t="-10" r="-15077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直线箭头连接符 15"/>
          <p:cNvCxnSpPr/>
          <p:nvPr/>
        </p:nvCxnSpPr>
        <p:spPr>
          <a:xfrm>
            <a:off x="8359701" y="5200650"/>
            <a:ext cx="150363" cy="457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/>
          <p:cNvCxnSpPr/>
          <p:nvPr/>
        </p:nvCxnSpPr>
        <p:spPr>
          <a:xfrm>
            <a:off x="6502461" y="5701268"/>
            <a:ext cx="1932421" cy="865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/>
              <p:cNvSpPr txBox="1"/>
              <p:nvPr/>
            </p:nvSpPr>
            <p:spPr>
              <a:xfrm>
                <a:off x="8434882" y="5558180"/>
                <a:ext cx="375902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2800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zh-CN" sz="280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kumimoji="1"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8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</m:oMath>
                </a14:m>
                <a:r>
                  <a:rPr lang="zh-CN" altLang="en-US" sz="2800" dirty="0"/>
                  <a:t> </a:t>
                </a:r>
                <a:r>
                  <a:rPr lang="en-US" altLang="zh-CN" sz="2800" dirty="0"/>
                  <a:t>=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-ln(0.1)</a:t>
                </a:r>
                <a:endParaRPr lang="zh-CN" altLang="en-US" sz="2800" dirty="0"/>
              </a:p>
            </p:txBody>
          </p:sp>
        </mc:Choice>
        <mc:Fallback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4882" y="5558180"/>
                <a:ext cx="3759022" cy="523220"/>
              </a:xfrm>
              <a:prstGeom prst="rect">
                <a:avLst/>
              </a:prstGeom>
              <a:blipFill rotWithShape="1">
                <a:blip r:embed="rId5"/>
                <a:stretch>
                  <a:fillRect l="-5" t="-5" r="17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椭圆 20"/>
          <p:cNvSpPr/>
          <p:nvPr/>
        </p:nvSpPr>
        <p:spPr>
          <a:xfrm>
            <a:off x="8092440" y="4229100"/>
            <a:ext cx="582930" cy="3429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5919531" y="5852226"/>
            <a:ext cx="582930" cy="3429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本框 22"/>
              <p:cNvSpPr txBox="1"/>
              <p:nvPr/>
            </p:nvSpPr>
            <p:spPr>
              <a:xfrm>
                <a:off x="5932333" y="3947007"/>
                <a:ext cx="3866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kumimoji="1" lang="en-US" altLang="zh-CN" dirty="0"/>
                  <a:t>:</a:t>
                </a:r>
                <a:endParaRPr kumimoji="1" lang="zh-CN" altLang="en-US" dirty="0"/>
              </a:p>
            </p:txBody>
          </p:sp>
        </mc:Choice>
        <mc:Fallback>
          <p:sp>
            <p:nvSpPr>
              <p:cNvPr id="23" name="文本框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333" y="3947007"/>
                <a:ext cx="386644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42" t="-131" r="-3097" b="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Gradient Descent</a:t>
            </a:r>
            <a:endParaRPr kumimoji="1"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𝑡𝑜𝑡𝑎𝑙</m:t>
                            </m:r>
                          </m:sub>
                        </m:s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sup>
                        </m:s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</m:oMath>
                </a14:m>
                <a:endParaRPr kumimoji="1" lang="en-US" altLang="zh-CN" dirty="0"/>
              </a:p>
              <a:p>
                <a:pPr marL="0" indent="0">
                  <a:buNone/>
                </a:pPr>
                <a:r>
                  <a:rPr kumimoji="1" lang="en-US" altLang="zh-CN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kumimoji="1" lang="is-IS" altLang="zh-CN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sSub>
                              <m:sSubPr>
                                <m:ctrlPr>
                                  <a:rPr kumimoji="1" lang="en-US" altLang="zh-CN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sup>
                            </m:s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sup>
                            </m:s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𝜆</m:t>
                            </m:r>
                          </m:num>
                          <m:den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kumimoji="1" lang="is-I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||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sup>
                            </m:sSup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||</m:t>
                            </m:r>
                          </m:e>
                          <m:sup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</m:oMath>
                </a14:m>
                <a:endParaRPr kumimoji="1" lang="en-US" altLang="zh-CN" dirty="0"/>
              </a:p>
              <a:p>
                <a:pPr marL="0" indent="0">
                  <a:buNone/>
                </a:pPr>
                <a:r>
                  <a:rPr kumimoji="1" lang="en-US" altLang="zh-CN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kumimoji="1" lang="is-I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r>
                          <a:rPr kumimoji="1" lang="en-US" altLang="zh-CN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sup>
                        </m:s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sup>
                        </m:s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</m:oMath>
                </a14:m>
                <a:r>
                  <a:rPr kumimoji="1" lang="en-US" altLang="zh-CN" dirty="0"/>
                  <a:t>+</a:t>
                </a:r>
                <a:r>
                  <a:rPr kumimoji="1" lang="en-US" altLang="zh-CN" dirty="0">
                    <a:ea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𝜆</m:t>
                    </m:r>
                    <m:sSup>
                      <m:sSup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kumimoji="1" lang="en-US" altLang="zh-CN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𝑡𝑜𝑡𝑎𝑙</m:t>
                            </m:r>
                          </m:sub>
                        </m:s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sup>
                        </m:s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</m:oMath>
                </a14:m>
                <a:r>
                  <a:rPr kumimoji="1" lang="en-US" altLang="zh-CN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is-IS" altLang="zh-CN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f>
                          <m:f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kumimoji="1"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kumimoji="1" lang="en-US" altLang="zh-CN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sup>
                            </m:s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sup>
                            </m:s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p>
                              <m:sSup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endParaRPr kumimoji="1" lang="en-US" altLang="zh-CN" dirty="0"/>
              </a:p>
              <a:p>
                <a:endParaRPr kumimoji="1"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l="-6" r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Chain Rule</a:t>
            </a:r>
            <a:r>
              <a:rPr kumimoji="1" lang="zh-CN" altLang="en-US" dirty="0"/>
              <a:t> </a:t>
            </a:r>
            <a:r>
              <a:rPr kumimoji="1" lang="en-US" altLang="zh-CN" dirty="0"/>
              <a:t>Review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Chain rule: to find the derivative of a composite function</a:t>
            </a:r>
            <a:endParaRPr lang="en-US" altLang="zh-CN" dirty="0"/>
          </a:p>
          <a:p>
            <a:r>
              <a:rPr lang="en-US" altLang="zh-CN" dirty="0"/>
              <a:t>If h(x)=f(g(x))</a:t>
            </a:r>
            <a:r>
              <a:rPr lang="zh-CN" altLang="en-US" dirty="0"/>
              <a:t>，</a:t>
            </a:r>
            <a:r>
              <a:rPr lang="en-US" altLang="zh-CN" dirty="0"/>
              <a:t>then h’ (x)=f’(g(x))g’(x)</a:t>
            </a:r>
            <a:endParaRPr lang="en-US" altLang="zh-CN" dirty="0"/>
          </a:p>
          <a:p>
            <a:r>
              <a:rPr lang="en-US" altLang="zh-CN" dirty="0"/>
              <a:t>E.g.:</a:t>
            </a:r>
            <a:r>
              <a:rPr lang="zh-CN" altLang="en-US" dirty="0"/>
              <a:t> </a:t>
            </a:r>
            <a:r>
              <a:rPr lang="en-US" altLang="zh-CN" dirty="0"/>
              <a:t>f(x)=2x+2</a:t>
            </a:r>
            <a:r>
              <a:rPr lang="zh-CN" altLang="en-US" dirty="0"/>
              <a:t>，</a:t>
            </a:r>
            <a:r>
              <a:rPr lang="en-US" altLang="zh-CN" dirty="0"/>
              <a:t>g(x)=3x+3</a:t>
            </a:r>
            <a:r>
              <a:rPr lang="zh-CN" altLang="en-US" dirty="0"/>
              <a:t>，</a:t>
            </a:r>
            <a:r>
              <a:rPr lang="en-US" altLang="zh-CN" dirty="0"/>
              <a:t>g(f(x))</a:t>
            </a:r>
            <a:r>
              <a:rPr lang="zh-CN" altLang="en-US" dirty="0"/>
              <a:t> </a:t>
            </a:r>
            <a:r>
              <a:rPr lang="en-US" altLang="zh-CN" dirty="0"/>
              <a:t>is a composite function,</a:t>
            </a:r>
            <a:r>
              <a:rPr lang="zh-CN" altLang="en-US" dirty="0"/>
              <a:t> </a:t>
            </a:r>
            <a:r>
              <a:rPr lang="en-US" altLang="zh-CN" dirty="0"/>
              <a:t>g′(f(x))=6</a:t>
            </a:r>
            <a:endParaRPr lang="en-US" altLang="zh-CN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3778" y="872898"/>
            <a:ext cx="8942590" cy="706964"/>
          </a:xfrm>
        </p:spPr>
        <p:txBody>
          <a:bodyPr/>
          <a:lstStyle/>
          <a:p>
            <a:r>
              <a:rPr kumimoji="1" lang="en-US" altLang="zh-CN" sz="3200" dirty="0">
                <a:solidFill>
                  <a:schemeClr val="bg1"/>
                </a:solidFill>
              </a:rPr>
              <a:t>One</a:t>
            </a:r>
            <a:r>
              <a:rPr kumimoji="1" lang="zh-CN" altLang="en-US" sz="3200" dirty="0">
                <a:solidFill>
                  <a:schemeClr val="bg1"/>
                </a:solidFill>
              </a:rPr>
              <a:t> </a:t>
            </a:r>
            <a:r>
              <a:rPr kumimoji="1" lang="en-US" altLang="zh-CN" sz="3200" dirty="0">
                <a:solidFill>
                  <a:schemeClr val="bg1"/>
                </a:solidFill>
              </a:rPr>
              <a:t>Inference</a:t>
            </a:r>
            <a:r>
              <a:rPr kumimoji="1" lang="zh-CN" altLang="en-US" sz="3200" dirty="0">
                <a:solidFill>
                  <a:schemeClr val="bg1"/>
                </a:solidFill>
              </a:rPr>
              <a:t> </a:t>
            </a:r>
            <a:r>
              <a:rPr kumimoji="1" lang="en-US" altLang="zh-CN" sz="3200" dirty="0">
                <a:solidFill>
                  <a:schemeClr val="bg1"/>
                </a:solidFill>
              </a:rPr>
              <a:t>Process</a:t>
            </a:r>
            <a:endParaRPr kumimoji="1" lang="zh-CN" altLang="en-US" sz="32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-87967" y="2896744"/>
                <a:ext cx="5669565" cy="3808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kumimoji="1" lang="en-US" altLang="zh-CN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kumimoji="1" lang="en-US" altLang="zh-CN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kumimoji="1" lang="zh-CN" altLang="en-US" dirty="0"/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7967" y="2896744"/>
                <a:ext cx="5669565" cy="380810"/>
              </a:xfrm>
              <a:prstGeom prst="rect">
                <a:avLst/>
              </a:prstGeom>
              <a:blipFill rotWithShape="1">
                <a:blip r:embed="rId1"/>
                <a:stretch>
                  <a:fillRect l="6" t="-134" r="10" b="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/>
              <p:cNvSpPr/>
              <p:nvPr/>
            </p:nvSpPr>
            <p:spPr>
              <a:xfrm>
                <a:off x="35625" y="3571015"/>
                <a:ext cx="2728503" cy="871264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is-I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  <m:e>
                          <m:sSubSup>
                            <m:sSubSup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𝑗𝑖</m:t>
                              </m:r>
                            </m:sub>
                            <m:sup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kumimoji="1"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nary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25" y="3571015"/>
                <a:ext cx="2728503" cy="871264"/>
              </a:xfrm>
              <a:prstGeom prst="rect">
                <a:avLst/>
              </a:prstGeom>
              <a:blipFill rotWithShape="1">
                <a:blip r:embed="rId2"/>
                <a:stretch>
                  <a:fillRect l="-189" t="-557" r="-164" b="-531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直线箭头连接符 6"/>
          <p:cNvCxnSpPr/>
          <p:nvPr/>
        </p:nvCxnSpPr>
        <p:spPr>
          <a:xfrm flipV="1">
            <a:off x="593766" y="3147361"/>
            <a:ext cx="380011" cy="423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/>
              <p:cNvSpPr/>
              <p:nvPr/>
            </p:nvSpPr>
            <p:spPr>
              <a:xfrm>
                <a:off x="1030809" y="2291589"/>
                <a:ext cx="1607235" cy="479618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  <m:sup>
                          <m:d>
                            <m:d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809" y="2291589"/>
                <a:ext cx="1607235" cy="479618"/>
              </a:xfrm>
              <a:prstGeom prst="rect">
                <a:avLst/>
              </a:prstGeom>
              <a:blipFill rotWithShape="1">
                <a:blip r:embed="rId3"/>
                <a:stretch>
                  <a:fillRect l="-329" t="-1033" r="-261" b="-913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直线箭头连接符 8"/>
          <p:cNvCxnSpPr>
            <a:stCxn id="8" idx="2"/>
          </p:cNvCxnSpPr>
          <p:nvPr/>
        </p:nvCxnSpPr>
        <p:spPr>
          <a:xfrm flipH="1">
            <a:off x="1655633" y="2771207"/>
            <a:ext cx="178794" cy="315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矩形 9"/>
              <p:cNvSpPr/>
              <p:nvPr/>
            </p:nvSpPr>
            <p:spPr>
              <a:xfrm>
                <a:off x="1676576" y="4651778"/>
                <a:ext cx="2728504" cy="902555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is-I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sSubSup>
                            <m:sSubSup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𝑘𝑗</m:t>
                              </m:r>
                            </m:sub>
                            <m:sup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nary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576" y="4651778"/>
                <a:ext cx="2728504" cy="902555"/>
              </a:xfrm>
              <a:prstGeom prst="rect">
                <a:avLst/>
              </a:prstGeom>
              <a:blipFill rotWithShape="1">
                <a:blip r:embed="rId4"/>
                <a:stretch>
                  <a:fillRect l="-193" t="-537" r="-160" b="-494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线箭头连接符 10"/>
          <p:cNvCxnSpPr>
            <a:stCxn id="10" idx="0"/>
          </p:cNvCxnSpPr>
          <p:nvPr/>
        </p:nvCxnSpPr>
        <p:spPr>
          <a:xfrm flipH="1" flipV="1">
            <a:off x="2362364" y="3132076"/>
            <a:ext cx="678464" cy="1519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矩形 11"/>
              <p:cNvSpPr/>
              <p:nvPr/>
            </p:nvSpPr>
            <p:spPr>
              <a:xfrm>
                <a:off x="2839492" y="2289293"/>
                <a:ext cx="1619802" cy="450764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d>
                            <m:d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9492" y="2289293"/>
                <a:ext cx="1619802" cy="450764"/>
              </a:xfrm>
              <a:prstGeom prst="rect">
                <a:avLst/>
              </a:prstGeom>
              <a:blipFill rotWithShape="1">
                <a:blip r:embed="rId5"/>
                <a:stretch>
                  <a:fillRect l="-300" t="-1153" r="-294" b="-979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线箭头连接符 12"/>
          <p:cNvCxnSpPr>
            <a:stCxn id="12" idx="2"/>
          </p:cNvCxnSpPr>
          <p:nvPr/>
        </p:nvCxnSpPr>
        <p:spPr>
          <a:xfrm flipH="1">
            <a:off x="3090039" y="2740057"/>
            <a:ext cx="559354" cy="306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矩形 13"/>
              <p:cNvSpPr/>
              <p:nvPr/>
            </p:nvSpPr>
            <p:spPr>
              <a:xfrm>
                <a:off x="3791362" y="5825516"/>
                <a:ext cx="2749663" cy="871201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is-I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Sup>
                            <m:sSubSup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𝑙𝑘</m:t>
                              </m:r>
                            </m:sub>
                            <m:sup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nary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1362" y="5825516"/>
                <a:ext cx="2749663" cy="871201"/>
              </a:xfrm>
              <a:prstGeom prst="rect">
                <a:avLst/>
              </a:prstGeom>
              <a:blipFill rotWithShape="1">
                <a:blip r:embed="rId6"/>
                <a:stretch>
                  <a:fillRect l="-177" t="-586" r="-166" b="-509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线箭头连接符 14"/>
          <p:cNvCxnSpPr/>
          <p:nvPr/>
        </p:nvCxnSpPr>
        <p:spPr>
          <a:xfrm flipH="1" flipV="1">
            <a:off x="3728852" y="3147361"/>
            <a:ext cx="1270660" cy="27137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矩形 15"/>
              <p:cNvSpPr/>
              <p:nvPr/>
            </p:nvSpPr>
            <p:spPr>
              <a:xfrm>
                <a:off x="4625326" y="2279953"/>
                <a:ext cx="2191113" cy="506870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5326" y="2279953"/>
                <a:ext cx="2191113" cy="506870"/>
              </a:xfrm>
              <a:prstGeom prst="rect">
                <a:avLst/>
              </a:prstGeom>
              <a:blipFill rotWithShape="1">
                <a:blip r:embed="rId7"/>
                <a:stretch>
                  <a:fillRect l="-231" t="-1062" r="-216" b="-915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直线箭头连接符 16"/>
          <p:cNvCxnSpPr>
            <a:stCxn id="16" idx="2"/>
          </p:cNvCxnSpPr>
          <p:nvPr/>
        </p:nvCxnSpPr>
        <p:spPr>
          <a:xfrm flipH="1">
            <a:off x="4446728" y="2786823"/>
            <a:ext cx="1274155" cy="2295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225631" y="5861141"/>
            <a:ext cx="341747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Superscript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of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w</a:t>
            </a:r>
            <a:r>
              <a:rPr kumimoji="1" lang="zh-CN" altLang="en-US" dirty="0">
                <a:solidFill>
                  <a:srgbClr val="FF0000"/>
                </a:solidFill>
              </a:rPr>
              <a:t>：</a:t>
            </a:r>
            <a:r>
              <a:rPr kumimoji="1" lang="en-US" altLang="zh-CN" dirty="0">
                <a:solidFill>
                  <a:srgbClr val="FF0000"/>
                </a:solidFill>
              </a:rPr>
              <a:t>layer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index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5124" y="2786823"/>
            <a:ext cx="4899545" cy="268468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kumimoji="1" lang="en-US" altLang="zh-CN" dirty="0"/>
                  <a:t>Derivative of 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kumimoji="1" lang="en-US" altLang="zh-CN" dirty="0"/>
                  <a:t>,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kumimoji="1" lang="zh-CN" altLang="en-US" dirty="0"/>
              </a:p>
            </p:txBody>
          </p:sp>
        </mc:Choice>
        <mc:Fallback>
          <p:sp>
            <p:nvSpPr>
              <p:cNvPr id="2" name="标题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1"/>
                <a:stretch>
                  <a:fillRect l="-6" t="-30" r="2" b="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154954" y="2624447"/>
                <a:ext cx="4227844" cy="3416300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</m:oMath>
                </a14:m>
                <a:r>
                  <a:rPr kumimoji="1" lang="en-US" altLang="zh-CN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</m:oMath>
                </a14:m>
                <a:endParaRPr kumimoji="1" lang="en-US" altLang="zh-CN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</m:oMath>
                </a14:m>
                <a:r>
                  <a:rPr kumimoji="1" lang="en-US" altLang="zh-CN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</m:oMath>
                </a14:m>
                <a:endParaRPr kumimoji="1"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54954" y="2624447"/>
                <a:ext cx="4227844" cy="3416300"/>
              </a:xfrm>
              <a:blipFill rotWithShape="1">
                <a:blip r:embed="rId2"/>
                <a:stretch>
                  <a:fillRect l="-12" t="-18" r="13" b="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954" y="4575002"/>
            <a:ext cx="3307864" cy="1812528"/>
          </a:xfrm>
          <a:prstGeom prst="rect">
            <a:avLst/>
          </a:prstGeom>
        </p:spPr>
      </p:pic>
      <p:cxnSp>
        <p:nvCxnSpPr>
          <p:cNvPr id="18" name="直接箭头连接符 17"/>
          <p:cNvCxnSpPr/>
          <p:nvPr/>
        </p:nvCxnSpPr>
        <p:spPr>
          <a:xfrm>
            <a:off x="1801504" y="3132075"/>
            <a:ext cx="2016116" cy="14429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/>
          <p:nvPr/>
        </p:nvCxnSpPr>
        <p:spPr>
          <a:xfrm>
            <a:off x="1801504" y="3654989"/>
            <a:ext cx="2016116" cy="10898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/>
              <p:cNvSpPr txBox="1"/>
              <p:nvPr/>
            </p:nvSpPr>
            <p:spPr>
              <a:xfrm>
                <a:off x="5109892" y="2989793"/>
                <a:ext cx="5669565" cy="3808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kumimoji="1" lang="en-US" altLang="zh-CN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kumimoji="1" lang="en-US" altLang="zh-CN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kumimoji="1" lang="zh-CN" altLang="en-US" dirty="0"/>
              </a:p>
            </p:txBody>
          </p:sp>
        </mc:Choice>
        <mc:Fallback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9892" y="2989793"/>
                <a:ext cx="5669565" cy="380810"/>
              </a:xfrm>
              <a:prstGeom prst="rect">
                <a:avLst/>
              </a:prstGeom>
              <a:blipFill rotWithShape="1">
                <a:blip r:embed="rId4"/>
                <a:stretch>
                  <a:fillRect l="-1" t="-56" r="6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矩形 20"/>
              <p:cNvSpPr/>
              <p:nvPr/>
            </p:nvSpPr>
            <p:spPr>
              <a:xfrm>
                <a:off x="5233484" y="3664064"/>
                <a:ext cx="2728503" cy="871264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is-I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  <m:e>
                          <m:sSubSup>
                            <m:sSubSup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𝑗𝑖</m:t>
                              </m:r>
                            </m:sub>
                            <m:sup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kumimoji="1"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nary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1" name="矩形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3484" y="3664064"/>
                <a:ext cx="2728503" cy="871264"/>
              </a:xfrm>
              <a:prstGeom prst="rect">
                <a:avLst/>
              </a:prstGeom>
              <a:blipFill rotWithShape="1">
                <a:blip r:embed="rId5"/>
                <a:stretch>
                  <a:fillRect l="-179" t="-596" r="-173" b="-492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直线箭头连接符 21"/>
          <p:cNvCxnSpPr/>
          <p:nvPr/>
        </p:nvCxnSpPr>
        <p:spPr>
          <a:xfrm flipV="1">
            <a:off x="5791625" y="3240410"/>
            <a:ext cx="380011" cy="423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矩形 22"/>
              <p:cNvSpPr/>
              <p:nvPr/>
            </p:nvSpPr>
            <p:spPr>
              <a:xfrm>
                <a:off x="6228668" y="2384638"/>
                <a:ext cx="1607235" cy="479618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  <m:sup>
                          <m:d>
                            <m:d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3" name="矩形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8668" y="2384638"/>
                <a:ext cx="1607235" cy="479618"/>
              </a:xfrm>
              <a:prstGeom prst="rect">
                <a:avLst/>
              </a:prstGeom>
              <a:blipFill rotWithShape="1">
                <a:blip r:embed="rId6"/>
                <a:stretch>
                  <a:fillRect l="-313" t="-1104" r="-276" b="-975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线箭头连接符 23"/>
          <p:cNvCxnSpPr>
            <a:stCxn id="23" idx="2"/>
          </p:cNvCxnSpPr>
          <p:nvPr/>
        </p:nvCxnSpPr>
        <p:spPr>
          <a:xfrm flipH="1">
            <a:off x="6853492" y="2864256"/>
            <a:ext cx="178794" cy="315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矩形 24"/>
              <p:cNvSpPr/>
              <p:nvPr/>
            </p:nvSpPr>
            <p:spPr>
              <a:xfrm>
                <a:off x="6874435" y="4744827"/>
                <a:ext cx="2728504" cy="902555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is-I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sSubSup>
                            <m:sSubSup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𝑘𝑗</m:t>
                              </m:r>
                            </m:sub>
                            <m:sup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nary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5" name="矩形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4435" y="4744827"/>
                <a:ext cx="2728504" cy="902555"/>
              </a:xfrm>
              <a:prstGeom prst="rect">
                <a:avLst/>
              </a:prstGeom>
              <a:blipFill rotWithShape="1">
                <a:blip r:embed="rId7"/>
                <a:stretch>
                  <a:fillRect l="-183" t="-575" r="-169" b="-527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直线箭头连接符 27"/>
          <p:cNvCxnSpPr>
            <a:stCxn id="25" idx="0"/>
          </p:cNvCxnSpPr>
          <p:nvPr/>
        </p:nvCxnSpPr>
        <p:spPr>
          <a:xfrm flipH="1" flipV="1">
            <a:off x="7560223" y="3225125"/>
            <a:ext cx="678464" cy="1519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矩形 28"/>
              <p:cNvSpPr/>
              <p:nvPr/>
            </p:nvSpPr>
            <p:spPr>
              <a:xfrm>
                <a:off x="8037351" y="2382342"/>
                <a:ext cx="1619802" cy="450764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d>
                            <m:d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9" name="矩形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7351" y="2382342"/>
                <a:ext cx="1619802" cy="450764"/>
              </a:xfrm>
              <a:prstGeom prst="rect">
                <a:avLst/>
              </a:prstGeom>
              <a:blipFill rotWithShape="1">
                <a:blip r:embed="rId8"/>
                <a:stretch>
                  <a:fillRect l="-323" t="-1087" r="-270" b="-1045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直线箭头连接符 29"/>
          <p:cNvCxnSpPr>
            <a:stCxn id="29" idx="2"/>
          </p:cNvCxnSpPr>
          <p:nvPr/>
        </p:nvCxnSpPr>
        <p:spPr>
          <a:xfrm flipH="1">
            <a:off x="8287898" y="2833106"/>
            <a:ext cx="559354" cy="306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矩形 30"/>
              <p:cNvSpPr/>
              <p:nvPr/>
            </p:nvSpPr>
            <p:spPr>
              <a:xfrm>
                <a:off x="8989221" y="5918565"/>
                <a:ext cx="2749663" cy="871201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is-I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Sup>
                            <m:sSubSup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𝑙𝑘</m:t>
                              </m:r>
                            </m:sub>
                            <m:sup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nary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1" name="矩形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9221" y="5918565"/>
                <a:ext cx="2749663" cy="871201"/>
              </a:xfrm>
              <a:prstGeom prst="rect">
                <a:avLst/>
              </a:prstGeom>
              <a:blipFill rotWithShape="1">
                <a:blip r:embed="rId9"/>
                <a:stretch>
                  <a:fillRect l="-191" t="-552" r="-152" b="-543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直线箭头连接符 31"/>
          <p:cNvCxnSpPr/>
          <p:nvPr/>
        </p:nvCxnSpPr>
        <p:spPr>
          <a:xfrm flipH="1" flipV="1">
            <a:off x="8926711" y="3240410"/>
            <a:ext cx="1270660" cy="27137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矩形 32"/>
              <p:cNvSpPr/>
              <p:nvPr/>
            </p:nvSpPr>
            <p:spPr>
              <a:xfrm>
                <a:off x="9823185" y="2373002"/>
                <a:ext cx="2191113" cy="506870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3" name="矩形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3185" y="2373002"/>
                <a:ext cx="2191113" cy="506870"/>
              </a:xfrm>
              <a:prstGeom prst="rect">
                <a:avLst/>
              </a:prstGeom>
              <a:blipFill rotWithShape="1">
                <a:blip r:embed="rId10"/>
                <a:stretch>
                  <a:fillRect l="-220" t="-1004" r="-198" b="-848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直线箭头连接符 33"/>
          <p:cNvCxnSpPr>
            <a:stCxn id="33" idx="2"/>
          </p:cNvCxnSpPr>
          <p:nvPr/>
        </p:nvCxnSpPr>
        <p:spPr>
          <a:xfrm flipH="1">
            <a:off x="9644587" y="2879872"/>
            <a:ext cx="1274155" cy="2295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kumimoji="1" lang="en-US" altLang="zh-CN" dirty="0"/>
                  <a:t>Derivative of 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kumimoji="1" lang="en-US" altLang="zh-CN" dirty="0"/>
                  <a:t>,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kumimoji="1" lang="zh-CN" altLang="en-US" dirty="0"/>
              </a:p>
            </p:txBody>
          </p:sp>
        </mc:Choice>
        <mc:Fallback>
          <p:sp>
            <p:nvSpPr>
              <p:cNvPr id="2" name="标题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1"/>
                <a:stretch>
                  <a:fillRect l="-6" t="-30" r="2" b="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154954" y="2624447"/>
                <a:ext cx="4227844" cy="3416300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</m:oMath>
                </a14:m>
                <a:r>
                  <a:rPr kumimoji="1" lang="en-US" altLang="zh-CN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</m:oMath>
                </a14:m>
                <a:endParaRPr kumimoji="1" lang="en-US" altLang="zh-CN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</m:oMath>
                </a14:m>
                <a:r>
                  <a:rPr kumimoji="1" lang="en-US" altLang="zh-CN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</m:oMath>
                </a14:m>
                <a:endParaRPr kumimoji="1"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54954" y="2624447"/>
                <a:ext cx="4227844" cy="3416300"/>
              </a:xfrm>
              <a:blipFill rotWithShape="1">
                <a:blip r:embed="rId2"/>
                <a:stretch>
                  <a:fillRect l="-12" t="-18" r="13" b="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矩形 18"/>
          <p:cNvSpPr/>
          <p:nvPr/>
        </p:nvSpPr>
        <p:spPr>
          <a:xfrm>
            <a:off x="2185062" y="2624447"/>
            <a:ext cx="1246909" cy="5229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2137556" y="3302141"/>
            <a:ext cx="1246909" cy="45046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2" name="直线箭头连接符 21"/>
          <p:cNvCxnSpPr>
            <a:stCxn id="19" idx="2"/>
            <a:endCxn id="25" idx="0"/>
          </p:cNvCxnSpPr>
          <p:nvPr/>
        </p:nvCxnSpPr>
        <p:spPr>
          <a:xfrm>
            <a:off x="2808517" y="3147361"/>
            <a:ext cx="408511" cy="14647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线箭头连接符 23"/>
          <p:cNvCxnSpPr>
            <a:stCxn id="20" idx="2"/>
            <a:endCxn id="25" idx="0"/>
          </p:cNvCxnSpPr>
          <p:nvPr/>
        </p:nvCxnSpPr>
        <p:spPr>
          <a:xfrm>
            <a:off x="2761011" y="3752603"/>
            <a:ext cx="456017" cy="8595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本框 24"/>
              <p:cNvSpPr txBox="1"/>
              <p:nvPr/>
            </p:nvSpPr>
            <p:spPr>
              <a:xfrm>
                <a:off x="1610562" y="4612110"/>
                <a:ext cx="3212931" cy="569130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dirty="0">
                    <a:solidFill>
                      <a:srgbClr val="FF0000"/>
                    </a:solidFill>
                    <a:ea typeface="Cambria Math" panose="02040503050406030204" pitchFamily="18" charset="0"/>
                    <a:cs typeface="Cambria Math" panose="02040503050406030204" pitchFamily="18" charset="0"/>
                  </a:rPr>
                  <a:t>Let</a:t>
                </a:r>
                <a:r>
                  <a:rPr kumimoji="1" lang="zh-CN" altLang="en-US" dirty="0">
                    <a:solidFill>
                      <a:srgbClr val="FF0000"/>
                    </a:solidFill>
                    <a:ea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𝛿</m:t>
                        </m:r>
                      </m:e>
                      <m:sup>
                        <m:r>
                          <a:rPr kumimoji="1"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3</m:t>
                        </m:r>
                        <m:r>
                          <a:rPr kumimoji="1"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kumimoji="1"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  <m:r>
                      <a:rPr kumimoji="1"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f>
                      <m:fPr>
                        <m:ctrlP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</m:oMath>
                </a14:m>
                <a:endParaRPr kumimoji="1" lang="zh-CN" altLang="en-US" dirty="0"/>
              </a:p>
            </p:txBody>
          </p:sp>
        </mc:Choice>
        <mc:Fallback>
          <p:sp>
            <p:nvSpPr>
              <p:cNvPr id="25" name="文本框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0562" y="4612110"/>
                <a:ext cx="3212931" cy="569130"/>
              </a:xfrm>
              <a:prstGeom prst="rect">
                <a:avLst/>
              </a:prstGeom>
              <a:blipFill rotWithShape="1">
                <a:blip r:embed="rId3"/>
                <a:stretch>
                  <a:fillRect l="-164" t="-911" r="-137" b="-733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本框 22"/>
              <p:cNvSpPr txBox="1"/>
              <p:nvPr/>
            </p:nvSpPr>
            <p:spPr>
              <a:xfrm>
                <a:off x="5109892" y="2989793"/>
                <a:ext cx="5669565" cy="3808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kumimoji="1" lang="en-US" altLang="zh-CN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kumimoji="1" lang="en-US" altLang="zh-CN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kumimoji="1" lang="zh-CN" altLang="en-US" dirty="0"/>
              </a:p>
            </p:txBody>
          </p:sp>
        </mc:Choice>
        <mc:Fallback>
          <p:sp>
            <p:nvSpPr>
              <p:cNvPr id="23" name="文本框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9892" y="2989793"/>
                <a:ext cx="5669565" cy="380810"/>
              </a:xfrm>
              <a:prstGeom prst="rect">
                <a:avLst/>
              </a:prstGeom>
              <a:blipFill rotWithShape="1">
                <a:blip r:embed="rId4"/>
                <a:stretch>
                  <a:fillRect l="-1" t="-56" r="6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矩形 25"/>
              <p:cNvSpPr/>
              <p:nvPr/>
            </p:nvSpPr>
            <p:spPr>
              <a:xfrm>
                <a:off x="5233484" y="3664064"/>
                <a:ext cx="2728503" cy="871264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is-I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  <m:e>
                          <m:sSubSup>
                            <m:sSubSup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𝑗𝑖</m:t>
                              </m:r>
                            </m:sub>
                            <m:sup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kumimoji="1"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nary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6" name="矩形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3484" y="3664064"/>
                <a:ext cx="2728503" cy="871264"/>
              </a:xfrm>
              <a:prstGeom prst="rect">
                <a:avLst/>
              </a:prstGeom>
              <a:blipFill rotWithShape="1">
                <a:blip r:embed="rId5"/>
                <a:stretch>
                  <a:fillRect l="-179" t="-596" r="-173" b="-492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直线箭头连接符 26"/>
          <p:cNvCxnSpPr/>
          <p:nvPr/>
        </p:nvCxnSpPr>
        <p:spPr>
          <a:xfrm flipV="1">
            <a:off x="5791625" y="3240410"/>
            <a:ext cx="380011" cy="423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矩形 27"/>
              <p:cNvSpPr/>
              <p:nvPr/>
            </p:nvSpPr>
            <p:spPr>
              <a:xfrm>
                <a:off x="6228668" y="2384638"/>
                <a:ext cx="1607235" cy="479618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  <m:sup>
                          <m:d>
                            <m:d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8" name="矩形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8668" y="2384638"/>
                <a:ext cx="1607235" cy="479618"/>
              </a:xfrm>
              <a:prstGeom prst="rect">
                <a:avLst/>
              </a:prstGeom>
              <a:blipFill rotWithShape="1">
                <a:blip r:embed="rId6"/>
                <a:stretch>
                  <a:fillRect l="-313" t="-1104" r="-276" b="-975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直线箭头连接符 28"/>
          <p:cNvCxnSpPr>
            <a:stCxn id="28" idx="2"/>
          </p:cNvCxnSpPr>
          <p:nvPr/>
        </p:nvCxnSpPr>
        <p:spPr>
          <a:xfrm flipH="1">
            <a:off x="6853492" y="2864256"/>
            <a:ext cx="178794" cy="315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矩形 29"/>
              <p:cNvSpPr/>
              <p:nvPr/>
            </p:nvSpPr>
            <p:spPr>
              <a:xfrm>
                <a:off x="6874435" y="4744827"/>
                <a:ext cx="2728504" cy="902555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is-I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sSubSup>
                            <m:sSubSup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𝑘𝑗</m:t>
                              </m:r>
                            </m:sub>
                            <m:sup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nary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0" name="矩形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4435" y="4744827"/>
                <a:ext cx="2728504" cy="902555"/>
              </a:xfrm>
              <a:prstGeom prst="rect">
                <a:avLst/>
              </a:prstGeom>
              <a:blipFill rotWithShape="1">
                <a:blip r:embed="rId7"/>
                <a:stretch>
                  <a:fillRect l="-183" t="-575" r="-169" b="-527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直线箭头连接符 30"/>
          <p:cNvCxnSpPr>
            <a:stCxn id="30" idx="0"/>
          </p:cNvCxnSpPr>
          <p:nvPr/>
        </p:nvCxnSpPr>
        <p:spPr>
          <a:xfrm flipH="1" flipV="1">
            <a:off x="7560223" y="3225125"/>
            <a:ext cx="678464" cy="1519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矩形 31"/>
              <p:cNvSpPr/>
              <p:nvPr/>
            </p:nvSpPr>
            <p:spPr>
              <a:xfrm>
                <a:off x="8037351" y="2382342"/>
                <a:ext cx="1619802" cy="450764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d>
                            <m:d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2" name="矩形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7351" y="2382342"/>
                <a:ext cx="1619802" cy="450764"/>
              </a:xfrm>
              <a:prstGeom prst="rect">
                <a:avLst/>
              </a:prstGeom>
              <a:blipFill rotWithShape="1">
                <a:blip r:embed="rId8"/>
                <a:stretch>
                  <a:fillRect l="-323" t="-1087" r="-270" b="-1045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线箭头连接符 32"/>
          <p:cNvCxnSpPr>
            <a:stCxn id="32" idx="2"/>
          </p:cNvCxnSpPr>
          <p:nvPr/>
        </p:nvCxnSpPr>
        <p:spPr>
          <a:xfrm flipH="1">
            <a:off x="8287898" y="2833106"/>
            <a:ext cx="559354" cy="306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矩形 33"/>
              <p:cNvSpPr/>
              <p:nvPr/>
            </p:nvSpPr>
            <p:spPr>
              <a:xfrm>
                <a:off x="8989221" y="5918565"/>
                <a:ext cx="2749663" cy="871201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is-I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Sup>
                            <m:sSubSup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𝑙𝑘</m:t>
                              </m:r>
                            </m:sub>
                            <m:sup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nary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4" name="矩形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9221" y="5918565"/>
                <a:ext cx="2749663" cy="871201"/>
              </a:xfrm>
              <a:prstGeom prst="rect">
                <a:avLst/>
              </a:prstGeom>
              <a:blipFill rotWithShape="1">
                <a:blip r:embed="rId9"/>
                <a:stretch>
                  <a:fillRect l="-191" t="-552" r="-152" b="-543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直线箭头连接符 34"/>
          <p:cNvCxnSpPr/>
          <p:nvPr/>
        </p:nvCxnSpPr>
        <p:spPr>
          <a:xfrm flipH="1" flipV="1">
            <a:off x="8926711" y="3240410"/>
            <a:ext cx="1270660" cy="27137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矩形 35"/>
              <p:cNvSpPr/>
              <p:nvPr/>
            </p:nvSpPr>
            <p:spPr>
              <a:xfrm>
                <a:off x="9823185" y="2373002"/>
                <a:ext cx="2191113" cy="506870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6" name="矩形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3185" y="2373002"/>
                <a:ext cx="2191113" cy="506870"/>
              </a:xfrm>
              <a:prstGeom prst="rect">
                <a:avLst/>
              </a:prstGeom>
              <a:blipFill rotWithShape="1">
                <a:blip r:embed="rId10"/>
                <a:stretch>
                  <a:fillRect l="-220" t="-1004" r="-198" b="-848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直线箭头连接符 36"/>
          <p:cNvCxnSpPr>
            <a:stCxn id="36" idx="2"/>
          </p:cNvCxnSpPr>
          <p:nvPr/>
        </p:nvCxnSpPr>
        <p:spPr>
          <a:xfrm flipH="1">
            <a:off x="9644587" y="2879872"/>
            <a:ext cx="1274155" cy="2295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kumimoji="1" lang="en-US" altLang="zh-CN" dirty="0"/>
                  <a:t>Derivative of E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kumimoji="1" lang="en-US" altLang="zh-CN" dirty="0"/>
                  <a:t>,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kumimoji="1" lang="zh-CN" altLang="en-US" dirty="0"/>
              </a:p>
            </p:txBody>
          </p:sp>
        </mc:Choice>
        <mc:Fallback>
          <p:sp>
            <p:nvSpPr>
              <p:cNvPr id="2" name="标题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1"/>
                <a:stretch>
                  <a:fillRect l="-6" t="-30" r="2" b="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46953" y="2529102"/>
                <a:ext cx="4863201" cy="3416300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</m:oMath>
                </a14:m>
                <a:r>
                  <a:rPr kumimoji="1" lang="en-US" altLang="zh-CN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</m:oMath>
                </a14:m>
                <a:endParaRPr kumimoji="1" lang="en-US" altLang="zh-CN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</m:oMath>
                </a14:m>
                <a:r>
                  <a:rPr kumimoji="1" lang="en-US" altLang="zh-CN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</m:oMath>
                </a14:m>
                <a:endParaRPr kumimoji="1" lang="zh-CN" altLang="en-US" dirty="0"/>
              </a:p>
            </p:txBody>
          </p:sp>
        </mc:Choice>
        <mc:Fallback>
          <p:sp>
            <p:nvSpPr>
              <p:cNvPr id="17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6953" y="2529102"/>
                <a:ext cx="4863201" cy="3416300"/>
              </a:xfrm>
              <a:blipFill rotWithShape="1">
                <a:blip r:embed="rId2"/>
                <a:stretch>
                  <a:fillRect l="-11" t="-16" r="5" b="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183" y="4363945"/>
            <a:ext cx="3724169" cy="2040640"/>
          </a:xfrm>
          <a:prstGeom prst="rect">
            <a:avLst/>
          </a:prstGeom>
        </p:spPr>
      </p:pic>
      <p:cxnSp>
        <p:nvCxnSpPr>
          <p:cNvPr id="19" name="直接箭头连接符 18"/>
          <p:cNvCxnSpPr/>
          <p:nvPr/>
        </p:nvCxnSpPr>
        <p:spPr>
          <a:xfrm>
            <a:off x="1405719" y="3016332"/>
            <a:ext cx="1160060" cy="15010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>
            <a:off x="1344304" y="3623481"/>
            <a:ext cx="1670692" cy="8187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/>
              <p:cNvSpPr txBox="1"/>
              <p:nvPr/>
            </p:nvSpPr>
            <p:spPr>
              <a:xfrm>
                <a:off x="5109892" y="2989793"/>
                <a:ext cx="5669565" cy="3808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kumimoji="1" lang="en-US" altLang="zh-CN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kumimoji="1" lang="en-US" altLang="zh-CN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kumimoji="1" lang="zh-CN" altLang="en-US" dirty="0"/>
              </a:p>
            </p:txBody>
          </p:sp>
        </mc:Choice>
        <mc:Fallback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9892" y="2989793"/>
                <a:ext cx="5669565" cy="380810"/>
              </a:xfrm>
              <a:prstGeom prst="rect">
                <a:avLst/>
              </a:prstGeom>
              <a:blipFill rotWithShape="1">
                <a:blip r:embed="rId4"/>
                <a:stretch>
                  <a:fillRect l="-1" t="-56" r="6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矩形 21"/>
              <p:cNvSpPr/>
              <p:nvPr/>
            </p:nvSpPr>
            <p:spPr>
              <a:xfrm>
                <a:off x="5233484" y="3664064"/>
                <a:ext cx="2728503" cy="871264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is-I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  <m:e>
                          <m:sSubSup>
                            <m:sSubSup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𝑗𝑖</m:t>
                              </m:r>
                            </m:sub>
                            <m:sup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kumimoji="1"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nary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2" name="矩形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3484" y="3664064"/>
                <a:ext cx="2728503" cy="871264"/>
              </a:xfrm>
              <a:prstGeom prst="rect">
                <a:avLst/>
              </a:prstGeom>
              <a:blipFill rotWithShape="1">
                <a:blip r:embed="rId5"/>
                <a:stretch>
                  <a:fillRect l="-179" t="-596" r="-173" b="-492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直线箭头连接符 22"/>
          <p:cNvCxnSpPr/>
          <p:nvPr/>
        </p:nvCxnSpPr>
        <p:spPr>
          <a:xfrm flipV="1">
            <a:off x="5791625" y="3240410"/>
            <a:ext cx="380011" cy="423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矩形 23"/>
              <p:cNvSpPr/>
              <p:nvPr/>
            </p:nvSpPr>
            <p:spPr>
              <a:xfrm>
                <a:off x="6228668" y="2384638"/>
                <a:ext cx="1607235" cy="479618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  <m:sup>
                          <m:d>
                            <m:d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4" name="矩形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8668" y="2384638"/>
                <a:ext cx="1607235" cy="479618"/>
              </a:xfrm>
              <a:prstGeom prst="rect">
                <a:avLst/>
              </a:prstGeom>
              <a:blipFill rotWithShape="1">
                <a:blip r:embed="rId6"/>
                <a:stretch>
                  <a:fillRect l="-313" t="-1104" r="-276" b="-975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直线箭头连接符 24"/>
          <p:cNvCxnSpPr>
            <a:stCxn id="24" idx="2"/>
          </p:cNvCxnSpPr>
          <p:nvPr/>
        </p:nvCxnSpPr>
        <p:spPr>
          <a:xfrm flipH="1">
            <a:off x="6853492" y="2864256"/>
            <a:ext cx="178794" cy="315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矩形 26"/>
              <p:cNvSpPr/>
              <p:nvPr/>
            </p:nvSpPr>
            <p:spPr>
              <a:xfrm>
                <a:off x="6874435" y="4744827"/>
                <a:ext cx="2728504" cy="902555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is-I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sSubSup>
                            <m:sSubSup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𝑘𝑗</m:t>
                              </m:r>
                            </m:sub>
                            <m:sup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nary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7" name="矩形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4435" y="4744827"/>
                <a:ext cx="2728504" cy="902555"/>
              </a:xfrm>
              <a:prstGeom prst="rect">
                <a:avLst/>
              </a:prstGeom>
              <a:blipFill rotWithShape="1">
                <a:blip r:embed="rId7"/>
                <a:stretch>
                  <a:fillRect l="-183" t="-575" r="-169" b="-527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直线箭头连接符 27"/>
          <p:cNvCxnSpPr>
            <a:stCxn id="27" idx="0"/>
          </p:cNvCxnSpPr>
          <p:nvPr/>
        </p:nvCxnSpPr>
        <p:spPr>
          <a:xfrm flipH="1" flipV="1">
            <a:off x="7560223" y="3225125"/>
            <a:ext cx="678464" cy="1519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矩形 28"/>
              <p:cNvSpPr/>
              <p:nvPr/>
            </p:nvSpPr>
            <p:spPr>
              <a:xfrm>
                <a:off x="8037351" y="2382342"/>
                <a:ext cx="1619802" cy="450764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d>
                            <m:d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9" name="矩形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7351" y="2382342"/>
                <a:ext cx="1619802" cy="450764"/>
              </a:xfrm>
              <a:prstGeom prst="rect">
                <a:avLst/>
              </a:prstGeom>
              <a:blipFill rotWithShape="1">
                <a:blip r:embed="rId8"/>
                <a:stretch>
                  <a:fillRect l="-323" t="-1087" r="-270" b="-1045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直线箭头连接符 29"/>
          <p:cNvCxnSpPr>
            <a:stCxn id="29" idx="2"/>
          </p:cNvCxnSpPr>
          <p:nvPr/>
        </p:nvCxnSpPr>
        <p:spPr>
          <a:xfrm flipH="1">
            <a:off x="8287898" y="2833106"/>
            <a:ext cx="559354" cy="306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矩形 30"/>
              <p:cNvSpPr/>
              <p:nvPr/>
            </p:nvSpPr>
            <p:spPr>
              <a:xfrm>
                <a:off x="8989221" y="5918565"/>
                <a:ext cx="2749663" cy="871201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is-I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Sup>
                            <m:sSubSup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𝑙𝑘</m:t>
                              </m:r>
                            </m:sub>
                            <m:sup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nary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1" name="矩形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9221" y="5918565"/>
                <a:ext cx="2749663" cy="871201"/>
              </a:xfrm>
              <a:prstGeom prst="rect">
                <a:avLst/>
              </a:prstGeom>
              <a:blipFill rotWithShape="1">
                <a:blip r:embed="rId9"/>
                <a:stretch>
                  <a:fillRect l="-191" t="-552" r="-152" b="-543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直线箭头连接符 31"/>
          <p:cNvCxnSpPr/>
          <p:nvPr/>
        </p:nvCxnSpPr>
        <p:spPr>
          <a:xfrm flipH="1" flipV="1">
            <a:off x="8926711" y="3240410"/>
            <a:ext cx="1270660" cy="27137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矩形 32"/>
              <p:cNvSpPr/>
              <p:nvPr/>
            </p:nvSpPr>
            <p:spPr>
              <a:xfrm>
                <a:off x="9823185" y="2373002"/>
                <a:ext cx="2191113" cy="506870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3" name="矩形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3185" y="2373002"/>
                <a:ext cx="2191113" cy="506870"/>
              </a:xfrm>
              <a:prstGeom prst="rect">
                <a:avLst/>
              </a:prstGeom>
              <a:blipFill rotWithShape="1">
                <a:blip r:embed="rId10"/>
                <a:stretch>
                  <a:fillRect l="-220" t="-1004" r="-198" b="-848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直线箭头连接符 33"/>
          <p:cNvCxnSpPr>
            <a:stCxn id="33" idx="2"/>
          </p:cNvCxnSpPr>
          <p:nvPr/>
        </p:nvCxnSpPr>
        <p:spPr>
          <a:xfrm flipH="1">
            <a:off x="9644587" y="2879872"/>
            <a:ext cx="1274155" cy="2295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kumimoji="1" lang="en-US" altLang="zh-CN" dirty="0"/>
                  <a:t>Derivative of E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kumimoji="1" lang="en-US" altLang="zh-CN" dirty="0"/>
                  <a:t>,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kumimoji="1" lang="zh-CN" altLang="en-US" dirty="0"/>
              </a:p>
            </p:txBody>
          </p:sp>
        </mc:Choice>
        <mc:Fallback>
          <p:sp>
            <p:nvSpPr>
              <p:cNvPr id="2" name="标题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1"/>
                <a:stretch>
                  <a:fillRect l="-6" t="-30" r="2" b="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46953" y="2529102"/>
                <a:ext cx="4863201" cy="3416300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</m:oMath>
                </a14:m>
                <a:r>
                  <a:rPr kumimoji="1" lang="en-US" altLang="zh-CN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</m:oMath>
                </a14:m>
                <a:endParaRPr kumimoji="1" lang="en-US" altLang="zh-CN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</m:oMath>
                </a14:m>
                <a:r>
                  <a:rPr kumimoji="1" lang="en-US" altLang="zh-CN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</m:oMath>
                </a14:m>
                <a:endParaRPr kumimoji="1" lang="zh-CN" altLang="en-US" dirty="0"/>
              </a:p>
            </p:txBody>
          </p:sp>
        </mc:Choice>
        <mc:Fallback>
          <p:sp>
            <p:nvSpPr>
              <p:cNvPr id="17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6953" y="2529102"/>
                <a:ext cx="4863201" cy="3416300"/>
              </a:xfrm>
              <a:blipFill rotWithShape="1">
                <a:blip r:embed="rId2"/>
                <a:stretch>
                  <a:fillRect l="-11" t="-16" r="5" b="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矩形 22"/>
          <p:cNvSpPr/>
          <p:nvPr/>
        </p:nvSpPr>
        <p:spPr>
          <a:xfrm>
            <a:off x="1686564" y="2564759"/>
            <a:ext cx="2265839" cy="5229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1610546" y="3221292"/>
            <a:ext cx="2265839" cy="4504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本框 24"/>
              <p:cNvSpPr txBox="1"/>
              <p:nvPr/>
            </p:nvSpPr>
            <p:spPr>
              <a:xfrm>
                <a:off x="400050" y="4647803"/>
                <a:ext cx="4701472" cy="569130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/>
                  <a:t>Let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𝛿</m:t>
                        </m:r>
                      </m:e>
                      <m:sup>
                        <m:r>
                          <a:rPr kumimoji="1"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  <m:r>
                          <a:rPr kumimoji="1"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kumimoji="1"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f>
                      <m:fPr>
                        <m:ctrlP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  <m:f>
                      <m:fPr>
                        <m:ctrlP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  <m:f>
                      <m:fPr>
                        <m:ctrlP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  <m:r>
                      <a:rPr lang="en-US" altLang="zh-CN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</m:oMath>
                </a14:m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5" name="文本框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050" y="4647803"/>
                <a:ext cx="4701472" cy="569130"/>
              </a:xfrm>
              <a:prstGeom prst="rect">
                <a:avLst/>
              </a:prstGeom>
              <a:blipFill rotWithShape="1">
                <a:blip r:embed="rId3"/>
                <a:stretch>
                  <a:fillRect l="-108" t="-934" r="-96" b="-821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直线箭头连接符 28"/>
          <p:cNvCxnSpPr>
            <a:endCxn id="25" idx="0"/>
          </p:cNvCxnSpPr>
          <p:nvPr/>
        </p:nvCxnSpPr>
        <p:spPr>
          <a:xfrm flipH="1">
            <a:off x="2750786" y="3104724"/>
            <a:ext cx="577120" cy="1543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线箭头连接符 30"/>
          <p:cNvCxnSpPr>
            <a:stCxn id="24" idx="2"/>
            <a:endCxn id="25" idx="0"/>
          </p:cNvCxnSpPr>
          <p:nvPr/>
        </p:nvCxnSpPr>
        <p:spPr>
          <a:xfrm>
            <a:off x="2743466" y="3671755"/>
            <a:ext cx="7320" cy="976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本框 21"/>
              <p:cNvSpPr txBox="1"/>
              <p:nvPr/>
            </p:nvSpPr>
            <p:spPr>
              <a:xfrm>
                <a:off x="5109892" y="2989793"/>
                <a:ext cx="5669565" cy="3808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kumimoji="1" lang="en-US" altLang="zh-CN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kumimoji="1" lang="en-US" altLang="zh-CN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kumimoji="1" lang="zh-CN" altLang="en-US" dirty="0"/>
              </a:p>
            </p:txBody>
          </p:sp>
        </mc:Choice>
        <mc:Fallback>
          <p:sp>
            <p:nvSpPr>
              <p:cNvPr id="22" name="文本框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9892" y="2989793"/>
                <a:ext cx="5669565" cy="380810"/>
              </a:xfrm>
              <a:prstGeom prst="rect">
                <a:avLst/>
              </a:prstGeom>
              <a:blipFill rotWithShape="1">
                <a:blip r:embed="rId4"/>
                <a:stretch>
                  <a:fillRect l="-1" t="-56" r="6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矩形 25"/>
              <p:cNvSpPr/>
              <p:nvPr/>
            </p:nvSpPr>
            <p:spPr>
              <a:xfrm>
                <a:off x="5233484" y="3664064"/>
                <a:ext cx="2728503" cy="871264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is-I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  <m:e>
                          <m:sSubSup>
                            <m:sSubSup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𝑗𝑖</m:t>
                              </m:r>
                            </m:sub>
                            <m:sup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kumimoji="1"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nary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6" name="矩形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3484" y="3664064"/>
                <a:ext cx="2728503" cy="871264"/>
              </a:xfrm>
              <a:prstGeom prst="rect">
                <a:avLst/>
              </a:prstGeom>
              <a:blipFill rotWithShape="1">
                <a:blip r:embed="rId5"/>
                <a:stretch>
                  <a:fillRect l="-179" t="-596" r="-173" b="-492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直线箭头连接符 26"/>
          <p:cNvCxnSpPr/>
          <p:nvPr/>
        </p:nvCxnSpPr>
        <p:spPr>
          <a:xfrm flipV="1">
            <a:off x="5791625" y="3240410"/>
            <a:ext cx="380011" cy="423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矩形 27"/>
              <p:cNvSpPr/>
              <p:nvPr/>
            </p:nvSpPr>
            <p:spPr>
              <a:xfrm>
                <a:off x="6228668" y="2384638"/>
                <a:ext cx="1607235" cy="479618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  <m:sup>
                          <m:d>
                            <m:d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8" name="矩形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8668" y="2384638"/>
                <a:ext cx="1607235" cy="479618"/>
              </a:xfrm>
              <a:prstGeom prst="rect">
                <a:avLst/>
              </a:prstGeom>
              <a:blipFill rotWithShape="1">
                <a:blip r:embed="rId6"/>
                <a:stretch>
                  <a:fillRect l="-313" t="-1104" r="-276" b="-975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直线箭头连接符 29"/>
          <p:cNvCxnSpPr>
            <a:stCxn id="28" idx="2"/>
          </p:cNvCxnSpPr>
          <p:nvPr/>
        </p:nvCxnSpPr>
        <p:spPr>
          <a:xfrm flipH="1">
            <a:off x="6853492" y="2864256"/>
            <a:ext cx="178794" cy="315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矩形 31"/>
              <p:cNvSpPr/>
              <p:nvPr/>
            </p:nvSpPr>
            <p:spPr>
              <a:xfrm>
                <a:off x="6874435" y="4744827"/>
                <a:ext cx="2728504" cy="902555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is-I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sSubSup>
                            <m:sSubSup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𝑘𝑗</m:t>
                              </m:r>
                            </m:sub>
                            <m:sup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nary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2" name="矩形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4435" y="4744827"/>
                <a:ext cx="2728504" cy="902555"/>
              </a:xfrm>
              <a:prstGeom prst="rect">
                <a:avLst/>
              </a:prstGeom>
              <a:blipFill rotWithShape="1">
                <a:blip r:embed="rId7"/>
                <a:stretch>
                  <a:fillRect l="-183" t="-575" r="-169" b="-527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线箭头连接符 32"/>
          <p:cNvCxnSpPr>
            <a:stCxn id="32" idx="0"/>
          </p:cNvCxnSpPr>
          <p:nvPr/>
        </p:nvCxnSpPr>
        <p:spPr>
          <a:xfrm flipH="1" flipV="1">
            <a:off x="7560223" y="3225125"/>
            <a:ext cx="678464" cy="1519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矩形 33"/>
              <p:cNvSpPr/>
              <p:nvPr/>
            </p:nvSpPr>
            <p:spPr>
              <a:xfrm>
                <a:off x="8037351" y="2382342"/>
                <a:ext cx="1619802" cy="450764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d>
                            <m:d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4" name="矩形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7351" y="2382342"/>
                <a:ext cx="1619802" cy="450764"/>
              </a:xfrm>
              <a:prstGeom prst="rect">
                <a:avLst/>
              </a:prstGeom>
              <a:blipFill rotWithShape="1">
                <a:blip r:embed="rId8"/>
                <a:stretch>
                  <a:fillRect l="-323" t="-1087" r="-270" b="-1045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直线箭头连接符 34"/>
          <p:cNvCxnSpPr>
            <a:stCxn id="34" idx="2"/>
          </p:cNvCxnSpPr>
          <p:nvPr/>
        </p:nvCxnSpPr>
        <p:spPr>
          <a:xfrm flipH="1">
            <a:off x="8287898" y="2833106"/>
            <a:ext cx="559354" cy="306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矩形 35"/>
              <p:cNvSpPr/>
              <p:nvPr/>
            </p:nvSpPr>
            <p:spPr>
              <a:xfrm>
                <a:off x="8989221" y="5918565"/>
                <a:ext cx="2749663" cy="871201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is-I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Sup>
                            <m:sSubSup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𝑙𝑘</m:t>
                              </m:r>
                            </m:sub>
                            <m:sup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nary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6" name="矩形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9221" y="5918565"/>
                <a:ext cx="2749663" cy="871201"/>
              </a:xfrm>
              <a:prstGeom prst="rect">
                <a:avLst/>
              </a:prstGeom>
              <a:blipFill rotWithShape="1">
                <a:blip r:embed="rId9"/>
                <a:stretch>
                  <a:fillRect l="-191" t="-552" r="-152" b="-543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直线箭头连接符 36"/>
          <p:cNvCxnSpPr/>
          <p:nvPr/>
        </p:nvCxnSpPr>
        <p:spPr>
          <a:xfrm flipH="1" flipV="1">
            <a:off x="8926711" y="3240410"/>
            <a:ext cx="1270660" cy="27137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矩形 37"/>
              <p:cNvSpPr/>
              <p:nvPr/>
            </p:nvSpPr>
            <p:spPr>
              <a:xfrm>
                <a:off x="9823185" y="2373002"/>
                <a:ext cx="2191113" cy="506870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8" name="矩形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3185" y="2373002"/>
                <a:ext cx="2191113" cy="506870"/>
              </a:xfrm>
              <a:prstGeom prst="rect">
                <a:avLst/>
              </a:prstGeom>
              <a:blipFill rotWithShape="1">
                <a:blip r:embed="rId10"/>
                <a:stretch>
                  <a:fillRect l="-220" t="-1004" r="-198" b="-848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直线箭头连接符 38"/>
          <p:cNvCxnSpPr>
            <a:stCxn id="38" idx="2"/>
          </p:cNvCxnSpPr>
          <p:nvPr/>
        </p:nvCxnSpPr>
        <p:spPr>
          <a:xfrm flipH="1">
            <a:off x="9644587" y="2879872"/>
            <a:ext cx="1274155" cy="2295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kumimoji="1" lang="en-US" altLang="zh-CN" dirty="0"/>
                  <a:t>Derivative of E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kumimoji="1" lang="en-US" altLang="zh-CN" dirty="0"/>
                  <a:t>,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kumimoji="1" lang="zh-CN" altLang="en-US" dirty="0"/>
              </a:p>
            </p:txBody>
          </p:sp>
        </mc:Choice>
        <mc:Fallback>
          <p:sp>
            <p:nvSpPr>
              <p:cNvPr id="2" name="标题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1"/>
                <a:stretch>
                  <a:fillRect l="-6" t="-30" r="2" b="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384063" y="2529102"/>
                <a:ext cx="5248352" cy="3416300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</m:oMath>
                </a14:m>
                <a:r>
                  <a:rPr kumimoji="1" lang="en-US" altLang="zh-CN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</m:oMath>
                </a14:m>
                <a:endParaRPr kumimoji="1" lang="en-US" altLang="zh-CN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</m:oMath>
                </a14:m>
                <a:r>
                  <a:rPr kumimoji="1" lang="en-US" altLang="zh-CN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</m:oMath>
                </a14:m>
                <a:endParaRPr kumimoji="1" lang="zh-CN" altLang="en-US" dirty="0"/>
              </a:p>
            </p:txBody>
          </p:sp>
        </mc:Choice>
        <mc:Fallback>
          <p:sp>
            <p:nvSpPr>
              <p:cNvPr id="17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4063" y="2529102"/>
                <a:ext cx="5248352" cy="3416300"/>
              </a:xfrm>
              <a:blipFill rotWithShape="1">
                <a:blip r:embed="rId2"/>
                <a:stretch>
                  <a:fillRect l="-10" t="-16" r="11" b="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527" y="4237252"/>
            <a:ext cx="3724169" cy="2040640"/>
          </a:xfrm>
          <a:prstGeom prst="rect">
            <a:avLst/>
          </a:prstGeom>
        </p:spPr>
      </p:pic>
      <p:cxnSp>
        <p:nvCxnSpPr>
          <p:cNvPr id="18" name="直接箭头连接符 17"/>
          <p:cNvCxnSpPr/>
          <p:nvPr/>
        </p:nvCxnSpPr>
        <p:spPr>
          <a:xfrm>
            <a:off x="1357952" y="3016332"/>
            <a:ext cx="634621" cy="14879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>
            <a:off x="1276675" y="3571015"/>
            <a:ext cx="1084388" cy="6662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本框 20"/>
              <p:cNvSpPr txBox="1"/>
              <p:nvPr/>
            </p:nvSpPr>
            <p:spPr>
              <a:xfrm>
                <a:off x="5429932" y="2989793"/>
                <a:ext cx="5669565" cy="3808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kumimoji="1" lang="en-US" altLang="zh-CN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kumimoji="1" lang="en-US" altLang="zh-CN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kumimoji="1" lang="zh-CN" altLang="en-US" dirty="0"/>
              </a:p>
            </p:txBody>
          </p:sp>
        </mc:Choice>
        <mc:Fallback>
          <p:sp>
            <p:nvSpPr>
              <p:cNvPr id="21" name="文本框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9932" y="2989793"/>
                <a:ext cx="5669565" cy="380810"/>
              </a:xfrm>
              <a:prstGeom prst="rect">
                <a:avLst/>
              </a:prstGeom>
              <a:blipFill rotWithShape="1">
                <a:blip r:embed="rId4"/>
                <a:stretch>
                  <a:fillRect l="-1" t="-56" r="6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矩形 21"/>
              <p:cNvSpPr/>
              <p:nvPr/>
            </p:nvSpPr>
            <p:spPr>
              <a:xfrm>
                <a:off x="5553524" y="3664064"/>
                <a:ext cx="2728503" cy="871264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is-I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  <m:e>
                          <m:sSubSup>
                            <m:sSubSup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𝑗𝑖</m:t>
                              </m:r>
                            </m:sub>
                            <m:sup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kumimoji="1"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nary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2" name="矩形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3524" y="3664064"/>
                <a:ext cx="2728503" cy="871264"/>
              </a:xfrm>
              <a:prstGeom prst="rect">
                <a:avLst/>
              </a:prstGeom>
              <a:blipFill rotWithShape="1">
                <a:blip r:embed="rId5"/>
                <a:stretch>
                  <a:fillRect l="-179" t="-596" r="-173" b="-492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直线箭头连接符 22"/>
          <p:cNvCxnSpPr/>
          <p:nvPr/>
        </p:nvCxnSpPr>
        <p:spPr>
          <a:xfrm flipV="1">
            <a:off x="6111665" y="3240410"/>
            <a:ext cx="380011" cy="423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矩形 23"/>
              <p:cNvSpPr/>
              <p:nvPr/>
            </p:nvSpPr>
            <p:spPr>
              <a:xfrm>
                <a:off x="6548708" y="2384638"/>
                <a:ext cx="1607235" cy="479618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  <m:sup>
                          <m:d>
                            <m:d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4" name="矩形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8708" y="2384638"/>
                <a:ext cx="1607235" cy="479618"/>
              </a:xfrm>
              <a:prstGeom prst="rect">
                <a:avLst/>
              </a:prstGeom>
              <a:blipFill rotWithShape="1">
                <a:blip r:embed="rId6"/>
                <a:stretch>
                  <a:fillRect l="-313" t="-1104" r="-276" b="-975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直线箭头连接符 24"/>
          <p:cNvCxnSpPr>
            <a:stCxn id="24" idx="2"/>
          </p:cNvCxnSpPr>
          <p:nvPr/>
        </p:nvCxnSpPr>
        <p:spPr>
          <a:xfrm flipH="1">
            <a:off x="7173532" y="2864256"/>
            <a:ext cx="178794" cy="315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矩形 26"/>
              <p:cNvSpPr/>
              <p:nvPr/>
            </p:nvSpPr>
            <p:spPr>
              <a:xfrm>
                <a:off x="7194475" y="4744827"/>
                <a:ext cx="2728504" cy="902555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is-I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sSubSup>
                            <m:sSubSup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𝑘𝑗</m:t>
                              </m:r>
                            </m:sub>
                            <m:sup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nary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7" name="矩形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4475" y="4744827"/>
                <a:ext cx="2728504" cy="902555"/>
              </a:xfrm>
              <a:prstGeom prst="rect">
                <a:avLst/>
              </a:prstGeom>
              <a:blipFill rotWithShape="1">
                <a:blip r:embed="rId7"/>
                <a:stretch>
                  <a:fillRect l="-183" t="-575" r="-169" b="-527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直线箭头连接符 27"/>
          <p:cNvCxnSpPr>
            <a:stCxn id="27" idx="0"/>
          </p:cNvCxnSpPr>
          <p:nvPr/>
        </p:nvCxnSpPr>
        <p:spPr>
          <a:xfrm flipH="1" flipV="1">
            <a:off x="7880263" y="3225125"/>
            <a:ext cx="678464" cy="1519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矩形 28"/>
              <p:cNvSpPr/>
              <p:nvPr/>
            </p:nvSpPr>
            <p:spPr>
              <a:xfrm>
                <a:off x="8357391" y="2382342"/>
                <a:ext cx="1619802" cy="450764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d>
                            <m:d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9" name="矩形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7391" y="2382342"/>
                <a:ext cx="1619802" cy="450764"/>
              </a:xfrm>
              <a:prstGeom prst="rect">
                <a:avLst/>
              </a:prstGeom>
              <a:blipFill rotWithShape="1">
                <a:blip r:embed="rId8"/>
                <a:stretch>
                  <a:fillRect l="-323" t="-1087" r="-270" b="-1045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直线箭头连接符 29"/>
          <p:cNvCxnSpPr>
            <a:stCxn id="29" idx="2"/>
          </p:cNvCxnSpPr>
          <p:nvPr/>
        </p:nvCxnSpPr>
        <p:spPr>
          <a:xfrm flipH="1">
            <a:off x="8607938" y="2833106"/>
            <a:ext cx="559354" cy="306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矩形 30"/>
              <p:cNvSpPr/>
              <p:nvPr/>
            </p:nvSpPr>
            <p:spPr>
              <a:xfrm>
                <a:off x="9309261" y="5918565"/>
                <a:ext cx="2749663" cy="871201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is-I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Sup>
                            <m:sSubSup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𝑙𝑘</m:t>
                              </m:r>
                            </m:sub>
                            <m:sup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nary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1" name="矩形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9261" y="5918565"/>
                <a:ext cx="2749663" cy="871201"/>
              </a:xfrm>
              <a:prstGeom prst="rect">
                <a:avLst/>
              </a:prstGeom>
              <a:blipFill rotWithShape="1">
                <a:blip r:embed="rId9"/>
                <a:stretch>
                  <a:fillRect l="-191" t="-552" r="-152" b="-543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直线箭头连接符 31"/>
          <p:cNvCxnSpPr/>
          <p:nvPr/>
        </p:nvCxnSpPr>
        <p:spPr>
          <a:xfrm flipH="1" flipV="1">
            <a:off x="9246751" y="3240410"/>
            <a:ext cx="1270660" cy="27137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矩形 32"/>
              <p:cNvSpPr/>
              <p:nvPr/>
            </p:nvSpPr>
            <p:spPr>
              <a:xfrm>
                <a:off x="10143225" y="2373002"/>
                <a:ext cx="2191113" cy="506870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3" name="矩形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3225" y="2373002"/>
                <a:ext cx="2191113" cy="506870"/>
              </a:xfrm>
              <a:prstGeom prst="rect">
                <a:avLst/>
              </a:prstGeom>
              <a:blipFill rotWithShape="1">
                <a:blip r:embed="rId10"/>
                <a:stretch>
                  <a:fillRect l="-220" t="-1004" r="-198" b="-848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直线箭头连接符 33"/>
          <p:cNvCxnSpPr>
            <a:stCxn id="33" idx="2"/>
          </p:cNvCxnSpPr>
          <p:nvPr/>
        </p:nvCxnSpPr>
        <p:spPr>
          <a:xfrm flipH="1">
            <a:off x="9964627" y="2879872"/>
            <a:ext cx="1274155" cy="2295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9169577" cy="706964"/>
          </a:xfrm>
        </p:spPr>
        <p:txBody>
          <a:bodyPr/>
          <a:lstStyle/>
          <a:p>
            <a:r>
              <a:rPr kumimoji="1" lang="en-US" altLang="zh-CN" dirty="0"/>
              <a:t>Gradient Descent Process (BP Algorithm)</a:t>
            </a:r>
            <a:endParaRPr kumimoji="1"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154954" y="2603500"/>
                <a:ext cx="10527530" cy="3416300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buClrTx/>
                  <a:buFont typeface="Wingdings 3" charset="2"/>
                  <a:buAutoNum type="arabicPeriod"/>
                </a:pPr>
                <a:r>
                  <a:rPr kumimoji="1" lang="en-US" altLang="zh-CN" dirty="0"/>
                  <a:t>Set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values to </a:t>
                </a:r>
                <a:r>
                  <a:rPr kumimoji="1" lang="en-US" altLang="zh-CN" dirty="0" err="1"/>
                  <a:t>max_iterations</a:t>
                </a:r>
                <a:r>
                  <a:rPr kumimoji="1" lang="en-US" altLang="zh-CN" dirty="0"/>
                  <a:t> and </a:t>
                </a:r>
                <a14:m>
                  <m:oMath xmlns:m="http://schemas.openxmlformats.org/officeDocument/2006/math">
                    <m:r>
                      <a:rPr kumimoji="1" lang="en-US" altLang="zh-CN" dirty="0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endParaRPr kumimoji="1" lang="en-US" altLang="zh-CN" dirty="0"/>
              </a:p>
              <a:p>
                <a:pPr>
                  <a:buClrTx/>
                  <a:buFont typeface="Wingdings 3" charset="2"/>
                  <a:buAutoNum type="arabicPeriod"/>
                </a:pPr>
                <a:r>
                  <a:rPr kumimoji="1" lang="en-US" altLang="zh-CN" dirty="0"/>
                  <a:t>Randomly generate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1" lang="en-US" altLang="zh-CN" dirty="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p>
                        <m:r>
                          <a:rPr kumimoji="1" lang="en-US" altLang="zh-CN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kumimoji="1" lang="en-US" altLang="zh-CN" dirty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kumimoji="1" lang="en-US" altLang="zh-CN" dirty="0"/>
                  <a:t> ,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1" lang="en-US" altLang="zh-CN" dirty="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p>
                        <m:r>
                          <a:rPr kumimoji="1" lang="en-US" altLang="zh-CN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1" lang="en-US" altLang="zh-CN" dirty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kumimoji="1" lang="en-US" altLang="zh-CN" dirty="0"/>
                  <a:t> ,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1" lang="en-US" altLang="zh-CN" dirty="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p>
                        <m:r>
                          <a:rPr kumimoji="1" lang="en-US" altLang="zh-CN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0" dirty="0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kumimoji="1" lang="en-US" altLang="zh-CN" dirty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kumimoji="1" lang="en-US" altLang="zh-CN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kumimoji="1" lang="en-US" altLang="zh-CN" b="0" i="0" dirty="0" smtClean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a:rPr kumimoji="1" lang="en-US" altLang="zh-CN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kumimoji="1" lang="en-US" altLang="zh-CN" dirty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kumimoji="1" lang="en-US" altLang="zh-CN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zh-CN" dirty="0"/>
                  <a:t>,</a:t>
                </a:r>
                <a:r>
                  <a:rPr kumimoji="1" lang="en-US" altLang="zh-CN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kumimoji="1" lang="en-US" altLang="zh-CN" dirty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a:rPr kumimoji="1" lang="en-US" altLang="zh-CN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1" lang="en-US" altLang="zh-CN" dirty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kumimoji="1" lang="en-US" altLang="zh-CN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zh-CN" dirty="0"/>
                  <a:t>,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kumimoji="1" lang="en-US" altLang="zh-CN" dirty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a:rPr kumimoji="1" lang="en-US" altLang="zh-CN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0" dirty="0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kumimoji="1" lang="en-US" altLang="zh-CN" dirty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kumimoji="1" lang="en-US" altLang="zh-CN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kumimoji="1" lang="en-US" altLang="zh-CN" dirty="0"/>
              </a:p>
              <a:p>
                <a:pPr>
                  <a:buClrTx/>
                  <a:buFont typeface="Wingdings 3" charset="2"/>
                  <a:buAutoNum type="arabicPeriod"/>
                </a:pPr>
                <a:r>
                  <a:rPr kumimoji="1" lang="en-US" altLang="zh-CN" dirty="0"/>
                  <a:t>For t = 1 to </a:t>
                </a:r>
                <a:r>
                  <a:rPr kumimoji="1" lang="en-US" altLang="zh-CN" dirty="0" err="1"/>
                  <a:t>max_iterations</a:t>
                </a:r>
                <a:endParaRPr kumimoji="1" lang="en-US" altLang="zh-CN" dirty="0"/>
              </a:p>
              <a:p>
                <a:pPr>
                  <a:buClrTx/>
                  <a:buFont typeface="Wingdings 3" charset="2"/>
                  <a:buAutoNum type="arabicPeriod"/>
                </a:pPr>
                <a:r>
                  <a:rPr kumimoji="1" lang="en-US" altLang="zh-CN" dirty="0"/>
                  <a:t>        Calculate the derivatives: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kumimoji="1" lang="en-US" altLang="zh-CN" dirty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m:rPr>
                            <m:sty m:val="p"/>
                          </m:rPr>
                          <a:rPr kumimoji="1" lang="en-US" altLang="zh-CN" i="1" baseline="-25000" dirty="0">
                            <a:latin typeface="Cambria Math" panose="02040503050406030204" pitchFamily="18" charset="0"/>
                          </a:rPr>
                          <m:t>total</m:t>
                        </m:r>
                        <m:r>
                          <a:rPr kumimoji="1" lang="en-US" altLang="zh-CN" dirty="0"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kumimoji="1" lang="en-US" altLang="zh-CN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kumimoji="1"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dirty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kumimoji="1" lang="en-US" altLang="zh-CN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kumimoji="1" lang="en-US" altLang="zh-CN" b="0" i="0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kumimoji="1" lang="en-US" altLang="zh-CN" b="0" i="0" dirty="0" smtClean="0">
                                <a:latin typeface="Cambria Math" panose="02040503050406030204" pitchFamily="18" charset="0"/>
                              </a:rPr>
                              <m:t>~</m:t>
                            </m:r>
                            <m:r>
                              <a:rPr kumimoji="1" lang="en-US" altLang="zh-CN" b="0" i="0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kumimoji="1" lang="en-US" altLang="zh-CN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</m:oMath>
                </a14:m>
                <a:r>
                  <a:rPr kumimoji="1" lang="en-US" altLang="zh-CN" dirty="0"/>
                  <a:t>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kumimoji="1" lang="en-US" altLang="zh-CN" dirty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m:rPr>
                            <m:sty m:val="p"/>
                          </m:rPr>
                          <a:rPr kumimoji="1" lang="en-US" altLang="zh-CN" i="1" baseline="-25000" dirty="0">
                            <a:latin typeface="Cambria Math" panose="02040503050406030204" pitchFamily="18" charset="0"/>
                          </a:rPr>
                          <m:t>total</m:t>
                        </m:r>
                      </m:num>
                      <m:den>
                        <m:r>
                          <a:rPr kumimoji="1" lang="en-US" altLang="zh-CN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kumimoji="1"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b="0" i="0" dirty="0" smtClean="0"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p>
                            <m:r>
                              <a:rPr kumimoji="1" lang="en-US" altLang="zh-CN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kumimoji="1" lang="en-US" altLang="zh-CN" b="0" i="0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kumimoji="1" lang="en-US" altLang="zh-CN" b="0" i="0" dirty="0" smtClean="0">
                                <a:latin typeface="Cambria Math" panose="02040503050406030204" pitchFamily="18" charset="0"/>
                              </a:rPr>
                              <m:t>~</m:t>
                            </m:r>
                            <m:r>
                              <a:rPr kumimoji="1" lang="en-US" altLang="zh-CN" b="0" i="0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kumimoji="1" lang="en-US" altLang="zh-CN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</m:oMath>
                </a14:m>
                <a:endParaRPr kumimoji="1" lang="en-US" altLang="zh-CN" dirty="0"/>
              </a:p>
              <a:p>
                <a:pPr>
                  <a:buClrTx/>
                  <a:buFont typeface="Wingdings 3" charset="2"/>
                  <a:buAutoNum type="arabicPeriod"/>
                </a:pPr>
                <a:r>
                  <a:rPr kumimoji="1" lang="en-US" altLang="zh-CN" dirty="0"/>
                  <a:t>        Update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1" lang="en-US" altLang="zh-CN" dirty="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p>
                        <m:r>
                          <a:rPr kumimoji="1" lang="en-US" altLang="zh-CN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kumimoji="1" lang="en-US" altLang="zh-CN" b="0" i="0" dirty="0" smtClean="0">
                            <a:latin typeface="Cambria Math" panose="02040503050406030204" pitchFamily="18" charset="0"/>
                          </a:rPr>
                          <m:t>~</m:t>
                        </m:r>
                        <m:r>
                          <a:rPr kumimoji="1" lang="en-US" altLang="zh-CN" b="0" i="0" dirty="0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kumimoji="1" lang="en-US" altLang="zh-CN" dirty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kumimoji="1" lang="en-US" altLang="zh-CN" dirty="0">
                        <a:latin typeface="Cambria Math" panose="02040503050406030204" pitchFamily="18" charset="0"/>
                      </a:rPr>
                      <m:t> =</m:t>
                    </m:r>
                    <m:sSup>
                      <m:sSupPr>
                        <m:ctrlPr>
                          <a:rPr kumimoji="1" lang="en-US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1" lang="en-US" altLang="zh-CN" dirty="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p>
                        <m:r>
                          <a:rPr kumimoji="1" lang="en-US" altLang="zh-CN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kumimoji="1" lang="en-US" altLang="zh-CN" b="0" i="0" dirty="0" smtClean="0">
                            <a:latin typeface="Cambria Math" panose="02040503050406030204" pitchFamily="18" charset="0"/>
                          </a:rPr>
                          <m:t>~</m:t>
                        </m:r>
                        <m:r>
                          <a:rPr kumimoji="1" lang="en-US" altLang="zh-CN" b="0" i="0" dirty="0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kumimoji="1" lang="en-US" altLang="zh-CN" dirty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kumimoji="1" lang="en-US" altLang="zh-CN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zh-CN" dirty="0">
                        <a:latin typeface="Cambria Math" panose="02040503050406030204" pitchFamily="18" charset="0"/>
                      </a:rPr>
                      <m:t>𝜂</m:t>
                    </m:r>
                    <m:f>
                      <m:fPr>
                        <m:ctrlPr>
                          <a:rPr kumimoji="1"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kumimoji="1" lang="en-US" altLang="zh-CN" dirty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m:rPr>
                            <m:sty m:val="p"/>
                          </m:rPr>
                          <a:rPr kumimoji="1" lang="en-US" altLang="zh-CN" i="1" baseline="-25000" dirty="0">
                            <a:latin typeface="Cambria Math" panose="02040503050406030204" pitchFamily="18" charset="0"/>
                          </a:rPr>
                          <m:t>total</m:t>
                        </m:r>
                      </m:num>
                      <m:den>
                        <m:r>
                          <a:rPr kumimoji="1" lang="en-US" altLang="zh-CN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kumimoji="1"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dirty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d>
                              <m:dPr>
                                <m:ctrlPr>
                                  <a:rPr kumimoji="1"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zh-CN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kumimoji="1" lang="en-US" altLang="zh-CN" b="0" i="1" dirty="0" smtClean="0">
                                    <a:latin typeface="Cambria Math" panose="02040503050406030204" pitchFamily="18" charset="0"/>
                                  </a:rPr>
                                  <m:t>~</m:t>
                                </m:r>
                                <m:r>
                                  <a:rPr kumimoji="1" lang="en-US" altLang="zh-CN" b="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d>
                          </m:sup>
                        </m:sSup>
                      </m:den>
                    </m:f>
                    <m:r>
                      <a:rPr kumimoji="1" lang="en-US" altLang="zh-CN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zh-CN" dirty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kumimoji="1" lang="en-US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kumimoji="1" lang="en-US" altLang="zh-CN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kumimoji="1" lang="en-US" altLang="zh-CN" b="0" i="0" dirty="0" smtClean="0">
                            <a:latin typeface="Cambria Math" panose="02040503050406030204" pitchFamily="18" charset="0"/>
                          </a:rPr>
                          <m:t>~</m:t>
                        </m:r>
                        <m:r>
                          <a:rPr kumimoji="1" lang="en-US" altLang="zh-CN" b="0" i="0" dirty="0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kumimoji="1" lang="en-US" altLang="zh-CN" dirty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kumimoji="1" lang="en-US" altLang="zh-CN" dirty="0">
                        <a:latin typeface="Cambria Math" panose="02040503050406030204" pitchFamily="18" charset="0"/>
                      </a:rPr>
                      <m:t> =</m:t>
                    </m:r>
                    <m:sSup>
                      <m:sSupPr>
                        <m:ctrlPr>
                          <a:rPr kumimoji="1" lang="en-US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kumimoji="1" lang="en-US" altLang="zh-CN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kumimoji="1" lang="en-US" altLang="zh-CN" b="0" i="0" dirty="0" smtClean="0">
                            <a:latin typeface="Cambria Math" panose="02040503050406030204" pitchFamily="18" charset="0"/>
                          </a:rPr>
                          <m:t>~</m:t>
                        </m:r>
                        <m:r>
                          <a:rPr kumimoji="1" lang="en-US" altLang="zh-CN" b="0" i="0" dirty="0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kumimoji="1" lang="en-US" altLang="zh-CN" dirty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kumimoji="1" lang="en-US" altLang="zh-CN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zh-CN" dirty="0">
                        <a:latin typeface="Cambria Math" panose="02040503050406030204" pitchFamily="18" charset="0"/>
                      </a:rPr>
                      <m:t>𝜂</m:t>
                    </m:r>
                    <m:f>
                      <m:fPr>
                        <m:ctrlPr>
                          <a:rPr kumimoji="1"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kumimoji="1" lang="en-US" altLang="zh-CN" dirty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m:rPr>
                            <m:sty m:val="p"/>
                          </m:rPr>
                          <a:rPr kumimoji="1" lang="en-US" altLang="zh-CN" i="1" baseline="-25000" dirty="0">
                            <a:latin typeface="Cambria Math" panose="02040503050406030204" pitchFamily="18" charset="0"/>
                          </a:rPr>
                          <m:t>total</m:t>
                        </m:r>
                      </m:num>
                      <m:den>
                        <m:r>
                          <a:rPr kumimoji="1" lang="en-US" altLang="zh-CN" dirty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kumimoji="1"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b="0" i="0" dirty="0" smtClean="0"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p>
                            <m:r>
                              <a:rPr kumimoji="1" lang="en-US" altLang="zh-CN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kumimoji="1" lang="en-US" altLang="zh-CN" b="0" i="0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kumimoji="1" lang="en-US" altLang="zh-CN" b="0" i="0" dirty="0" smtClean="0">
                                <a:latin typeface="Cambria Math" panose="02040503050406030204" pitchFamily="18" charset="0"/>
                              </a:rPr>
                              <m:t>~</m:t>
                            </m:r>
                            <m:r>
                              <a:rPr kumimoji="1" lang="en-US" altLang="zh-CN" b="0" i="0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kumimoji="1" lang="en-US" altLang="zh-CN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</m:oMath>
                </a14:m>
                <a:endParaRPr kumimoji="1" lang="en-US" altLang="zh-CN" dirty="0"/>
              </a:p>
              <a:p>
                <a:pPr>
                  <a:buClrTx/>
                  <a:buAutoNum type="arabicPeriod"/>
                </a:pPr>
                <a:r>
                  <a:rPr kumimoji="1" lang="en-US" altLang="zh-CN" dirty="0" err="1"/>
                  <a:t>EndFor</a:t>
                </a:r>
                <a:endParaRPr kumimoji="1" lang="en-US" altLang="zh-CN" dirty="0"/>
              </a:p>
              <a:p>
                <a:pPr>
                  <a:buClrTx/>
                  <a:buAutoNum type="arabicPeriod"/>
                </a:pPr>
                <a:endParaRPr kumimoji="1" lang="en-US" altLang="zh-CN" dirty="0"/>
              </a:p>
              <a:p>
                <a:pPr marL="0" indent="0">
                  <a:buNone/>
                </a:pPr>
                <a:r>
                  <a:rPr kumimoji="1" lang="en-US" altLang="zh-CN" dirty="0"/>
                  <a:t>Note: </a:t>
                </a:r>
                <a:r>
                  <a:rPr kumimoji="1" lang="en-US" altLang="zh-CN" b="1" dirty="0"/>
                  <a:t>In</a:t>
                </a:r>
                <a:r>
                  <a:rPr kumimoji="1" lang="zh-CN" altLang="en-US" b="1" dirty="0"/>
                  <a:t> </a:t>
                </a:r>
                <a:r>
                  <a:rPr kumimoji="1" lang="en-US" altLang="zh-CN" b="1" dirty="0"/>
                  <a:t>this</a:t>
                </a:r>
                <a:r>
                  <a:rPr kumimoji="1" lang="zh-CN" altLang="en-US" b="1" dirty="0"/>
                  <a:t> </a:t>
                </a:r>
                <a:r>
                  <a:rPr kumimoji="1" lang="en-US" altLang="zh-CN" b="1" dirty="0"/>
                  <a:t>practice,</a:t>
                </a:r>
                <a:r>
                  <a:rPr kumimoji="1" lang="zh-CN" altLang="en-US" b="1" dirty="0"/>
                  <a:t> </a:t>
                </a:r>
                <a:r>
                  <a:rPr kumimoji="1" lang="en-US" altLang="zh-CN" b="1" dirty="0"/>
                  <a:t>E</a:t>
                </a:r>
                <a:r>
                  <a:rPr kumimoji="1" lang="zh-CN" altLang="en-US" b="1" dirty="0"/>
                  <a:t> </a:t>
                </a:r>
                <a:r>
                  <a:rPr kumimoji="1" lang="en-US" altLang="zh-CN" b="1" dirty="0"/>
                  <a:t>is</a:t>
                </a:r>
                <a:r>
                  <a:rPr kumimoji="1" lang="zh-CN" altLang="en-US" b="1" dirty="0"/>
                  <a:t> </a:t>
                </a:r>
                <a:r>
                  <a:rPr kumimoji="1" lang="en-US" altLang="zh-CN" b="1" dirty="0"/>
                  <a:t>a batch of randomly selected samples.</a:t>
                </a:r>
                <a:endParaRPr kumimoji="1" lang="en-US" altLang="zh-CN" b="1" dirty="0"/>
              </a:p>
              <a:p>
                <a:pPr marL="0" indent="0">
                  <a:buNone/>
                </a:pPr>
                <a:r>
                  <a:rPr kumimoji="1" lang="en-US" altLang="zh-CN" dirty="0"/>
                  <a:t>(E can be loss for a single sample, a batch of randomly selected samples, or all training samples. )</a:t>
                </a:r>
                <a:endParaRPr kumimoji="1" lang="en-US" altLang="zh-CN" dirty="0"/>
              </a:p>
              <a:p>
                <a:pPr marL="0" indent="0">
                  <a:buNone/>
                </a:pPr>
                <a:endParaRPr kumimoji="1" lang="en-US" altLang="zh-CN" b="1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54954" y="2603500"/>
                <a:ext cx="10527530" cy="3416300"/>
              </a:xfrm>
              <a:blipFill rotWithShape="1">
                <a:blip r:embed="rId1"/>
                <a:stretch>
                  <a:fillRect l="-5" t="-446" r="4" b="-12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离子会议室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离子会议室</Template>
  <TotalTime>0</TotalTime>
  <Words>10280</Words>
  <Application>WPS 演示</Application>
  <PresentationFormat>宽屏</PresentationFormat>
  <Paragraphs>430</Paragraphs>
  <Slides>28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3" baseType="lpstr">
      <vt:lpstr>Arial</vt:lpstr>
      <vt:lpstr>宋体</vt:lpstr>
      <vt:lpstr>Wingdings</vt:lpstr>
      <vt:lpstr>Wingdings 3</vt:lpstr>
      <vt:lpstr>Symbol</vt:lpstr>
      <vt:lpstr>Arial</vt:lpstr>
      <vt:lpstr>Cambria Math</vt:lpstr>
      <vt:lpstr>Century Gothic</vt:lpstr>
      <vt:lpstr>微软雅黑</vt:lpstr>
      <vt:lpstr>Arial Unicode MS</vt:lpstr>
      <vt:lpstr>等线</vt:lpstr>
      <vt:lpstr>Calibri</vt:lpstr>
      <vt:lpstr>DFHSGothic-W3</vt:lpstr>
      <vt:lpstr>Yu Gothic</vt:lpstr>
      <vt:lpstr>离子会议室</vt:lpstr>
      <vt:lpstr>ANN and Handwritten Character Recognition</vt:lpstr>
      <vt:lpstr>ANN</vt:lpstr>
      <vt:lpstr>ANN</vt:lpstr>
      <vt:lpstr>Artificial Neuron Mathematical Model</vt:lpstr>
      <vt:lpstr>Artificial Neuron Model</vt:lpstr>
      <vt:lpstr>Artificial Neural Networks</vt:lpstr>
      <vt:lpstr>One Inference Process</vt:lpstr>
      <vt:lpstr>Training of NN</vt:lpstr>
      <vt:lpstr>ANN Application：Handwritten character recognition</vt:lpstr>
      <vt:lpstr>Performance of ANN</vt:lpstr>
      <vt:lpstr>The practice: Handwritten character recognition</vt:lpstr>
      <vt:lpstr>Handwritten character recognition ANN network structure </vt:lpstr>
      <vt:lpstr>ANN-Input Layer to Hidden Layer 1</vt:lpstr>
      <vt:lpstr>ANN-Hidden Layer 1 to Hidden Layer 2</vt:lpstr>
      <vt:lpstr>ANN-Hidden Layer 2 to Output Layer</vt:lpstr>
      <vt:lpstr>Training of NN</vt:lpstr>
      <vt:lpstr>Loss Function and Gradient Descent</vt:lpstr>
      <vt:lpstr>As an Example</vt:lpstr>
      <vt:lpstr>Loss</vt:lpstr>
      <vt:lpstr>Gradient Descent</vt:lpstr>
      <vt:lpstr>Chain Rule Review</vt:lpstr>
      <vt:lpstr>One Inference Process</vt:lpstr>
      <vt:lpstr>Derivative of E on , </vt:lpstr>
      <vt:lpstr>Derivative of E on , </vt:lpstr>
      <vt:lpstr>Derivative of E on , </vt:lpstr>
      <vt:lpstr>Derivative of E on , </vt:lpstr>
      <vt:lpstr>Derivative of E on , </vt:lpstr>
      <vt:lpstr>Gradient Descent Process (BP Algorithm)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ANN</dc:title>
  <dc:creator>yezi</dc:creator>
  <cp:lastModifiedBy>yao</cp:lastModifiedBy>
  <cp:revision>68</cp:revision>
  <dcterms:created xsi:type="dcterms:W3CDTF">2020-12-03T08:30:00Z</dcterms:created>
  <dcterms:modified xsi:type="dcterms:W3CDTF">2025-12-01T12:35:21Z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2423368C9196475599B26E0E0B70A342_12</vt:lpwstr>
  </property>
  <property fmtid="{D5CDD505-2E9C-101B-9397-08002B2CF9AE}" pid="3" name="KSOProductBuildVer">
    <vt:lpwstr>2052-12.1.0.23542</vt:lpwstr>
  </property>
</Properties>
</file>